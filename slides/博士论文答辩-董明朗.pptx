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1.xml" ContentType="application/vnd.openxmlformats-officedocument.presentationml.tags+xml"/>
  <Override PartName="/ppt/notesSlides/notesSlide4.xml" ContentType="application/vnd.openxmlformats-officedocument.presentationml.notesSlide+xml"/>
  <Override PartName="/ppt/tags/tag2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media/image52.jpg" ContentType="image/png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453" r:id="rId2"/>
    <p:sldId id="2125" r:id="rId3"/>
    <p:sldId id="2126" r:id="rId4"/>
    <p:sldId id="608" r:id="rId5"/>
    <p:sldId id="593" r:id="rId6"/>
    <p:sldId id="280" r:id="rId7"/>
    <p:sldId id="2127" r:id="rId8"/>
    <p:sldId id="2128" r:id="rId9"/>
    <p:sldId id="2129" r:id="rId10"/>
    <p:sldId id="2130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000"/>
    <a:srgbClr val="8F0F16"/>
    <a:srgbClr val="1E6BAF"/>
    <a:srgbClr val="002060"/>
    <a:srgbClr val="167345"/>
    <a:srgbClr val="FEE6E6"/>
    <a:srgbClr val="E745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94" autoAdjust="0"/>
    <p:restoredTop sz="83860" autoAdjust="0"/>
  </p:normalViewPr>
  <p:slideViewPr>
    <p:cSldViewPr snapToGrid="0">
      <p:cViewPr varScale="1">
        <p:scale>
          <a:sx n="117" d="100"/>
          <a:sy n="117" d="100"/>
        </p:scale>
        <p:origin x="132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B7A5-E5AD-4EDC-8907-B89457FF10C4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A79050-9075-45DC-A50A-B3D80013BA2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62308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各位老师同学下午好，我是，导师是，我答辩的题目是代数断言零知识证明及其在密码货币中的应用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B53FC6-A270-4373-94FA-B548CA471F55}" type="slidenum">
              <a:rPr lang="zh-CN" altLang="en-US" smtClean="0"/>
              <a:pPr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4244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零知识证明是一种运行在证明者与验证者之间的两方协议，它允许证明者向验证者证明某一公开断言为真，且不泄露除此以外的任何信息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是当前隐私计算中的关键密码技术之一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在区块链、身份认证、机器学习、云计算。。。</a:t>
            </a:r>
            <a:endParaRPr lang="en-US" altLang="zh-CN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FD4979-8992-6747-9797-B7BCAD3F2FE1}" type="slidenum">
              <a:rPr lang="en-CN" smtClean="0"/>
              <a:t>2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43102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66A43-DC86-9A8E-EA86-908361117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E5CE82-5CD6-27C3-1297-3EEAC298F5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C122E4-2523-6196-41C3-5DD12E5020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零知识证明是一种运行在证明者与验证者之间的两方协议，它允许证明者向验证者证明某一公开断言为真，且不泄露除此以外的任何信息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是当前隐私计算中的关键密码技术之一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在区块链、身份认证、机器学习、云计算。。。</a:t>
            </a:r>
            <a:endParaRPr lang="en-US" altLang="zh-CN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F61A37-EAC3-4977-C416-4A1CEBAB4F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FD4979-8992-6747-9797-B7BCAD3F2FE1}" type="slidenum">
              <a:rPr lang="en-CN" smtClean="0"/>
              <a:t>3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7886685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436563" y="1233488"/>
            <a:ext cx="5924550" cy="333375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数字经济时代，数据是重要的生产要素</a:t>
            </a:r>
            <a:endParaRPr lang="en-US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数据的互联互通在创造巨大数据价值的同时，也面临前所未有的安全挑战</a:t>
            </a:r>
            <a:endParaRPr lang="en-US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b="0" kern="1200" dirty="0">
              <a:solidFill>
                <a:srgbClr val="C00000"/>
              </a:solidFill>
              <a:effectLst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0" dirty="0">
                <a:solidFill>
                  <a:srgbClr val="FFFF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数据安全是</a:t>
            </a:r>
            <a:r>
              <a:rPr lang="zh-CN" altLang="en-US" sz="1200" b="0" dirty="0">
                <a:solidFill>
                  <a:srgbClr val="FFFFFF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数字经济腾飞的安全底座</a:t>
            </a:r>
            <a:endParaRPr lang="zh-CN" altLang="en-US" sz="1200" b="0" dirty="0">
              <a:solidFill>
                <a:srgbClr val="FFFF00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107F86E-74BA-1B42-8FEC-518C8228BDC2}" type="slidenum">
              <a:rPr kumimoji="1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ngXian"/>
                <a:ea typeface="DengXian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1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engXian"/>
              <a:ea typeface="DengXian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2739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436563" y="1233488"/>
            <a:ext cx="5924550" cy="333375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/>
              <a:t>安全多方计算允许多个参与方以最小隐私泄漏完成联合计算任务，是隐私计算的最优技术解</a:t>
            </a:r>
            <a:r>
              <a:rPr kumimoji="1" lang="zh-CN" altLang="en-US" b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。</a:t>
            </a:r>
            <a:endParaRPr kumimoji="1" lang="en-US" altLang="zh-CN" b="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503050405090304" pitchFamily="18" charset="0"/>
            </a:endParaRPr>
          </a:p>
          <a:p>
            <a:endParaRPr kumimoji="1" lang="en-US" altLang="zh-CN" b="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503050405090304" pitchFamily="18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b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其功能强大，可计算任意函数；可证安全，实际使用占比高，</a:t>
            </a:r>
            <a:endParaRPr kumimoji="1" lang="en-US" altLang="zh-CN" b="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503050405090304" pitchFamily="18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b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如</a:t>
            </a:r>
            <a:r>
              <a:rPr kumimoji="1" lang="zh-CN" altLang="en-US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联合国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发布隐私技术指南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(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涵盖</a:t>
            </a:r>
            <a:r>
              <a:rPr kumimoji="1" lang="en-US" altLang="zh-CN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18</a:t>
            </a:r>
            <a:r>
              <a:rPr kumimoji="1" lang="zh-CN" altLang="en-US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个全球典型案例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)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，其中应用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MPC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技术的案例占了</a:t>
            </a:r>
            <a:r>
              <a:rPr kumimoji="1" lang="en-US" altLang="zh-CN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11</a:t>
            </a:r>
            <a:r>
              <a:rPr kumimoji="1" lang="zh-CN" altLang="en-US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个。</a:t>
            </a:r>
            <a:endParaRPr kumimoji="1" lang="en-US" altLang="zh-CN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503050405090304" pitchFamily="18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b="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503050405090304" pitchFamily="18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0" dirty="0">
                <a:solidFill>
                  <a:srgbClr val="FFFF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联合国发布的隐私技术指南将安全多方计算列为</a:t>
            </a:r>
            <a:r>
              <a:rPr lang="zh-CN" altLang="en-US" sz="1200" b="0" dirty="0">
                <a:solidFill>
                  <a:srgbClr val="FFFFFF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保障隐私计算的</a:t>
            </a:r>
            <a:r>
              <a:rPr lang="zh-CN" altLang="en-US" sz="1200" b="0" dirty="0">
                <a:solidFill>
                  <a:srgbClr val="FFFF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最高等级</a:t>
            </a:r>
            <a:r>
              <a:rPr lang="zh-CN" altLang="en-US" sz="1200" b="0" dirty="0">
                <a:solidFill>
                  <a:srgbClr val="FFFFFF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密码技术</a:t>
            </a:r>
            <a:r>
              <a:rPr lang="zh-CN" altLang="en-US" sz="1200" b="0" dirty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zh-CN" altLang="en-US" sz="1200" b="0" dirty="0">
              <a:solidFill>
                <a:srgbClr val="FFFF00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107F86E-74BA-1B42-8FEC-518C8228BDC2}" type="slidenum">
              <a:rPr kumimoji="1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ngXian"/>
                <a:ea typeface="DengXian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1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engXian"/>
              <a:ea typeface="DengXian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9025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首先是我的个人基本情况介绍。我是</a:t>
            </a:r>
            <a:r>
              <a:rPr lang="en-US" altLang="zh-CN" dirty="0"/>
              <a:t>2021</a:t>
            </a:r>
            <a:r>
              <a:rPr lang="zh-CN" altLang="en-US" dirty="0"/>
              <a:t>级的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硕博连读生，预计明年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月份毕业。我也是一名中共党员。在刚结束的学期综测排名中，我在班级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30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人中排名第一。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我的研究方向是安全多方计算，具体聚焦于安全多方计算中的专用协议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隐私集合运算，包括两方和多方隐私集合运算，允许两个或者多个持有集合的参与方协同完成各种集合操作，并且不泄露任何额外信息。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FD4979-8992-6747-9797-B7BCAD3F2FE1}" type="slidenum">
              <a:rPr lang="en-CN" smtClean="0"/>
              <a:t>6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5665634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B6957-04FF-3413-1DBD-E3257C25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59E524-A919-1789-DF97-5FDDCC262F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CAA546-D7C8-5D00-F70B-C6FC59564E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首先是我的个人基本情况介绍。我是</a:t>
            </a:r>
            <a:r>
              <a:rPr lang="en-US" altLang="zh-CN" dirty="0"/>
              <a:t>2021</a:t>
            </a:r>
            <a:r>
              <a:rPr lang="zh-CN" altLang="en-US" dirty="0"/>
              <a:t>级的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硕博连读生，预计明年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月份毕业。我也是一名中共党员。在刚结束的学期综测排名中，我在班级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30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人中排名第一。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我的研究方向是安全多方计算，具体聚焦于安全多方计算中的专用协议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隐私集合运算，包括两方和多方隐私集合运算，允许两个或者多个持有集合的参与方协同完成各种集合操作，并且不泄露任何额外信息。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179FF8-E02B-47A1-30EF-C69695C01F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FD4979-8992-6747-9797-B7BCAD3F2FE1}" type="slidenum">
              <a:rPr lang="en-CN" smtClean="0"/>
              <a:t>7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474194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B8900-9CFC-E3E7-97CC-72FF77637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E0842E-B321-CB99-C2BD-5B4CFB0B22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FC4634-1050-2336-F89E-30A396F8E8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首先是我的个人基本情况介绍。我是</a:t>
            </a:r>
            <a:r>
              <a:rPr lang="en-US" altLang="zh-CN" dirty="0"/>
              <a:t>2021</a:t>
            </a:r>
            <a:r>
              <a:rPr lang="zh-CN" altLang="en-US" dirty="0"/>
              <a:t>级的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硕博连读生，预计明年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月份毕业。我也是一名中共党员。在刚结束的学期综测排名中，我在班级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30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人中排名第一。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我的研究方向是安全多方计算，具体聚焦于安全多方计算中的专用协议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隐私集合运算，包括两方和多方隐私集合运算，允许两个或者多个持有集合的参与方协同完成各种集合操作，并且不泄露任何额外信息。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0AAE2-FF8D-DD2C-E4A1-53B0B114CF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FD4979-8992-6747-9797-B7BCAD3F2FE1}" type="slidenum">
              <a:rPr lang="en-CN" smtClean="0"/>
              <a:t>8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687606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01156-1523-D5CF-DFCD-C0E10303D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967A7E-4D4E-FA44-DEEC-6091E188E5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BCE0CA-455E-7FB1-B976-05EC4F3D25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首先是我的个人基本情况介绍。我是</a:t>
            </a:r>
            <a:r>
              <a:rPr lang="en-US" altLang="zh-CN" dirty="0"/>
              <a:t>2021</a:t>
            </a:r>
            <a:r>
              <a:rPr lang="zh-CN" altLang="en-US" dirty="0"/>
              <a:t>级的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硕博连读生，预计明年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月份毕业。我也是一名中共党员。在刚结束的学期综测排名中，我在班级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30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人中排名第一。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我的研究方向是安全多方计算，具体聚焦于安全多方计算中的专用协议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隐私集合运算，包括两方和多方隐私集合运算，允许两个或者多个持有集合的参与方协同完成各种集合操作，并且不泄露任何额外信息。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38FBA2-AE71-3EF9-0DDE-7AF54DD6FE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FD4979-8992-6747-9797-B7BCAD3F2FE1}" type="slidenum">
              <a:rPr lang="en-CN" smtClean="0"/>
              <a:t>9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3783681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2E0D1-BB70-7E27-11B3-192185783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25E52C-BACC-297B-65C2-BA98B6DB47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E1A67E-E4AF-8067-314D-C331CE511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零知识证明是一种运行在证明者与验证者之间的两方协议，它允许证明者向验证者证明某一公开断言为真，且不泄露除此以外的任何信息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是当前隐私计算中的关键密码技术之一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在区块链、身份认证、机器学习、云计算。。。</a:t>
            </a:r>
            <a:endParaRPr lang="en-US" altLang="zh-CN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53872E-8C90-8765-ABBA-0A1E00F848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FD4979-8992-6747-9797-B7BCAD3F2FE1}" type="slidenum">
              <a:rPr lang="en-CN" smtClean="0"/>
              <a:t>10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071433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4C1BCB-4420-68E7-4BD4-8297715CA6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E6082BF-88A7-3713-1D76-E870D956B9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A7545E-D4D5-5D38-57AB-B5000996E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04A0-755E-484D-9484-797055DAECE8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8CAA203-7F0F-8E4F-1F00-9B448813E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31CEA84-E6E3-27E7-AC79-5F465CD3E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0720A-0398-4F0D-87AC-9237FBA324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75666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A7C269-A051-38C0-3016-4F4B34069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9FB223B-A270-C981-74F4-FFEB7553B0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FB2BCB4-180C-0288-A4D1-0BD1315166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04A0-755E-484D-9484-797055DAECE8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F0CF4E-2421-B8CF-9631-D15A65032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191CAB6-C2B9-59A8-C3F5-53649B356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0720A-0398-4F0D-87AC-9237FBA324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99610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4D0735-5F19-08AE-6A69-2859ADA25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3018124-8053-A27A-CDFE-1C525EC3F8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3BC881F-C607-D14E-CF9E-B39633E68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04A0-755E-484D-9484-797055DAECE8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67C5684-7736-831B-2989-4162605BA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CAEB03B-927E-DBD6-6914-2D608437E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0720A-0398-4F0D-87AC-9237FBA324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1165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57968D-AF49-D9E2-A35C-4A7105D03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C0DC871-7FE2-0EEF-3ED1-202A4EA4A2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E129904-BE1A-DED5-EA23-635C1D4877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EE4EB57-02CF-2C03-4BCE-1BCB0DD5C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04A0-755E-484D-9484-797055DAECE8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B05571B-298E-4636-8BB5-991353460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5D3003A-D857-6179-E6BB-EF825253D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0720A-0398-4F0D-87AC-9237FBA324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11080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87324B-D1F5-537F-53A2-CFA58F492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4C67C90-E529-B4D2-75D6-82E645FFA9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023B9E3-4DA9-A6BC-906B-CF31DAC7A5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D659921-3E9D-705B-B0B3-5FA1395BAB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C064D97-4A3A-4B2A-6D74-B391DD09A1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9BFCAC5-CC28-0DB7-AC0C-813D10836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04A0-755E-484D-9484-797055DAECE8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FAAB515-B72C-8BAD-49A4-9A88750BE3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D5DFC16-21A7-F879-BD68-70DFEA53B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0720A-0398-4F0D-87AC-9237FBA324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3758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077475-6BAD-149D-F08A-4D81F8969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4BFE402-3A05-D4EF-E5FD-AD99A1C2C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04A0-755E-484D-9484-797055DAECE8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709FE05-8E50-0B19-A615-22B35A8A3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A14DE4A-908A-F3BA-3D83-58B5BC1E0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0720A-0398-4F0D-87AC-9237FBA324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03744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1CBF4B5-C4A1-9A47-A9D9-E77097652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04A0-755E-484D-9484-797055DAECE8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847926D-5A66-00DC-F599-2A06C3601B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8267D51-6EA3-9842-B5DA-6B7602A56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0720A-0398-4F0D-87AC-9237FBA324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19404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708263-95A5-B280-CA59-B607867A2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006AB17-62B4-1CDB-8B5A-4987D01B6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90F392F-1EE5-5E5A-2B10-85B77FA8F0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68DC4A2-23AD-F0CE-93A3-CE328DA97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04A0-755E-484D-9484-797055DAECE8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D38C448-312D-AC2C-054D-7012F5B00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35D0D74-0FA0-428F-63FE-A58D68306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0720A-0398-4F0D-87AC-9237FBA324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3595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6F90D2-56B3-2601-2F38-4A03DA061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4C0B59D-6ECE-493C-8AC0-EF501A12A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7B3AC24-6963-D101-04C0-2F982FF8B9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A48F4AB-6C14-5D77-AD50-93FD19019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04A0-755E-484D-9484-797055DAECE8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6BA416-B444-502D-F3F3-31BE62AC1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A8936D4-53DD-89E0-52D1-EEDC5B6BD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0720A-0398-4F0D-87AC-9237FBA324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13185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07C241-4472-B849-627C-EDF186D4E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6CB8374-BE3D-7B90-8322-EA65326E1E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47B46AF-BCF7-EAF9-042D-A05AA5076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04A0-755E-484D-9484-797055DAECE8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143C203-2266-3D23-603A-E6209ACA05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17BB9AA-FCE7-6DB7-AC41-08EA1C517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0720A-0398-4F0D-87AC-9237FBA324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99815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ADDF90A-F13F-D43D-18C0-F59358F62B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DB988AB-3970-C3B6-094F-80698A4559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3E40FA1-D44F-CD4F-5E33-5B578820F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04A0-755E-484D-9484-797055DAECE8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D35988-09C6-2024-7639-748270751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41EE63-9AD7-EBCE-16F3-A1BBA54BC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0720A-0398-4F0D-87AC-9237FBA324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92344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74028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9C399C9-512E-6CFF-7F07-E9B323B64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C603328-4B5A-9C7D-B8C3-72223A4921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CCEDC47-D7AD-7C48-B7D4-6D30472196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E304A0-755E-484D-9484-797055DAECE8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C7CE046-4E15-88F5-475F-7812357A2B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14DFD26-403A-E348-1EB4-F20FC142F5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E0720A-0398-4F0D-87AC-9237FBA324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14093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notesSlide" Target="../notesSlides/notesSlide4.xml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slideLayout" Target="../slideLayouts/slideLayout12.xml"/><Relationship Id="rId16" Type="http://schemas.openxmlformats.org/officeDocument/2006/relationships/image" Target="../media/image15.png"/><Relationship Id="rId1" Type="http://schemas.openxmlformats.org/officeDocument/2006/relationships/tags" Target="../tags/tag1.xml"/><Relationship Id="rId6" Type="http://schemas.openxmlformats.org/officeDocument/2006/relationships/image" Target="../media/image5.jpeg"/><Relationship Id="rId11" Type="http://schemas.openxmlformats.org/officeDocument/2006/relationships/image" Target="../media/image10.jpeg"/><Relationship Id="rId5" Type="http://schemas.openxmlformats.org/officeDocument/2006/relationships/image" Target="../media/image4.jpe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jpeg"/><Relationship Id="rId9" Type="http://schemas.openxmlformats.org/officeDocument/2006/relationships/image" Target="../media/image8.jpg"/><Relationship Id="rId1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notesSlide" Target="../notesSlides/notesSlide5.xml"/><Relationship Id="rId7" Type="http://schemas.openxmlformats.org/officeDocument/2006/relationships/image" Target="../media/image2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26" Type="http://schemas.openxmlformats.org/officeDocument/2006/relationships/image" Target="../media/image47.png"/><Relationship Id="rId3" Type="http://schemas.openxmlformats.org/officeDocument/2006/relationships/image" Target="../media/image24.png"/><Relationship Id="rId21" Type="http://schemas.openxmlformats.org/officeDocument/2006/relationships/image" Target="../media/image42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5" Type="http://schemas.openxmlformats.org/officeDocument/2006/relationships/image" Target="../media/image46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37.png"/><Relationship Id="rId20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24" Type="http://schemas.openxmlformats.org/officeDocument/2006/relationships/image" Target="../media/image45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5.png"/><Relationship Id="rId22" Type="http://schemas.openxmlformats.org/officeDocument/2006/relationships/image" Target="../media/image4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48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43.png"/><Relationship Id="rId5" Type="http://schemas.openxmlformats.org/officeDocument/2006/relationships/image" Target="../media/image50.png"/><Relationship Id="rId10" Type="http://schemas.openxmlformats.org/officeDocument/2006/relationships/image" Target="../media/image42.png"/><Relationship Id="rId4" Type="http://schemas.openxmlformats.org/officeDocument/2006/relationships/image" Target="../media/image49.png"/><Relationship Id="rId9" Type="http://schemas.openxmlformats.org/officeDocument/2006/relationships/image" Target="../media/image3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2.jpg"/><Relationship Id="rId7" Type="http://schemas.openxmlformats.org/officeDocument/2006/relationships/image" Target="../media/image39.png"/><Relationship Id="rId12" Type="http://schemas.openxmlformats.org/officeDocument/2006/relationships/image" Target="../media/image4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11" Type="http://schemas.openxmlformats.org/officeDocument/2006/relationships/image" Target="../media/image42.png"/><Relationship Id="rId5" Type="http://schemas.openxmlformats.org/officeDocument/2006/relationships/image" Target="../media/image54.png"/><Relationship Id="rId10" Type="http://schemas.openxmlformats.org/officeDocument/2006/relationships/image" Target="../media/image35.png"/><Relationship Id="rId4" Type="http://schemas.openxmlformats.org/officeDocument/2006/relationships/image" Target="../media/image53.png"/><Relationship Id="rId9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>
            <a:extLst>
              <a:ext uri="{FF2B5EF4-FFF2-40B4-BE49-F238E27FC236}">
                <a16:creationId xmlns:a16="http://schemas.microsoft.com/office/drawing/2014/main" id="{94FE982F-70B5-49E7-B1C1-BACE09A3820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183443"/>
            <a:ext cx="12191999" cy="1685872"/>
          </a:xfrm>
          <a:prstGeom prst="rect">
            <a:avLst/>
          </a:prstGeom>
        </p:spPr>
      </p:pic>
      <p:sp>
        <p:nvSpPr>
          <p:cNvPr id="16" name="矩形 15">
            <a:extLst>
              <a:ext uri="{FF2B5EF4-FFF2-40B4-BE49-F238E27FC236}">
                <a16:creationId xmlns:a16="http://schemas.microsoft.com/office/drawing/2014/main" id="{FE4019EC-DD5B-4966-AE34-E483114571E5}"/>
              </a:ext>
            </a:extLst>
          </p:cNvPr>
          <p:cNvSpPr/>
          <p:nvPr/>
        </p:nvSpPr>
        <p:spPr>
          <a:xfrm>
            <a:off x="3" y="5183444"/>
            <a:ext cx="12191999" cy="1685869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72000">
                <a:srgbClr val="FFFFFF">
                  <a:alpha val="80000"/>
                </a:srgbClr>
              </a:gs>
              <a:gs pos="100000">
                <a:schemeClr val="bg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0" y="1"/>
            <a:ext cx="12192000" cy="1406137"/>
          </a:xfrm>
          <a:prstGeom prst="rect">
            <a:avLst/>
          </a:prstGeom>
          <a:solidFill>
            <a:srgbClr val="8F0F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 dirty="0">
              <a:solidFill>
                <a:prstClr val="white"/>
              </a:solidFill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5200" y="26098"/>
            <a:ext cx="1421598" cy="1353942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E1328818-607E-414E-B2A8-41E31D0D7034}"/>
              </a:ext>
            </a:extLst>
          </p:cNvPr>
          <p:cNvSpPr txBox="1"/>
          <p:nvPr/>
        </p:nvSpPr>
        <p:spPr>
          <a:xfrm>
            <a:off x="-4" y="2971682"/>
            <a:ext cx="12192001" cy="70788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spcAft>
                <a:spcPts val="1800"/>
              </a:spcAft>
            </a:pPr>
            <a:r>
              <a:rPr lang="zh-CN" altLang="en-US" sz="4000" b="1" spc="600" dirty="0">
                <a:solidFill>
                  <a:srgbClr val="8F0F16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安全多方计算中的多方隐私集合运算研究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AE263A-91EF-4058-99B7-F523B89A24AF}"/>
              </a:ext>
            </a:extLst>
          </p:cNvPr>
          <p:cNvSpPr txBox="1"/>
          <p:nvPr/>
        </p:nvSpPr>
        <p:spPr>
          <a:xfrm>
            <a:off x="4659399" y="4239227"/>
            <a:ext cx="2873197" cy="1211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2000" b="1" dirty="0">
                <a:ln w="3175">
                  <a:noFill/>
                </a:ln>
                <a:solidFill>
                  <a:srgbClr val="8F0F1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答</a:t>
            </a:r>
            <a:r>
              <a:rPr lang="zh-CN" altLang="en-US" sz="2000" b="1" dirty="0">
                <a:ln w="3175">
                  <a:noFill/>
                </a:ln>
                <a:solidFill>
                  <a:srgbClr val="8F0F16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 </a:t>
            </a:r>
            <a:r>
              <a:rPr lang="zh-CN" altLang="en-US" sz="2000" b="1" dirty="0">
                <a:ln w="3175">
                  <a:noFill/>
                </a:ln>
                <a:solidFill>
                  <a:srgbClr val="8F0F1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辩</a:t>
            </a:r>
            <a:r>
              <a:rPr lang="zh-CN" altLang="en-US" sz="2000" b="1" dirty="0">
                <a:ln w="3175">
                  <a:noFill/>
                </a:ln>
                <a:solidFill>
                  <a:srgbClr val="8F0F16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 </a:t>
            </a:r>
            <a:r>
              <a:rPr lang="zh-CN" altLang="en-US" sz="2000" b="1" dirty="0">
                <a:ln w="3175">
                  <a:noFill/>
                </a:ln>
                <a:solidFill>
                  <a:srgbClr val="8F0F1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人：董明朗</a:t>
            </a:r>
            <a:endParaRPr lang="en-US" altLang="zh-CN" sz="2000" b="1" dirty="0">
              <a:ln w="3175">
                <a:noFill/>
              </a:ln>
              <a:solidFill>
                <a:srgbClr val="8F0F1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25000"/>
              </a:lnSpc>
            </a:pPr>
            <a:r>
              <a:rPr lang="zh-CN" altLang="en-US" sz="2000" b="1" dirty="0">
                <a:ln w="3175">
                  <a:noFill/>
                </a:ln>
                <a:solidFill>
                  <a:srgbClr val="8F0F1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指导教师：陈宇教授</a:t>
            </a:r>
            <a:r>
              <a:rPr lang="en-US" altLang="zh-CN" sz="2000" b="1" dirty="0">
                <a:ln w="3175">
                  <a:noFill/>
                </a:ln>
                <a:solidFill>
                  <a:srgbClr val="8F0F1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  </a:t>
            </a:r>
          </a:p>
          <a:p>
            <a:pPr>
              <a:lnSpc>
                <a:spcPct val="125000"/>
              </a:lnSpc>
            </a:pPr>
            <a:r>
              <a:rPr lang="zh-CN" altLang="en-US" sz="2000" b="1" dirty="0">
                <a:ln w="3175">
                  <a:noFill/>
                </a:ln>
                <a:solidFill>
                  <a:srgbClr val="8F0F1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答辩日期：</a:t>
            </a:r>
            <a:r>
              <a:rPr lang="en-US" altLang="zh-CN" sz="2000" b="1" dirty="0">
                <a:ln w="3175">
                  <a:noFill/>
                </a:ln>
                <a:solidFill>
                  <a:srgbClr val="8F0F1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2026.05.28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AC8C465-62B1-49AF-A822-E147B32D192C}"/>
              </a:ext>
            </a:extLst>
          </p:cNvPr>
          <p:cNvSpPr txBox="1"/>
          <p:nvPr/>
        </p:nvSpPr>
        <p:spPr>
          <a:xfrm>
            <a:off x="-106540" y="1939699"/>
            <a:ext cx="12191999" cy="64633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spcAft>
                <a:spcPts val="2400"/>
              </a:spcAft>
            </a:pPr>
            <a:r>
              <a:rPr lang="en-US" altLang="zh-CN" sz="3600" b="1" spc="600" dirty="0">
                <a:solidFill>
                  <a:srgbClr val="8F0F1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2026</a:t>
            </a:r>
            <a:r>
              <a:rPr lang="zh-CN" altLang="en-US" sz="3600" b="1" spc="600" dirty="0">
                <a:solidFill>
                  <a:srgbClr val="8F0F1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年博士毕业论文答辩</a:t>
            </a:r>
            <a:endParaRPr lang="en-US" altLang="zh-CN" sz="3600" b="1" spc="600" dirty="0">
              <a:solidFill>
                <a:srgbClr val="8F0F1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333892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E3B32EA-1D73-4E8D-9F56-1488D7C17A71}"/>
              </a:ext>
            </a:extLst>
          </p:cNvPr>
          <p:cNvSpPr/>
          <p:nvPr/>
        </p:nvSpPr>
        <p:spPr>
          <a:xfrm>
            <a:off x="6583254" y="1451489"/>
            <a:ext cx="3878615" cy="584775"/>
          </a:xfrm>
          <a:prstGeom prst="round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研究背景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5FF121D5-E6E6-47B4-8822-3F01D6910779}"/>
              </a:ext>
            </a:extLst>
          </p:cNvPr>
          <p:cNvSpPr/>
          <p:nvPr/>
        </p:nvSpPr>
        <p:spPr>
          <a:xfrm>
            <a:off x="5472387" y="1451489"/>
            <a:ext cx="583200" cy="584775"/>
          </a:xfrm>
          <a:prstGeom prst="roundRect">
            <a:avLst/>
          </a:prstGeom>
          <a:solidFill>
            <a:srgbClr val="8F0F16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1</a:t>
            </a:r>
            <a:endParaRPr lang="zh-CN" altLang="en-US" sz="32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1E6BC288-4D44-4B99-85E5-4EAA3B514CD4}"/>
              </a:ext>
            </a:extLst>
          </p:cNvPr>
          <p:cNvSpPr/>
          <p:nvPr/>
        </p:nvSpPr>
        <p:spPr>
          <a:xfrm>
            <a:off x="6583254" y="2562677"/>
            <a:ext cx="3878615" cy="584775"/>
          </a:xfrm>
          <a:prstGeom prst="round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研究现状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842B3A0-492F-4EB0-8FB0-6071E6AEAEF2}"/>
              </a:ext>
            </a:extLst>
          </p:cNvPr>
          <p:cNvSpPr/>
          <p:nvPr/>
        </p:nvSpPr>
        <p:spPr>
          <a:xfrm>
            <a:off x="5472387" y="2562677"/>
            <a:ext cx="583200" cy="584775"/>
          </a:xfrm>
          <a:prstGeom prst="roundRect">
            <a:avLst/>
          </a:prstGeom>
          <a:solidFill>
            <a:srgbClr val="8F0F16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2</a:t>
            </a:r>
            <a:endParaRPr lang="zh-CN" altLang="en-US" sz="32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58F19284-4C90-4314-B431-E8CCDB9A45CE}"/>
              </a:ext>
            </a:extLst>
          </p:cNvPr>
          <p:cNvSpPr/>
          <p:nvPr/>
        </p:nvSpPr>
        <p:spPr>
          <a:xfrm>
            <a:off x="6583254" y="3673865"/>
            <a:ext cx="3878615" cy="584775"/>
          </a:xfrm>
          <a:prstGeom prst="round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研究成果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E4B82870-2F35-418D-B0DE-D679A25F0B68}"/>
              </a:ext>
            </a:extLst>
          </p:cNvPr>
          <p:cNvSpPr/>
          <p:nvPr/>
        </p:nvSpPr>
        <p:spPr>
          <a:xfrm>
            <a:off x="5472387" y="3673865"/>
            <a:ext cx="583200" cy="584775"/>
          </a:xfrm>
          <a:prstGeom prst="roundRect">
            <a:avLst/>
          </a:prstGeom>
          <a:solidFill>
            <a:srgbClr val="8F0F16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3</a:t>
            </a:r>
            <a:endParaRPr lang="zh-CN" altLang="en-US" sz="32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5548D230-36CD-46E8-A3C0-7218B72972E3}"/>
              </a:ext>
            </a:extLst>
          </p:cNvPr>
          <p:cNvSpPr/>
          <p:nvPr/>
        </p:nvSpPr>
        <p:spPr>
          <a:xfrm>
            <a:off x="6583254" y="4785053"/>
            <a:ext cx="3878615" cy="584775"/>
          </a:xfrm>
          <a:prstGeom prst="round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总结与展望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8FFB5D65-F18C-4F57-A60B-593ED50C2EC3}"/>
              </a:ext>
            </a:extLst>
          </p:cNvPr>
          <p:cNvSpPr/>
          <p:nvPr/>
        </p:nvSpPr>
        <p:spPr>
          <a:xfrm>
            <a:off x="5472387" y="4785053"/>
            <a:ext cx="583200" cy="584775"/>
          </a:xfrm>
          <a:prstGeom prst="roundRect">
            <a:avLst/>
          </a:prstGeom>
          <a:solidFill>
            <a:srgbClr val="8F0F16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4</a:t>
            </a:r>
            <a:endParaRPr lang="zh-CN" altLang="en-US" sz="32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DF5EFAD-C179-4F67-AF90-E0C0384A53E2}"/>
              </a:ext>
            </a:extLst>
          </p:cNvPr>
          <p:cNvSpPr/>
          <p:nvPr/>
        </p:nvSpPr>
        <p:spPr>
          <a:xfrm>
            <a:off x="0" y="1"/>
            <a:ext cx="3752850" cy="6857999"/>
          </a:xfrm>
          <a:prstGeom prst="rect">
            <a:avLst/>
          </a:prstGeom>
          <a:solidFill>
            <a:srgbClr val="8F0F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>
              <a:solidFill>
                <a:srgbClr val="8F0F16"/>
              </a:solidFill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A13EDB2-62A3-4FB5-9AB5-39B37547FF74}"/>
              </a:ext>
            </a:extLst>
          </p:cNvPr>
          <p:cNvSpPr/>
          <p:nvPr/>
        </p:nvSpPr>
        <p:spPr>
          <a:xfrm>
            <a:off x="1366395" y="2192893"/>
            <a:ext cx="1383712" cy="230832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7200" b="1" dirty="0">
                <a:ln w="3175">
                  <a:noFill/>
                </a:ln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</a:t>
            </a:r>
            <a:endParaRPr lang="en-US" altLang="zh-CN" sz="7200" b="1" dirty="0">
              <a:ln w="3175">
                <a:noFill/>
              </a:ln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7200" b="1" dirty="0">
                <a:ln w="3175">
                  <a:noFill/>
                </a:ln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录 </a:t>
            </a:r>
            <a:endParaRPr lang="zh-CN" altLang="en-US" sz="7200" dirty="0">
              <a:solidFill>
                <a:schemeClr val="bg1"/>
              </a:solidFill>
            </a:endParaRP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4EBFFAC4-47D5-4C96-AF1D-125DA37FD6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269" y="162841"/>
            <a:ext cx="1358312" cy="1293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53551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E9AE3-3679-34C3-8F87-903469503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DA691F98-C3E0-7210-D6A9-BD121A75A06F}"/>
              </a:ext>
            </a:extLst>
          </p:cNvPr>
          <p:cNvSpPr/>
          <p:nvPr/>
        </p:nvSpPr>
        <p:spPr>
          <a:xfrm>
            <a:off x="6583254" y="1451489"/>
            <a:ext cx="3878615" cy="584775"/>
          </a:xfrm>
          <a:prstGeom prst="round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研究背景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F55FC26-394C-0BD1-8C46-2BB77E1D176C}"/>
              </a:ext>
            </a:extLst>
          </p:cNvPr>
          <p:cNvSpPr/>
          <p:nvPr/>
        </p:nvSpPr>
        <p:spPr>
          <a:xfrm>
            <a:off x="5472387" y="1451489"/>
            <a:ext cx="583200" cy="584775"/>
          </a:xfrm>
          <a:prstGeom prst="roundRect">
            <a:avLst/>
          </a:prstGeom>
          <a:solidFill>
            <a:srgbClr val="8F0F16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1</a:t>
            </a:r>
            <a:endParaRPr lang="zh-CN" altLang="en-US" sz="32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1C8FE809-D3D9-81AD-FDA5-0BC6D0D8BF5F}"/>
              </a:ext>
            </a:extLst>
          </p:cNvPr>
          <p:cNvSpPr/>
          <p:nvPr/>
        </p:nvSpPr>
        <p:spPr>
          <a:xfrm>
            <a:off x="6583254" y="2562677"/>
            <a:ext cx="3878615" cy="584775"/>
          </a:xfrm>
          <a:prstGeom prst="round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研究现状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1F298E96-DE2C-71E6-AE2A-0915918E6EF8}"/>
              </a:ext>
            </a:extLst>
          </p:cNvPr>
          <p:cNvSpPr/>
          <p:nvPr/>
        </p:nvSpPr>
        <p:spPr>
          <a:xfrm>
            <a:off x="5472387" y="2562677"/>
            <a:ext cx="583200" cy="584775"/>
          </a:xfrm>
          <a:prstGeom prst="roundRect">
            <a:avLst/>
          </a:prstGeom>
          <a:solidFill>
            <a:srgbClr val="8F0F16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2</a:t>
            </a:r>
            <a:endParaRPr lang="zh-CN" altLang="en-US" sz="32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43894ECE-7C91-874E-1EB8-258A55638C20}"/>
              </a:ext>
            </a:extLst>
          </p:cNvPr>
          <p:cNvSpPr/>
          <p:nvPr/>
        </p:nvSpPr>
        <p:spPr>
          <a:xfrm>
            <a:off x="6583254" y="3673865"/>
            <a:ext cx="3878615" cy="584775"/>
          </a:xfrm>
          <a:prstGeom prst="round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研究成果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192FEF4F-2B60-F72E-556C-AFC9AD712F4D}"/>
              </a:ext>
            </a:extLst>
          </p:cNvPr>
          <p:cNvSpPr/>
          <p:nvPr/>
        </p:nvSpPr>
        <p:spPr>
          <a:xfrm>
            <a:off x="5472387" y="3673865"/>
            <a:ext cx="583200" cy="584775"/>
          </a:xfrm>
          <a:prstGeom prst="roundRect">
            <a:avLst/>
          </a:prstGeom>
          <a:solidFill>
            <a:srgbClr val="8F0F16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3</a:t>
            </a:r>
            <a:endParaRPr lang="zh-CN" altLang="en-US" sz="32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3EADE2F0-6FBB-BB27-FF02-3FB4C943F3C1}"/>
              </a:ext>
            </a:extLst>
          </p:cNvPr>
          <p:cNvSpPr/>
          <p:nvPr/>
        </p:nvSpPr>
        <p:spPr>
          <a:xfrm>
            <a:off x="6583254" y="4785053"/>
            <a:ext cx="3878615" cy="584775"/>
          </a:xfrm>
          <a:prstGeom prst="round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总结与展望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28927E63-9839-EF5D-6A1D-2E02ACA152EC}"/>
              </a:ext>
            </a:extLst>
          </p:cNvPr>
          <p:cNvSpPr/>
          <p:nvPr/>
        </p:nvSpPr>
        <p:spPr>
          <a:xfrm>
            <a:off x="5472387" y="4785053"/>
            <a:ext cx="583200" cy="584775"/>
          </a:xfrm>
          <a:prstGeom prst="roundRect">
            <a:avLst/>
          </a:prstGeom>
          <a:solidFill>
            <a:srgbClr val="8F0F16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4</a:t>
            </a:r>
            <a:endParaRPr lang="zh-CN" altLang="en-US" sz="32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C596F5F-FAB6-39E0-6DBC-23BC4BB8E972}"/>
              </a:ext>
            </a:extLst>
          </p:cNvPr>
          <p:cNvSpPr/>
          <p:nvPr/>
        </p:nvSpPr>
        <p:spPr>
          <a:xfrm>
            <a:off x="0" y="1"/>
            <a:ext cx="3752850" cy="6857999"/>
          </a:xfrm>
          <a:prstGeom prst="rect">
            <a:avLst/>
          </a:prstGeom>
          <a:solidFill>
            <a:srgbClr val="8F0F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>
              <a:solidFill>
                <a:srgbClr val="8F0F16"/>
              </a:solidFill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01ADFB9-C656-F661-F444-B60F93B5BEAD}"/>
              </a:ext>
            </a:extLst>
          </p:cNvPr>
          <p:cNvSpPr/>
          <p:nvPr/>
        </p:nvSpPr>
        <p:spPr>
          <a:xfrm>
            <a:off x="1366395" y="2192893"/>
            <a:ext cx="1383712" cy="230832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7200" b="1" dirty="0">
                <a:ln w="3175">
                  <a:noFill/>
                </a:ln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</a:t>
            </a:r>
            <a:endParaRPr lang="en-US" altLang="zh-CN" sz="7200" b="1" dirty="0">
              <a:ln w="3175">
                <a:noFill/>
              </a:ln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7200" b="1" dirty="0">
                <a:ln w="3175">
                  <a:noFill/>
                </a:ln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录 </a:t>
            </a:r>
            <a:endParaRPr lang="zh-CN" altLang="en-US" sz="7200" dirty="0">
              <a:solidFill>
                <a:schemeClr val="bg1"/>
              </a:solidFill>
            </a:endParaRP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9E88E0B9-A29E-457B-0FE4-9EA52FA1C5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269" y="162841"/>
            <a:ext cx="1358312" cy="1293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7730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 idx="4294967295"/>
          </p:nvPr>
        </p:nvSpPr>
        <p:spPr>
          <a:xfrm>
            <a:off x="95794" y="64295"/>
            <a:ext cx="2429197" cy="884238"/>
          </a:xfrm>
        </p:spPr>
        <p:txBody>
          <a:bodyPr>
            <a:normAutofit/>
          </a:bodyPr>
          <a:lstStyle/>
          <a:p>
            <a:pPr algn="ctr"/>
            <a:r>
              <a:rPr lang="zh-CN" altLang="en-US" sz="3600" b="1" dirty="0">
                <a:solidFill>
                  <a:srgbClr val="8F0F1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研究背景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4416D557-32EA-B0F7-A8B6-B5BAED14841E}"/>
              </a:ext>
            </a:extLst>
          </p:cNvPr>
          <p:cNvGrpSpPr>
            <a:grpSpLocks noChangeAspect="1"/>
          </p:cNvGrpSpPr>
          <p:nvPr/>
        </p:nvGrpSpPr>
        <p:grpSpPr>
          <a:xfrm>
            <a:off x="337129" y="948533"/>
            <a:ext cx="5512631" cy="3290689"/>
            <a:chOff x="120867" y="2137015"/>
            <a:chExt cx="5776531" cy="3448220"/>
          </a:xfrm>
        </p:grpSpPr>
        <p:sp>
          <p:nvSpPr>
            <p:cNvPr id="44" name="矩形: 圆角 42"/>
            <p:cNvSpPr/>
            <p:nvPr/>
          </p:nvSpPr>
          <p:spPr>
            <a:xfrm>
              <a:off x="190343" y="2137015"/>
              <a:ext cx="5664068" cy="694090"/>
            </a:xfrm>
            <a:prstGeom prst="roundRect">
              <a:avLst>
                <a:gd name="adj" fmla="val 9097"/>
              </a:avLst>
            </a:prstGeom>
            <a:solidFill>
              <a:srgbClr val="1E6BA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数据安全事件频发</a:t>
              </a:r>
              <a:endPara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endParaRPr>
            </a:p>
          </p:txBody>
        </p:sp>
        <p:pic>
          <p:nvPicPr>
            <p:cNvPr id="45" name="Picture 2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0343" y="2923144"/>
              <a:ext cx="1752909" cy="1295585"/>
            </a:xfrm>
            <a:prstGeom prst="rect">
              <a:avLst/>
            </a:prstGeom>
            <a:noFill/>
            <a:ln w="9525">
              <a:solidFill>
                <a:srgbClr val="001F6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</p:pic>
        <p:pic>
          <p:nvPicPr>
            <p:cNvPr id="46" name="Picture 3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76222" y="2912187"/>
              <a:ext cx="2070506" cy="1296381"/>
            </a:xfrm>
            <a:prstGeom prst="rect">
              <a:avLst/>
            </a:prstGeom>
            <a:noFill/>
            <a:ln w="9525">
              <a:solidFill>
                <a:srgbClr val="001F6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</p:pic>
        <p:pic>
          <p:nvPicPr>
            <p:cNvPr id="47" name="Picture 2"/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80729" y="2895178"/>
              <a:ext cx="1783013" cy="1313389"/>
            </a:xfrm>
            <a:prstGeom prst="rect">
              <a:avLst/>
            </a:prstGeom>
            <a:noFill/>
            <a:ln w="9525">
              <a:solidFill>
                <a:srgbClr val="001F6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</p:pic>
        <p:pic>
          <p:nvPicPr>
            <p:cNvPr id="35" name="图片 34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0867" y="4289650"/>
              <a:ext cx="2877609" cy="1295585"/>
            </a:xfrm>
            <a:prstGeom prst="rect">
              <a:avLst/>
            </a:prstGeom>
          </p:spPr>
        </p:pic>
        <p:pic>
          <p:nvPicPr>
            <p:cNvPr id="37" name="图片 36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019789" y="4261561"/>
              <a:ext cx="2877609" cy="1295585"/>
            </a:xfrm>
            <a:prstGeom prst="rect">
              <a:avLst/>
            </a:prstGeom>
          </p:spPr>
        </p:pic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E65940C7-A9B6-A56D-1BDE-42A00BC41F6E}"/>
              </a:ext>
            </a:extLst>
          </p:cNvPr>
          <p:cNvGrpSpPr>
            <a:grpSpLocks noChangeAspect="1"/>
          </p:cNvGrpSpPr>
          <p:nvPr/>
        </p:nvGrpSpPr>
        <p:grpSpPr>
          <a:xfrm>
            <a:off x="6241520" y="948533"/>
            <a:ext cx="5650433" cy="3178621"/>
            <a:chOff x="6306174" y="2145665"/>
            <a:chExt cx="5694740" cy="3203546"/>
          </a:xfrm>
        </p:grpSpPr>
        <p:sp>
          <p:nvSpPr>
            <p:cNvPr id="49" name="矩形: 圆角 42"/>
            <p:cNvSpPr/>
            <p:nvPr/>
          </p:nvSpPr>
          <p:spPr>
            <a:xfrm>
              <a:off x="6336846" y="2145665"/>
              <a:ext cx="5664068" cy="708900"/>
            </a:xfrm>
            <a:prstGeom prst="roundRect">
              <a:avLst>
                <a:gd name="adj" fmla="val 9097"/>
              </a:avLst>
            </a:prstGeom>
            <a:solidFill>
              <a:srgbClr val="1E6BA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</a:rPr>
                <a:t>多项法律法规发布</a:t>
              </a:r>
            </a:p>
          </p:txBody>
        </p: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E2E00E3A-4BA0-3DBF-8704-B4B8E244C30D}"/>
                </a:ext>
              </a:extLst>
            </p:cNvPr>
            <p:cNvGrpSpPr/>
            <p:nvPr/>
          </p:nvGrpSpPr>
          <p:grpSpPr>
            <a:xfrm>
              <a:off x="6306174" y="2962000"/>
              <a:ext cx="5657367" cy="2387211"/>
              <a:chOff x="6336846" y="3146370"/>
              <a:chExt cx="5657367" cy="2387211"/>
            </a:xfrm>
          </p:grpSpPr>
          <p:pic>
            <p:nvPicPr>
              <p:cNvPr id="23" name="图片 22">
                <a:extLst>
                  <a:ext uri="{FF2B5EF4-FFF2-40B4-BE49-F238E27FC236}">
                    <a16:creationId xmlns:a16="http://schemas.microsoft.com/office/drawing/2014/main" id="{B43145D5-F4EC-4404-ACAB-CC5500CDF14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257336" y="3159188"/>
                <a:ext cx="1736877" cy="2361573"/>
              </a:xfrm>
              <a:prstGeom prst="rect">
                <a:avLst/>
              </a:prstGeom>
            </p:spPr>
          </p:pic>
          <p:pic>
            <p:nvPicPr>
              <p:cNvPr id="24" name="Picture 4" descr="下载中心-豪符密码检测技术（成都）有限责任公司"/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485" r="31689"/>
              <a:stretch/>
            </p:blipFill>
            <p:spPr bwMode="auto">
              <a:xfrm>
                <a:off x="8345421" y="3165221"/>
                <a:ext cx="1729309" cy="23597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5" name="图片 24">
                <a:extLst>
                  <a:ext uri="{FF2B5EF4-FFF2-40B4-BE49-F238E27FC236}">
                    <a16:creationId xmlns:a16="http://schemas.microsoft.com/office/drawing/2014/main" id="{07869BC3-A1E5-4B4C-9F8C-C17160225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336846" y="3146370"/>
                <a:ext cx="1817768" cy="2387211"/>
              </a:xfrm>
              <a:prstGeom prst="rect">
                <a:avLst/>
              </a:prstGeom>
            </p:spPr>
          </p:pic>
        </p:grpSp>
      </p:grpSp>
      <p:cxnSp>
        <p:nvCxnSpPr>
          <p:cNvPr id="30" name="Straight Connector 18">
            <a:extLst>
              <a:ext uri="{FF2B5EF4-FFF2-40B4-BE49-F238E27FC236}">
                <a16:creationId xmlns:a16="http://schemas.microsoft.com/office/drawing/2014/main" id="{7D8DE2AB-06D1-7F3C-909C-D883E969CC7A}"/>
              </a:ext>
            </a:extLst>
          </p:cNvPr>
          <p:cNvCxnSpPr>
            <a:cxnSpLocks/>
          </p:cNvCxnSpPr>
          <p:nvPr/>
        </p:nvCxnSpPr>
        <p:spPr>
          <a:xfrm flipV="1">
            <a:off x="0" y="779988"/>
            <a:ext cx="12192000" cy="42632"/>
          </a:xfrm>
          <a:prstGeom prst="line">
            <a:avLst/>
          </a:prstGeom>
          <a:ln w="38100">
            <a:solidFill>
              <a:srgbClr val="8F0F1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灯片编号占位符 3">
            <a:extLst>
              <a:ext uri="{FF2B5EF4-FFF2-40B4-BE49-F238E27FC236}">
                <a16:creationId xmlns:a16="http://schemas.microsoft.com/office/drawing/2014/main" id="{465BE1B9-ED12-4929-9707-360751DF73E8}"/>
              </a:ext>
            </a:extLst>
          </p:cNvPr>
          <p:cNvSpPr txBox="1">
            <a:spLocks/>
          </p:cNvSpPr>
          <p:nvPr/>
        </p:nvSpPr>
        <p:spPr>
          <a:xfrm>
            <a:off x="11771950" y="6529327"/>
            <a:ext cx="383183" cy="269575"/>
          </a:xfrm>
          <a:prstGeom prst="rect">
            <a:avLst/>
          </a:prstGeom>
        </p:spPr>
        <p:txBody>
          <a:bodyPr lIns="0" tIns="0" rIns="0" bIns="0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fld id="{FB6C5489-EB38-4FFA-9020-2A9E4124124F}" type="slidenum">
              <a:rPr lang="en-US" altLang="zh-CN" sz="2000" b="1" smtClean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pPr algn="r">
                <a:defRPr/>
              </a:pPr>
              <a:t>4</a:t>
            </a:fld>
            <a:endParaRPr lang="en-US" altLang="zh-CN" sz="2000" b="1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0" name="TextBox 2">
            <a:extLst>
              <a:ext uri="{FF2B5EF4-FFF2-40B4-BE49-F238E27FC236}">
                <a16:creationId xmlns:a16="http://schemas.microsoft.com/office/drawing/2014/main" id="{A1B7B8FF-08A4-132C-F656-1952208D8428}"/>
              </a:ext>
            </a:extLst>
          </p:cNvPr>
          <p:cNvSpPr txBox="1"/>
          <p:nvPr/>
        </p:nvSpPr>
        <p:spPr>
          <a:xfrm>
            <a:off x="355700" y="3587197"/>
            <a:ext cx="11499170" cy="632866"/>
          </a:xfrm>
          <a:prstGeom prst="rect">
            <a:avLst/>
          </a:prstGeom>
          <a:solidFill>
            <a:srgbClr val="8F0F16"/>
          </a:solidFill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/>
            </a:pPr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数字经济时代：</a:t>
            </a:r>
            <a:r>
              <a:rPr lang="zh-CN" altLang="en-US" sz="3200" b="1" dirty="0">
                <a:solidFill>
                  <a:srgbClr val="FFFF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数据</a:t>
            </a:r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成为经济增长的</a:t>
            </a:r>
            <a:r>
              <a:rPr lang="zh-CN" altLang="en-US" sz="3200" b="1" dirty="0">
                <a:solidFill>
                  <a:srgbClr val="FFFF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关键生产要素</a:t>
            </a:r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B145E174-C2B6-FAB6-2C13-88438D35F493}"/>
              </a:ext>
            </a:extLst>
          </p:cNvPr>
          <p:cNvGrpSpPr/>
          <p:nvPr/>
        </p:nvGrpSpPr>
        <p:grpSpPr>
          <a:xfrm>
            <a:off x="6123067" y="4300250"/>
            <a:ext cx="5754256" cy="2478792"/>
            <a:chOff x="6123067" y="4298438"/>
            <a:chExt cx="5791483" cy="2614477"/>
          </a:xfrm>
        </p:grpSpPr>
        <p:sp>
          <p:nvSpPr>
            <p:cNvPr id="17" name="矩形: 圆角 42">
              <a:extLst>
                <a:ext uri="{FF2B5EF4-FFF2-40B4-BE49-F238E27FC236}">
                  <a16:creationId xmlns:a16="http://schemas.microsoft.com/office/drawing/2014/main" id="{BB1DBAD0-913C-D669-11BD-9DCED65CE7E7}"/>
                </a:ext>
              </a:extLst>
            </p:cNvPr>
            <p:cNvSpPr/>
            <p:nvPr/>
          </p:nvSpPr>
          <p:spPr>
            <a:xfrm>
              <a:off x="6227884" y="4298438"/>
              <a:ext cx="5664068" cy="656687"/>
            </a:xfrm>
            <a:prstGeom prst="roundRect">
              <a:avLst>
                <a:gd name="adj" fmla="val 9097"/>
              </a:avLst>
            </a:prstGeom>
            <a:solidFill>
              <a:srgbClr val="1E6BAF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</a:rPr>
                <a:t>国家各种政策积极支持隐私计算发展</a:t>
              </a:r>
            </a:p>
          </p:txBody>
        </p:sp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0DDB6745-CA66-D7AD-2973-55BF58D5A3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123067" y="4997729"/>
              <a:ext cx="3196023" cy="561938"/>
            </a:xfrm>
            <a:prstGeom prst="rect">
              <a:avLst/>
            </a:prstGeom>
          </p:spPr>
        </p:pic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8E544D9D-7AC0-1F05-F663-1B25F37346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240630" y="5605117"/>
              <a:ext cx="5651322" cy="394114"/>
            </a:xfrm>
            <a:prstGeom prst="rect">
              <a:avLst/>
            </a:prstGeom>
            <a:ln w="12700">
              <a:solidFill>
                <a:srgbClr val="C00000"/>
              </a:solidFill>
            </a:ln>
          </p:spPr>
        </p:pic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4EE64061-E04B-9F86-EC44-86DE0B4EF5A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250482" y="6077478"/>
              <a:ext cx="5664068" cy="533623"/>
            </a:xfrm>
            <a:prstGeom prst="rect">
              <a:avLst/>
            </a:prstGeom>
            <a:ln w="12700">
              <a:solidFill>
                <a:srgbClr val="C00000"/>
              </a:solidFill>
            </a:ln>
          </p:spPr>
        </p:pic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EC3490BC-0673-7C86-F44C-26B033B377E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9574259" y="5052844"/>
              <a:ext cx="2300111" cy="474027"/>
            </a:xfrm>
            <a:prstGeom prst="rect">
              <a:avLst/>
            </a:prstGeom>
          </p:spPr>
        </p:pic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236572B7-45B5-081D-53A3-D2841D2973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6698082" y="6689347"/>
              <a:ext cx="4827046" cy="223568"/>
            </a:xfrm>
            <a:prstGeom prst="rect">
              <a:avLst/>
            </a:prstGeom>
            <a:ln w="12700">
              <a:solidFill>
                <a:srgbClr val="C00000"/>
              </a:solidFill>
            </a:ln>
          </p:spPr>
        </p:pic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09183E5E-20A4-BF2E-6772-BBB4AE179EBD}"/>
              </a:ext>
            </a:extLst>
          </p:cNvPr>
          <p:cNvGrpSpPr/>
          <p:nvPr/>
        </p:nvGrpSpPr>
        <p:grpSpPr>
          <a:xfrm>
            <a:off x="378152" y="4300251"/>
            <a:ext cx="5471608" cy="2459687"/>
            <a:chOff x="337129" y="4293514"/>
            <a:chExt cx="5664068" cy="2602220"/>
          </a:xfrm>
        </p:grpSpPr>
        <p:pic>
          <p:nvPicPr>
            <p:cNvPr id="26" name="图片 25">
              <a:extLst>
                <a:ext uri="{FF2B5EF4-FFF2-40B4-BE49-F238E27FC236}">
                  <a16:creationId xmlns:a16="http://schemas.microsoft.com/office/drawing/2014/main" id="{D5C2DADD-6EEC-0D1B-041E-F40F6F8AB69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337129" y="5052134"/>
              <a:ext cx="3321511" cy="1843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28" name="图片 27">
              <a:extLst>
                <a:ext uri="{FF2B5EF4-FFF2-40B4-BE49-F238E27FC236}">
                  <a16:creationId xmlns:a16="http://schemas.microsoft.com/office/drawing/2014/main" id="{FBD71EAE-F649-61CE-7234-AC7F662D01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696912" y="5052134"/>
              <a:ext cx="2300111" cy="1843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29" name="矩形: 圆角 42">
              <a:extLst>
                <a:ext uri="{FF2B5EF4-FFF2-40B4-BE49-F238E27FC236}">
                  <a16:creationId xmlns:a16="http://schemas.microsoft.com/office/drawing/2014/main" id="{67DA9008-05A1-DD2D-0180-CA72A33A364E}"/>
                </a:ext>
              </a:extLst>
            </p:cNvPr>
            <p:cNvSpPr/>
            <p:nvPr/>
          </p:nvSpPr>
          <p:spPr>
            <a:xfrm>
              <a:off x="337129" y="4293514"/>
              <a:ext cx="5664068" cy="659420"/>
            </a:xfrm>
            <a:prstGeom prst="roundRect">
              <a:avLst>
                <a:gd name="adj" fmla="val 9097"/>
              </a:avLst>
            </a:prstGeom>
            <a:solidFill>
              <a:srgbClr val="1E6BA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隐私计算应用产品数量逐年递增</a:t>
              </a:r>
              <a:endParaRPr lang="zh-CN" altLang="en-US" sz="2400" b="1" spc="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34" name="TextBox 2">
            <a:extLst>
              <a:ext uri="{FF2B5EF4-FFF2-40B4-BE49-F238E27FC236}">
                <a16:creationId xmlns:a16="http://schemas.microsoft.com/office/drawing/2014/main" id="{CBF9F421-1AE7-12E2-B291-C8ABC79D817D}"/>
              </a:ext>
            </a:extLst>
          </p:cNvPr>
          <p:cNvSpPr txBox="1"/>
          <p:nvPr/>
        </p:nvSpPr>
        <p:spPr>
          <a:xfrm>
            <a:off x="378152" y="6201258"/>
            <a:ext cx="11517741" cy="632866"/>
          </a:xfrm>
          <a:prstGeom prst="rect">
            <a:avLst/>
          </a:prstGeom>
          <a:solidFill>
            <a:srgbClr val="8F0F16"/>
          </a:solidFill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/>
            </a:pPr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隐私计算：保障</a:t>
            </a:r>
            <a:r>
              <a:rPr lang="zh-CN" altLang="en-US" sz="3200" b="1" dirty="0">
                <a:solidFill>
                  <a:srgbClr val="FFFF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数据安全流通</a:t>
            </a:r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、</a:t>
            </a:r>
            <a:r>
              <a:rPr lang="zh-CN" altLang="en-US" sz="3200" b="1" dirty="0">
                <a:solidFill>
                  <a:srgbClr val="FFFFFF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打破</a:t>
            </a:r>
            <a:r>
              <a:rPr lang="zh-CN" altLang="en-US" sz="3200" b="1" dirty="0">
                <a:solidFill>
                  <a:srgbClr val="FFFF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数据孤岛</a:t>
            </a:r>
            <a:r>
              <a:rPr lang="zh-CN" altLang="en-US" sz="3200" b="1" dirty="0">
                <a:solidFill>
                  <a:srgbClr val="FFFFFF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、释放</a:t>
            </a:r>
            <a:r>
              <a:rPr lang="zh-CN" altLang="en-US" sz="3200" b="1" dirty="0">
                <a:solidFill>
                  <a:srgbClr val="FFFF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数据价值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987611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682"/>
    </mc:Choice>
    <mc:Fallback xmlns="">
      <p:transition spd="slow" advTm="20682"/>
    </mc:Fallback>
  </mc:AlternateContent>
  <p:extLst>
    <p:ext uri="{E180D4A7-C9FB-4DFB-919C-405C955672EB}">
      <p14:showEvtLst xmlns:p14="http://schemas.microsoft.com/office/powerpoint/2010/main">
        <p14:playEvt time="4" objId="8"/>
        <p14:stopEvt time="20682" objId="8"/>
      </p14:showEvtLst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 idx="4294967295"/>
          </p:nvPr>
        </p:nvSpPr>
        <p:spPr>
          <a:xfrm>
            <a:off x="0" y="65088"/>
            <a:ext cx="3261946" cy="884237"/>
          </a:xfrm>
        </p:spPr>
        <p:txBody>
          <a:bodyPr>
            <a:normAutofit/>
          </a:bodyPr>
          <a:lstStyle/>
          <a:p>
            <a:pPr algn="ctr"/>
            <a:r>
              <a:rPr lang="zh-CN" altLang="en-US" sz="3600" b="1" dirty="0">
                <a:solidFill>
                  <a:srgbClr val="8F0F1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安全多方计算</a:t>
            </a:r>
          </a:p>
        </p:txBody>
      </p:sp>
      <p:sp>
        <p:nvSpPr>
          <p:cNvPr id="10" name="矩形: 圆角 42"/>
          <p:cNvSpPr/>
          <p:nvPr/>
        </p:nvSpPr>
        <p:spPr>
          <a:xfrm>
            <a:off x="139740" y="1880008"/>
            <a:ext cx="5622576" cy="707435"/>
          </a:xfrm>
          <a:prstGeom prst="roundRect">
            <a:avLst>
              <a:gd name="adj" fmla="val 9097"/>
            </a:avLst>
          </a:prstGeom>
          <a:solidFill>
            <a:srgbClr val="1E6B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功能强大，可计算任意函数</a:t>
            </a:r>
            <a:endParaRPr lang="zh-CN" altLang="en-US" sz="2400" b="1" spc="3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下箭头 42"/>
          <p:cNvSpPr/>
          <p:nvPr/>
        </p:nvSpPr>
        <p:spPr>
          <a:xfrm rot="16200000">
            <a:off x="1564821" y="4819628"/>
            <a:ext cx="329550" cy="384950"/>
          </a:xfrm>
          <a:prstGeom prst="downArrow">
            <a:avLst/>
          </a:prstGeom>
          <a:solidFill>
            <a:schemeClr val="bg1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1" lang="zh-CN" altLang="en-US" sz="13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1944431" y="4832651"/>
            <a:ext cx="2502993" cy="396556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1" lang="zh-CN" altLang="en-US" sz="18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乱码电路</a:t>
            </a:r>
            <a:r>
              <a:rPr kumimoji="1" lang="en-US" altLang="zh-CN" sz="18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+</a:t>
            </a:r>
            <a:r>
              <a:rPr kumimoji="1" lang="zh-CN" altLang="en-US" sz="18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不经意传输</a:t>
            </a:r>
            <a:endParaRPr kumimoji="1" lang="en-US" altLang="zh-CN" sz="18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1944431" y="5311967"/>
            <a:ext cx="2502993" cy="396556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1" lang="zh-CN" altLang="en-US" b="1" kern="0" noProof="0" dirty="0">
                <a:solidFill>
                  <a:prstClr val="white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秘密分享</a:t>
            </a:r>
            <a:r>
              <a:rPr kumimoji="1" lang="en-US" altLang="zh-CN" b="1" kern="0" noProof="0" dirty="0">
                <a:solidFill>
                  <a:prstClr val="white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+</a:t>
            </a:r>
            <a:r>
              <a:rPr kumimoji="1" lang="zh-CN" altLang="en-US" b="1" kern="0" noProof="0" dirty="0">
                <a:solidFill>
                  <a:prstClr val="white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不经意传输</a:t>
            </a:r>
            <a:endParaRPr kumimoji="1" lang="en-US" altLang="zh-CN" sz="18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6" name="下箭头 45"/>
          <p:cNvSpPr/>
          <p:nvPr/>
        </p:nvSpPr>
        <p:spPr>
          <a:xfrm rot="16200000">
            <a:off x="1564823" y="5344304"/>
            <a:ext cx="329550" cy="384952"/>
          </a:xfrm>
          <a:prstGeom prst="downArrow">
            <a:avLst/>
          </a:prstGeom>
          <a:solidFill>
            <a:schemeClr val="bg1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/>
            <a:endParaRPr kumimoji="1" lang="zh-CN" altLang="en-US" sz="1350" kern="0">
              <a:solidFill>
                <a:prstClr val="white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" name="下箭头 46"/>
          <p:cNvSpPr/>
          <p:nvPr/>
        </p:nvSpPr>
        <p:spPr>
          <a:xfrm rot="16200000">
            <a:off x="4491586" y="5089829"/>
            <a:ext cx="329550" cy="339089"/>
          </a:xfrm>
          <a:prstGeom prst="downArrow">
            <a:avLst/>
          </a:prstGeom>
          <a:solidFill>
            <a:schemeClr val="bg1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/>
            <a:endParaRPr kumimoji="1" lang="zh-CN" altLang="en-US" sz="1350" kern="0">
              <a:solidFill>
                <a:prstClr val="white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0" name="Straight Connector 18">
            <a:extLst>
              <a:ext uri="{FF2B5EF4-FFF2-40B4-BE49-F238E27FC236}">
                <a16:creationId xmlns:a16="http://schemas.microsoft.com/office/drawing/2014/main" id="{7D8DE2AB-06D1-7F3C-909C-D883E969CC7A}"/>
              </a:ext>
            </a:extLst>
          </p:cNvPr>
          <p:cNvCxnSpPr>
            <a:cxnSpLocks/>
          </p:cNvCxnSpPr>
          <p:nvPr/>
        </p:nvCxnSpPr>
        <p:spPr>
          <a:xfrm flipV="1">
            <a:off x="0" y="788191"/>
            <a:ext cx="12192000" cy="42632"/>
          </a:xfrm>
          <a:prstGeom prst="line">
            <a:avLst/>
          </a:prstGeom>
          <a:ln w="38100">
            <a:solidFill>
              <a:srgbClr val="8F0F1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42">
            <a:extLst>
              <a:ext uri="{FF2B5EF4-FFF2-40B4-BE49-F238E27FC236}">
                <a16:creationId xmlns:a16="http://schemas.microsoft.com/office/drawing/2014/main" id="{DC3F1C62-46F9-181C-D9B1-FB8F427D7008}"/>
              </a:ext>
            </a:extLst>
          </p:cNvPr>
          <p:cNvSpPr/>
          <p:nvPr/>
        </p:nvSpPr>
        <p:spPr>
          <a:xfrm>
            <a:off x="139740" y="4787968"/>
            <a:ext cx="1323507" cy="942245"/>
          </a:xfrm>
          <a:prstGeom prst="roundRect">
            <a:avLst>
              <a:gd name="adj" fmla="val 9097"/>
            </a:avLst>
          </a:prstGeom>
          <a:noFill/>
          <a:ln w="25400"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spc="300" dirty="0">
                <a:solidFill>
                  <a:schemeClr val="accent6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任意函数</a:t>
            </a:r>
            <a:endParaRPr lang="en-US" altLang="zh-CN" b="1" spc="300" dirty="0">
              <a:solidFill>
                <a:schemeClr val="accent6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  <a:p>
            <a:pPr algn="ctr"/>
            <a:r>
              <a:rPr lang="zh-CN" altLang="en-US" b="1" spc="300" dirty="0">
                <a:solidFill>
                  <a:schemeClr val="accent6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电路转化</a:t>
            </a:r>
            <a:endParaRPr lang="zh-CN" altLang="en-US" b="1" spc="300" dirty="0">
              <a:solidFill>
                <a:schemeClr val="accent6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: 圆角 42">
            <a:extLst>
              <a:ext uri="{FF2B5EF4-FFF2-40B4-BE49-F238E27FC236}">
                <a16:creationId xmlns:a16="http://schemas.microsoft.com/office/drawing/2014/main" id="{1BA8299B-C280-1E2D-8021-429C36ED3221}"/>
              </a:ext>
            </a:extLst>
          </p:cNvPr>
          <p:cNvSpPr/>
          <p:nvPr/>
        </p:nvSpPr>
        <p:spPr>
          <a:xfrm>
            <a:off x="4853282" y="4847328"/>
            <a:ext cx="949956" cy="861195"/>
          </a:xfrm>
          <a:prstGeom prst="roundRect">
            <a:avLst>
              <a:gd name="adj" fmla="val 9097"/>
            </a:avLst>
          </a:prstGeom>
          <a:noFill/>
          <a:ln w="254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spc="300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计算</a:t>
            </a:r>
            <a:endParaRPr lang="en-US" altLang="zh-CN" b="1" spc="300" dirty="0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  <a:p>
            <a:pPr algn="ctr"/>
            <a:r>
              <a:rPr lang="zh-CN" altLang="en-US" b="1" spc="300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结果</a:t>
            </a:r>
            <a:endParaRPr lang="en-US" altLang="zh-CN" b="1" spc="300" dirty="0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32" name="灯片编号占位符 3">
            <a:extLst>
              <a:ext uri="{FF2B5EF4-FFF2-40B4-BE49-F238E27FC236}">
                <a16:creationId xmlns:a16="http://schemas.microsoft.com/office/drawing/2014/main" id="{40495A12-2376-4F3D-9C26-842F5779A331}"/>
              </a:ext>
            </a:extLst>
          </p:cNvPr>
          <p:cNvSpPr txBox="1">
            <a:spLocks/>
          </p:cNvSpPr>
          <p:nvPr/>
        </p:nvSpPr>
        <p:spPr>
          <a:xfrm>
            <a:off x="11771950" y="6529327"/>
            <a:ext cx="383183" cy="269575"/>
          </a:xfrm>
          <a:prstGeom prst="rect">
            <a:avLst/>
          </a:prstGeom>
        </p:spPr>
        <p:txBody>
          <a:bodyPr lIns="0" tIns="0" rIns="0" bIns="0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fld id="{FB6C5489-EB38-4FFA-9020-2A9E4124124F}" type="slidenum">
              <a:rPr lang="en-US" altLang="zh-CN" sz="2000" b="1" smtClean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pPr algn="r">
                <a:defRPr/>
              </a:pPr>
              <a:t>5</a:t>
            </a:fld>
            <a:endParaRPr lang="en-US" altLang="zh-CN" sz="2000" b="1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1" name="矩形: 圆角 42">
            <a:extLst>
              <a:ext uri="{FF2B5EF4-FFF2-40B4-BE49-F238E27FC236}">
                <a16:creationId xmlns:a16="http://schemas.microsoft.com/office/drawing/2014/main" id="{A18C405C-5A01-A55C-3C11-943E7F492E38}"/>
              </a:ext>
            </a:extLst>
          </p:cNvPr>
          <p:cNvSpPr/>
          <p:nvPr/>
        </p:nvSpPr>
        <p:spPr>
          <a:xfrm>
            <a:off x="6254626" y="1878397"/>
            <a:ext cx="5664068" cy="705916"/>
          </a:xfrm>
          <a:prstGeom prst="roundRect">
            <a:avLst>
              <a:gd name="adj" fmla="val 9097"/>
            </a:avLst>
          </a:prstGeom>
          <a:solidFill>
            <a:srgbClr val="1E6B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可证明安全，实际使用占比高</a:t>
            </a:r>
            <a:endParaRPr lang="zh-CN" altLang="en-US" sz="2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</a:endParaRPr>
          </a:p>
        </p:txBody>
      </p: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A0A3CC60-FB2F-A1A0-A1E8-1BD2604D0A43}"/>
              </a:ext>
            </a:extLst>
          </p:cNvPr>
          <p:cNvGrpSpPr/>
          <p:nvPr/>
        </p:nvGrpSpPr>
        <p:grpSpPr>
          <a:xfrm>
            <a:off x="204975" y="2643059"/>
            <a:ext cx="5598263" cy="2061517"/>
            <a:chOff x="255059" y="1763753"/>
            <a:chExt cx="5598263" cy="2061517"/>
          </a:xfrm>
        </p:grpSpPr>
        <p:pic>
          <p:nvPicPr>
            <p:cNvPr id="27" name="图片 26">
              <a:extLst>
                <a:ext uri="{FF2B5EF4-FFF2-40B4-BE49-F238E27FC236}">
                  <a16:creationId xmlns:a16="http://schemas.microsoft.com/office/drawing/2014/main" id="{ABE20856-28E9-274E-2A3E-37427E2BD5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5059" y="1763753"/>
              <a:ext cx="5598263" cy="1993902"/>
            </a:xfrm>
            <a:prstGeom prst="rect">
              <a:avLst/>
            </a:prstGeom>
          </p:spPr>
        </p:pic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560629D8-5D53-0AD5-EB95-85A9BED5295E}"/>
                </a:ext>
              </a:extLst>
            </p:cNvPr>
            <p:cNvSpPr/>
            <p:nvPr/>
          </p:nvSpPr>
          <p:spPr>
            <a:xfrm>
              <a:off x="4940812" y="3367454"/>
              <a:ext cx="909034" cy="45781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F87F8090-5EE0-FFAE-D32B-0104A90CBED4}"/>
              </a:ext>
            </a:extLst>
          </p:cNvPr>
          <p:cNvGrpSpPr/>
          <p:nvPr/>
        </p:nvGrpSpPr>
        <p:grpSpPr>
          <a:xfrm>
            <a:off x="6254626" y="2649649"/>
            <a:ext cx="4220337" cy="1993902"/>
            <a:chOff x="6507645" y="1736857"/>
            <a:chExt cx="5455896" cy="2666001"/>
          </a:xfrm>
        </p:grpSpPr>
        <p:pic>
          <p:nvPicPr>
            <p:cNvPr id="35" name="图片 34">
              <a:extLst>
                <a:ext uri="{FF2B5EF4-FFF2-40B4-BE49-F238E27FC236}">
                  <a16:creationId xmlns:a16="http://schemas.microsoft.com/office/drawing/2014/main" id="{96BF45DE-AB76-5E2B-8EE4-9B7A96CE2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07645" y="1736857"/>
              <a:ext cx="5367108" cy="2666001"/>
            </a:xfrm>
            <a:prstGeom prst="rect">
              <a:avLst/>
            </a:prstGeom>
          </p:spPr>
        </p:pic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9F3C1925-D4C7-11E5-A409-7C87F7D0F57C}"/>
                </a:ext>
              </a:extLst>
            </p:cNvPr>
            <p:cNvSpPr/>
            <p:nvPr/>
          </p:nvSpPr>
          <p:spPr>
            <a:xfrm>
              <a:off x="11054507" y="3912901"/>
              <a:ext cx="909034" cy="45781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pic>
        <p:nvPicPr>
          <p:cNvPr id="20" name="图片 19">
            <a:extLst>
              <a:ext uri="{FF2B5EF4-FFF2-40B4-BE49-F238E27FC236}">
                <a16:creationId xmlns:a16="http://schemas.microsoft.com/office/drawing/2014/main" id="{1671F4A2-084F-CEEF-0FE7-1376B9145E6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359" r="1601"/>
          <a:stretch/>
        </p:blipFill>
        <p:spPr>
          <a:xfrm>
            <a:off x="10431432" y="4362175"/>
            <a:ext cx="1469901" cy="15041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6F66E847-4492-1FD7-2193-2FCA59542F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14072" y="2710686"/>
            <a:ext cx="1504622" cy="15041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9" name="图片 38">
            <a:extLst>
              <a:ext uri="{FF2B5EF4-FFF2-40B4-BE49-F238E27FC236}">
                <a16:creationId xmlns:a16="http://schemas.microsoft.com/office/drawing/2014/main" id="{2B251AE8-1450-A392-7139-D5A20FAE237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70952" y="4724108"/>
            <a:ext cx="1666703" cy="1147328"/>
          </a:xfrm>
          <a:prstGeom prst="rect">
            <a:avLst/>
          </a:prstGeom>
          <a:ln>
            <a:noFill/>
          </a:ln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E0E5CE96-72CE-CB3C-773B-F9765A363D7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2551" y="4724108"/>
            <a:ext cx="1664624" cy="1199548"/>
          </a:xfrm>
          <a:prstGeom prst="rect">
            <a:avLst/>
          </a:prstGeom>
          <a:ln>
            <a:noFill/>
          </a:ln>
        </p:spPr>
      </p:pic>
      <p:grpSp>
        <p:nvGrpSpPr>
          <p:cNvPr id="50" name="组合 49">
            <a:extLst>
              <a:ext uri="{FF2B5EF4-FFF2-40B4-BE49-F238E27FC236}">
                <a16:creationId xmlns:a16="http://schemas.microsoft.com/office/drawing/2014/main" id="{EB385287-B3EA-8D15-05AA-5DF89644D309}"/>
              </a:ext>
            </a:extLst>
          </p:cNvPr>
          <p:cNvGrpSpPr/>
          <p:nvPr/>
        </p:nvGrpSpPr>
        <p:grpSpPr>
          <a:xfrm>
            <a:off x="36867" y="5853059"/>
            <a:ext cx="12096205" cy="1070373"/>
            <a:chOff x="-288152" y="899791"/>
            <a:chExt cx="8913628" cy="1070373"/>
          </a:xfrm>
        </p:grpSpPr>
        <p:sp>
          <p:nvSpPr>
            <p:cNvPr id="51" name="圆角矩形 1">
              <a:extLst>
                <a:ext uri="{FF2B5EF4-FFF2-40B4-BE49-F238E27FC236}">
                  <a16:creationId xmlns:a16="http://schemas.microsoft.com/office/drawing/2014/main" id="{72596794-1BC1-50EC-AD05-D288651800FF}"/>
                </a:ext>
              </a:extLst>
            </p:cNvPr>
            <p:cNvSpPr/>
            <p:nvPr/>
          </p:nvSpPr>
          <p:spPr>
            <a:xfrm>
              <a:off x="-120678" y="1094918"/>
              <a:ext cx="8621867" cy="720000"/>
            </a:xfrm>
            <a:prstGeom prst="roundRect">
              <a:avLst>
                <a:gd name="adj" fmla="val 15752"/>
              </a:avLst>
            </a:prstGeom>
            <a:solidFill>
              <a:srgbClr val="8F0F16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30000"/>
                </a:lnSpc>
                <a:defRPr/>
              </a:pPr>
              <a:endParaRPr lang="zh-CN" altLang="en-US" sz="2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4" name="圆角矩形 1">
              <a:extLst>
                <a:ext uri="{FF2B5EF4-FFF2-40B4-BE49-F238E27FC236}">
                  <a16:creationId xmlns:a16="http://schemas.microsoft.com/office/drawing/2014/main" id="{51C19761-7CCD-DAC7-9905-4233CA0C6C71}"/>
                </a:ext>
              </a:extLst>
            </p:cNvPr>
            <p:cNvSpPr/>
            <p:nvPr/>
          </p:nvSpPr>
          <p:spPr>
            <a:xfrm>
              <a:off x="-288152" y="899791"/>
              <a:ext cx="8913628" cy="1070373"/>
            </a:xfrm>
            <a:prstGeom prst="roundRect">
              <a:avLst>
                <a:gd name="adj" fmla="val 4708"/>
              </a:avLst>
            </a:prstGeom>
            <a:no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  <a:defRPr/>
              </a:pPr>
              <a:r>
                <a:rPr lang="zh-CN" altLang="en-US" sz="2800" b="1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安全多方计算：隐私计算的</a:t>
              </a:r>
              <a:r>
                <a:rPr lang="zh-CN" altLang="en-US" sz="2800" b="1" dirty="0">
                  <a:solidFill>
                    <a:srgbClr val="FFFF00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“最优技术解”</a:t>
              </a:r>
              <a:r>
                <a:rPr lang="zh-CN" altLang="en-US" sz="2800" b="1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与</a:t>
              </a:r>
              <a:r>
                <a:rPr lang="zh-CN" altLang="en-US" sz="2800" b="1" dirty="0">
                  <a:solidFill>
                    <a:srgbClr val="FFFF00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核心密码技术</a:t>
              </a:r>
            </a:p>
          </p:txBody>
        </p:sp>
      </p:grpSp>
      <p:sp>
        <p:nvSpPr>
          <p:cNvPr id="55" name="圆角矩形 1">
            <a:extLst>
              <a:ext uri="{FF2B5EF4-FFF2-40B4-BE49-F238E27FC236}">
                <a16:creationId xmlns:a16="http://schemas.microsoft.com/office/drawing/2014/main" id="{DCC537F5-6B88-4A08-B730-33649A171E2E}"/>
              </a:ext>
            </a:extLst>
          </p:cNvPr>
          <p:cNvSpPr/>
          <p:nvPr/>
        </p:nvSpPr>
        <p:spPr>
          <a:xfrm>
            <a:off x="139740" y="1057579"/>
            <a:ext cx="11880239" cy="664310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圆角矩形 1">
            <a:extLst>
              <a:ext uri="{FF2B5EF4-FFF2-40B4-BE49-F238E27FC236}">
                <a16:creationId xmlns:a16="http://schemas.microsoft.com/office/drawing/2014/main" id="{BF57A8F5-F936-FD82-0AB8-665A4527E901}"/>
              </a:ext>
            </a:extLst>
          </p:cNvPr>
          <p:cNvSpPr/>
          <p:nvPr/>
        </p:nvSpPr>
        <p:spPr>
          <a:xfrm>
            <a:off x="3012473" y="1092591"/>
            <a:ext cx="8827209" cy="650818"/>
          </a:xfrm>
          <a:prstGeom prst="roundRect">
            <a:avLst>
              <a:gd name="adj" fmla="val 4708"/>
            </a:avLst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just">
              <a:buNone/>
            </a:pPr>
            <a:r>
              <a:rPr kumimoji="1" lang="zh-CN" altLang="en-US" sz="28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允许多个参与方以</a:t>
            </a:r>
            <a:r>
              <a:rPr kumimoji="1" lang="zh-CN" altLang="en-US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“最小隐私泄漏”</a:t>
            </a:r>
            <a:r>
              <a:rPr kumimoji="1" lang="zh-CN" altLang="en-US" sz="28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完成联合计算任务</a:t>
            </a:r>
          </a:p>
        </p:txBody>
      </p:sp>
      <p:sp>
        <p:nvSpPr>
          <p:cNvPr id="57" name="矩形: 圆角 27">
            <a:extLst>
              <a:ext uri="{FF2B5EF4-FFF2-40B4-BE49-F238E27FC236}">
                <a16:creationId xmlns:a16="http://schemas.microsoft.com/office/drawing/2014/main" id="{1987EE6E-C4A1-C7E4-18BA-4B11CE339B7D}"/>
              </a:ext>
            </a:extLst>
          </p:cNvPr>
          <p:cNvSpPr/>
          <p:nvPr/>
        </p:nvSpPr>
        <p:spPr>
          <a:xfrm>
            <a:off x="139740" y="1058627"/>
            <a:ext cx="2668991" cy="666000"/>
          </a:xfrm>
          <a:prstGeom prst="roundRect">
            <a:avLst>
              <a:gd name="adj" fmla="val 8538"/>
            </a:avLst>
          </a:prstGeom>
          <a:solidFill>
            <a:srgbClr val="8F0F16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CN">
                <a:solidFill>
                  <a:schemeClr val="dk1"/>
                </a:solidFill>
              </a:defRPr>
            </a:defPPr>
            <a:lvl1pPr marL="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1218565">
              <a:lnSpc>
                <a:spcPct val="114000"/>
              </a:lnSpc>
              <a:spcBef>
                <a:spcPct val="0"/>
              </a:spcBef>
            </a:pPr>
            <a:r>
              <a:rPr lang="zh-CN" altLang="en-US" sz="2800" b="1" kern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安全多方计算</a:t>
            </a:r>
            <a:endParaRPr lang="en-US" altLang="zh-CN" sz="2800" b="1" kern="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756285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682"/>
    </mc:Choice>
    <mc:Fallback xmlns="">
      <p:transition spd="slow" advTm="20682"/>
    </mc:Fallback>
  </mc:AlternateContent>
  <p:extLst>
    <p:ext uri="{E180D4A7-C9FB-4DFB-919C-405C955672EB}">
      <p14:showEvtLst xmlns:p14="http://schemas.microsoft.com/office/powerpoint/2010/main">
        <p14:playEvt time="4" objId="8"/>
        <p14:stopEvt time="20682" objId="8"/>
      </p14:showEvtLst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45761" name="组合 3145760">
            <a:extLst>
              <a:ext uri="{FF2B5EF4-FFF2-40B4-BE49-F238E27FC236}">
                <a16:creationId xmlns:a16="http://schemas.microsoft.com/office/drawing/2014/main" id="{64E9A085-AA19-6012-4696-D3450DBF3FDE}"/>
              </a:ext>
            </a:extLst>
          </p:cNvPr>
          <p:cNvGrpSpPr/>
          <p:nvPr/>
        </p:nvGrpSpPr>
        <p:grpSpPr>
          <a:xfrm>
            <a:off x="-1542204" y="585483"/>
            <a:ext cx="6503139" cy="3714133"/>
            <a:chOff x="-1776563" y="560034"/>
            <a:chExt cx="7095479" cy="3988122"/>
          </a:xfrm>
        </p:grpSpPr>
        <p:pic>
          <p:nvPicPr>
            <p:cNvPr id="3145757" name="图片 3145756">
              <a:extLst>
                <a:ext uri="{FF2B5EF4-FFF2-40B4-BE49-F238E27FC236}">
                  <a16:creationId xmlns:a16="http://schemas.microsoft.com/office/drawing/2014/main" id="{658BDF71-362D-719D-65F6-6F295C212A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1776563" y="560034"/>
              <a:ext cx="7095479" cy="3988122"/>
            </a:xfrm>
            <a:prstGeom prst="rect">
              <a:avLst/>
            </a:prstGeom>
          </p:spPr>
        </p:pic>
        <p:sp>
          <p:nvSpPr>
            <p:cNvPr id="3145760" name="矩形 3145759">
              <a:extLst>
                <a:ext uri="{FF2B5EF4-FFF2-40B4-BE49-F238E27FC236}">
                  <a16:creationId xmlns:a16="http://schemas.microsoft.com/office/drawing/2014/main" id="{F353871B-AFAD-6082-C332-54E760A1C8F6}"/>
                </a:ext>
              </a:extLst>
            </p:cNvPr>
            <p:cNvSpPr/>
            <p:nvPr/>
          </p:nvSpPr>
          <p:spPr>
            <a:xfrm>
              <a:off x="3930678" y="3931033"/>
              <a:ext cx="1342775" cy="52689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4" name="标题 4">
            <a:extLst>
              <a:ext uri="{FF2B5EF4-FFF2-40B4-BE49-F238E27FC236}">
                <a16:creationId xmlns:a16="http://schemas.microsoft.com/office/drawing/2014/main" id="{5050BDE8-6AA1-BE40-9B4B-EABE8AC16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29" y="144205"/>
            <a:ext cx="9144000" cy="623628"/>
          </a:xfrm>
        </p:spPr>
        <p:txBody>
          <a:bodyPr>
            <a:normAutofit/>
          </a:bodyPr>
          <a:lstStyle/>
          <a:p>
            <a:pPr eaLnBrk="0" fontAlgn="base" hangingPunct="0">
              <a:spcAft>
                <a:spcPct val="0"/>
              </a:spcAft>
              <a:buClr>
                <a:srgbClr val="002060"/>
              </a:buClr>
              <a:defRPr/>
            </a:pPr>
            <a:r>
              <a:rPr kumimoji="1" lang="zh-CN" altLang="en-US" sz="3600" b="1" dirty="0">
                <a:solidFill>
                  <a:srgbClr val="002060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 </a:t>
            </a:r>
            <a:r>
              <a:rPr kumimoji="1" lang="zh-CN" altLang="en-US" sz="3600" b="1" dirty="0">
                <a:solidFill>
                  <a:srgbClr val="8F0F16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隐私集合运算</a:t>
            </a:r>
          </a:p>
        </p:txBody>
      </p:sp>
      <p:cxnSp>
        <p:nvCxnSpPr>
          <p:cNvPr id="2" name="Straight Connector 18">
            <a:extLst>
              <a:ext uri="{FF2B5EF4-FFF2-40B4-BE49-F238E27FC236}">
                <a16:creationId xmlns:a16="http://schemas.microsoft.com/office/drawing/2014/main" id="{7D8DE2AB-06D1-7F3C-909C-D883E969CC7A}"/>
              </a:ext>
            </a:extLst>
          </p:cNvPr>
          <p:cNvCxnSpPr>
            <a:cxnSpLocks/>
          </p:cNvCxnSpPr>
          <p:nvPr/>
        </p:nvCxnSpPr>
        <p:spPr>
          <a:xfrm flipV="1">
            <a:off x="0" y="699703"/>
            <a:ext cx="12192000" cy="42632"/>
          </a:xfrm>
          <a:prstGeom prst="line">
            <a:avLst/>
          </a:prstGeom>
          <a:ln w="38100">
            <a:solidFill>
              <a:srgbClr val="8F0F1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组合 1"/>
          <p:cNvGrpSpPr/>
          <p:nvPr/>
        </p:nvGrpSpPr>
        <p:grpSpPr>
          <a:xfrm>
            <a:off x="-9186" y="4400240"/>
            <a:ext cx="12305395" cy="1523283"/>
            <a:chOff x="1845052" y="4713594"/>
            <a:chExt cx="12305395" cy="1523283"/>
          </a:xfrm>
        </p:grpSpPr>
        <p:grpSp>
          <p:nvGrpSpPr>
            <p:cNvPr id="91" name="组合 38"/>
            <p:cNvGrpSpPr/>
            <p:nvPr/>
          </p:nvGrpSpPr>
          <p:grpSpPr>
            <a:xfrm>
              <a:off x="1845052" y="4713594"/>
              <a:ext cx="11543532" cy="1508745"/>
              <a:chOff x="1510084" y="1098774"/>
              <a:chExt cx="11543532" cy="1508745"/>
            </a:xfrm>
          </p:grpSpPr>
          <p:cxnSp>
            <p:nvCxnSpPr>
              <p:cNvPr id="3145728" name="Straight Arrow Connector 2"/>
              <p:cNvCxnSpPr>
                <a:cxnSpLocks/>
                <a:stCxn id="1048589" idx="2"/>
              </p:cNvCxnSpPr>
              <p:nvPr/>
            </p:nvCxnSpPr>
            <p:spPr>
              <a:xfrm>
                <a:off x="2088638" y="2120097"/>
                <a:ext cx="10964978" cy="49850"/>
              </a:xfrm>
              <a:prstGeom prst="straightConnector1">
                <a:avLst/>
              </a:prstGeom>
              <a:ln w="38100">
                <a:solidFill>
                  <a:schemeClr val="bg1">
                    <a:lumMod val="5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48589" name="Oval 9"/>
              <p:cNvSpPr/>
              <p:nvPr/>
            </p:nvSpPr>
            <p:spPr>
              <a:xfrm>
                <a:off x="2088638" y="2032770"/>
                <a:ext cx="164386" cy="174654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 dirty="0"/>
              </a:p>
            </p:txBody>
          </p:sp>
          <p:sp>
            <p:nvSpPr>
              <p:cNvPr id="1048590" name="TextBox 10"/>
              <p:cNvSpPr txBox="1"/>
              <p:nvPr/>
            </p:nvSpPr>
            <p:spPr>
              <a:xfrm>
                <a:off x="1510084" y="1350139"/>
                <a:ext cx="1635839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000" b="1" dirty="0">
                    <a:latin typeface="Times New Roman" panose="02020503050405090304" pitchFamily="18" charset="0"/>
                    <a:ea typeface="微软雅黑" charset="-122"/>
                    <a:cs typeface="Times New Roman" panose="02020503050405090304" pitchFamily="18" charset="0"/>
                  </a:rPr>
                  <a:t>Freedman</a:t>
                </a:r>
                <a:r>
                  <a:rPr lang="zh-CN" altLang="en-US" sz="2000" b="1" dirty="0">
                    <a:latin typeface="Times New Roman" panose="02020503050405090304" pitchFamily="18" charset="0"/>
                    <a:ea typeface="微软雅黑" charset="-122"/>
                    <a:cs typeface="Times New Roman" panose="02020503050405090304" pitchFamily="18" charset="0"/>
                  </a:rPr>
                  <a:t>等引入概念</a:t>
                </a:r>
              </a:p>
            </p:txBody>
          </p:sp>
          <p:sp>
            <p:nvSpPr>
              <p:cNvPr id="1048591" name="TextBox 11"/>
              <p:cNvSpPr txBox="1"/>
              <p:nvPr/>
            </p:nvSpPr>
            <p:spPr>
              <a:xfrm>
                <a:off x="1690957" y="2187869"/>
                <a:ext cx="97604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2000" b="1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+mj-cs"/>
                  </a:rPr>
                  <a:t>2004</a:t>
                </a:r>
                <a:endParaRPr kumimoji="1" lang="en-CN" sz="2000" b="1" dirty="0">
                  <a:latin typeface="Times New Roman" panose="02020603050405020304" pitchFamily="18" charset="0"/>
                  <a:ea typeface="微软雅黑" panose="020B0503020204020204" pitchFamily="34" charset="-122"/>
                  <a:cs typeface="+mj-cs"/>
                </a:endParaRPr>
              </a:p>
            </p:txBody>
          </p:sp>
          <p:sp>
            <p:nvSpPr>
              <p:cNvPr id="1048592" name="Oval 12"/>
              <p:cNvSpPr/>
              <p:nvPr/>
            </p:nvSpPr>
            <p:spPr>
              <a:xfrm>
                <a:off x="5097733" y="2042828"/>
                <a:ext cx="164386" cy="174654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 dirty="0"/>
              </a:p>
            </p:txBody>
          </p:sp>
          <p:sp>
            <p:nvSpPr>
              <p:cNvPr id="1048593" name="TextBox 13"/>
              <p:cNvSpPr txBox="1"/>
              <p:nvPr/>
            </p:nvSpPr>
            <p:spPr>
              <a:xfrm>
                <a:off x="4283434" y="1098774"/>
                <a:ext cx="1973181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000" b="1" kern="0" dirty="0">
                    <a:latin typeface="Times New Roman" panose="02020503050405090304" pitchFamily="18" charset="0"/>
                    <a:ea typeface="微软雅黑" charset="-122"/>
                    <a:cs typeface="Times New Roman" panose="02020503050405090304" pitchFamily="18" charset="0"/>
                  </a:rPr>
                  <a:t>Dong</a:t>
                </a:r>
                <a:r>
                  <a:rPr lang="zh-CN" altLang="en-US" sz="2000" b="1" kern="0" dirty="0">
                    <a:latin typeface="Times New Roman" panose="02020503050405090304" pitchFamily="18" charset="0"/>
                    <a:ea typeface="微软雅黑" charset="-122"/>
                    <a:cs typeface="Times New Roman" panose="02020503050405090304" pitchFamily="18" charset="0"/>
                  </a:rPr>
                  <a:t>等提出</a:t>
                </a:r>
                <a:endParaRPr lang="en-US" altLang="zh-CN" sz="2000" b="1" kern="0" dirty="0">
                  <a:latin typeface="Times New Roman" panose="02020503050405090304" pitchFamily="18" charset="0"/>
                  <a:ea typeface="微软雅黑" charset="-122"/>
                  <a:cs typeface="Times New Roman" panose="02020503050405090304" pitchFamily="18" charset="0"/>
                </a:endParaRPr>
              </a:p>
              <a:p>
                <a:pPr algn="ctr"/>
                <a:r>
                  <a:rPr lang="zh-CN" altLang="en-US" sz="2000" b="1" kern="0" dirty="0">
                    <a:latin typeface="Times New Roman" panose="02020503050405090304" pitchFamily="18" charset="0"/>
                    <a:ea typeface="微软雅黑" charset="-122"/>
                    <a:cs typeface="Times New Roman" panose="02020503050405090304" pitchFamily="18" charset="0"/>
                  </a:rPr>
                  <a:t>基于</a:t>
                </a:r>
                <a:r>
                  <a:rPr lang="en-US" altLang="zh-CN" sz="2000" b="1" kern="0" dirty="0">
                    <a:latin typeface="Times New Roman" panose="02020503050405090304" pitchFamily="18" charset="0"/>
                    <a:ea typeface="微软雅黑" charset="-122"/>
                    <a:cs typeface="Times New Roman" panose="02020503050405090304" pitchFamily="18" charset="0"/>
                  </a:rPr>
                  <a:t>OT</a:t>
                </a:r>
                <a:r>
                  <a:rPr lang="zh-CN" altLang="en-US" sz="2000" b="1" kern="0" dirty="0">
                    <a:latin typeface="Times New Roman" panose="02020503050405090304" pitchFamily="18" charset="0"/>
                    <a:ea typeface="微软雅黑" charset="-122"/>
                    <a:cs typeface="Times New Roman" panose="02020503050405090304" pitchFamily="18" charset="0"/>
                  </a:rPr>
                  <a:t>的</a:t>
                </a:r>
                <a:endParaRPr lang="en-US" altLang="zh-CN" sz="2000" b="1" kern="0" dirty="0">
                  <a:latin typeface="Times New Roman" panose="02020503050405090304" pitchFamily="18" charset="0"/>
                  <a:ea typeface="微软雅黑" charset="-122"/>
                  <a:cs typeface="Times New Roman" panose="02020503050405090304" pitchFamily="18" charset="0"/>
                </a:endParaRPr>
              </a:p>
              <a:p>
                <a:pPr algn="ctr"/>
                <a:r>
                  <a:rPr lang="zh-CN" altLang="en-US" sz="2000" b="1" kern="0" dirty="0">
                    <a:latin typeface="Times New Roman" panose="02020503050405090304" pitchFamily="18" charset="0"/>
                    <a:ea typeface="微软雅黑" charset="-122"/>
                    <a:cs typeface="Times New Roman" panose="02020503050405090304" pitchFamily="18" charset="0"/>
                  </a:rPr>
                  <a:t>高效两方</a:t>
                </a:r>
                <a:r>
                  <a:rPr lang="en-US" altLang="zh-CN" sz="2000" b="1" kern="0" dirty="0">
                    <a:latin typeface="Times New Roman" panose="02020503050405090304" pitchFamily="18" charset="0"/>
                    <a:ea typeface="微软雅黑" charset="-122"/>
                    <a:cs typeface="Times New Roman" panose="02020503050405090304" pitchFamily="18" charset="0"/>
                  </a:rPr>
                  <a:t>PSI</a:t>
                </a:r>
                <a:endParaRPr lang="zh-CN" altLang="en-US" sz="2000" b="1" dirty="0">
                  <a:latin typeface="Times New Roman" panose="02020503050405090304" pitchFamily="18" charset="0"/>
                  <a:ea typeface="微软雅黑" charset="-122"/>
                  <a:cs typeface="Times New Roman" panose="02020503050405090304" pitchFamily="18" charset="0"/>
                </a:endParaRPr>
              </a:p>
            </p:txBody>
          </p:sp>
          <p:sp>
            <p:nvSpPr>
              <p:cNvPr id="1048594" name="TextBox 14"/>
              <p:cNvSpPr txBox="1"/>
              <p:nvPr/>
            </p:nvSpPr>
            <p:spPr>
              <a:xfrm>
                <a:off x="4679277" y="2207409"/>
                <a:ext cx="97604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2000" b="1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+mj-cs"/>
                  </a:rPr>
                  <a:t>2013</a:t>
                </a:r>
                <a:endParaRPr kumimoji="1" lang="en-CN" sz="2000" b="1" dirty="0">
                  <a:latin typeface="Times New Roman" panose="02020603050405020304" pitchFamily="18" charset="0"/>
                  <a:ea typeface="微软雅黑" panose="020B0503020204020204" pitchFamily="34" charset="-122"/>
                  <a:cs typeface="+mj-cs"/>
                </a:endParaRPr>
              </a:p>
            </p:txBody>
          </p:sp>
        </p:grpSp>
        <p:sp>
          <p:nvSpPr>
            <p:cNvPr id="1048598" name="文本框 58"/>
            <p:cNvSpPr txBox="1"/>
            <p:nvPr/>
          </p:nvSpPr>
          <p:spPr>
            <a:xfrm>
              <a:off x="3055836" y="5379386"/>
              <a:ext cx="1856843" cy="6997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4000"/>
                </a:lnSpc>
              </a:pPr>
              <a:r>
                <a:rPr lang="zh-CN" altLang="en-US" b="1" dirty="0">
                  <a:solidFill>
                    <a:srgbClr val="C00000"/>
                  </a:solidFill>
                  <a:latin typeface="Times New Roman" panose="02020503050405090304" pitchFamily="18" charset="0"/>
                  <a:ea typeface="微软雅黑" charset="-122"/>
                  <a:cs typeface="Times New Roman" panose="02020503050405090304" pitchFamily="18" charset="0"/>
                </a:rPr>
                <a:t>基于公钥操作</a:t>
              </a:r>
              <a:endParaRPr lang="en-US" altLang="zh-CN" b="1" dirty="0">
                <a:solidFill>
                  <a:srgbClr val="C00000"/>
                </a:solidFill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endParaRPr>
            </a:p>
            <a:p>
              <a:pPr algn="ctr">
                <a:lnSpc>
                  <a:spcPct val="114000"/>
                </a:lnSpc>
              </a:pPr>
              <a:r>
                <a:rPr lang="zh-CN" altLang="en-US" b="1" dirty="0">
                  <a:solidFill>
                    <a:srgbClr val="C00000"/>
                  </a:solidFill>
                  <a:latin typeface="Times New Roman" panose="02020503050405090304" pitchFamily="18" charset="0"/>
                  <a:ea typeface="微软雅黑" charset="-122"/>
                  <a:cs typeface="Times New Roman" panose="02020503050405090304" pitchFamily="18" charset="0"/>
                </a:rPr>
                <a:t>效率低下</a:t>
              </a:r>
            </a:p>
          </p:txBody>
        </p:sp>
        <p:sp>
          <p:nvSpPr>
            <p:cNvPr id="1048599" name="TextBox 3"/>
            <p:cNvSpPr txBox="1"/>
            <p:nvPr/>
          </p:nvSpPr>
          <p:spPr>
            <a:xfrm>
              <a:off x="11919980" y="4909574"/>
              <a:ext cx="2230467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000" b="1" dirty="0">
                  <a:latin typeface="Times New Roman" panose="02020603050405020304" pitchFamily="18" charset="0"/>
                  <a:ea typeface="微软雅黑" panose="020B0503020204020204" pitchFamily="34" charset="-122"/>
                  <a:cs typeface="+mj-cs"/>
                </a:rPr>
                <a:t>陈宇等</a:t>
              </a:r>
              <a:r>
                <a:rPr lang="zh-CN" altLang="en-US" sz="2000" b="1" kern="0" dirty="0">
                  <a:latin typeface="Times New Roman" panose="02020503050405090304" pitchFamily="18" charset="0"/>
                  <a:ea typeface="微软雅黑" charset="-122"/>
                  <a:cs typeface="Times New Roman" panose="02020503050405090304" pitchFamily="18" charset="0"/>
                </a:rPr>
                <a:t>提出</a:t>
              </a:r>
              <a:endParaRPr lang="en-US" altLang="zh-CN" sz="2000" b="1" kern="0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endParaRPr>
            </a:p>
            <a:p>
              <a:pPr algn="ctr"/>
              <a:r>
                <a:rPr lang="zh-CN" altLang="en-US" sz="2000" b="1" kern="0" dirty="0">
                  <a:latin typeface="Times New Roman" panose="02020503050405090304" pitchFamily="18" charset="0"/>
                  <a:ea typeface="微软雅黑" charset="-122"/>
                  <a:cs typeface="Times New Roman" panose="02020503050405090304" pitchFamily="18" charset="0"/>
                </a:rPr>
                <a:t>两方</a:t>
              </a:r>
              <a:r>
                <a:rPr lang="en-US" altLang="zh-CN" sz="2000" b="1" kern="0" dirty="0">
                  <a:latin typeface="Times New Roman" panose="02020503050405090304" pitchFamily="18" charset="0"/>
                  <a:ea typeface="微软雅黑" charset="-122"/>
                  <a:cs typeface="Times New Roman" panose="02020503050405090304" pitchFamily="18" charset="0"/>
                </a:rPr>
                <a:t>PSO</a:t>
              </a:r>
              <a:r>
                <a:rPr lang="zh-CN" altLang="en-US" sz="2000" b="1" kern="0" dirty="0">
                  <a:latin typeface="Times New Roman" panose="02020503050405090304" pitchFamily="18" charset="0"/>
                  <a:ea typeface="微软雅黑" charset="-122"/>
                  <a:cs typeface="Times New Roman" panose="02020503050405090304" pitchFamily="18" charset="0"/>
                </a:rPr>
                <a:t>框架</a:t>
              </a:r>
              <a:endParaRPr lang="en-US" altLang="zh-CN" sz="2000" b="1" kern="0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endParaRPr>
            </a:p>
          </p:txBody>
        </p:sp>
        <p:sp>
          <p:nvSpPr>
            <p:cNvPr id="1048601" name="TextBox 14"/>
            <p:cNvSpPr txBox="1"/>
            <p:nvPr/>
          </p:nvSpPr>
          <p:spPr>
            <a:xfrm>
              <a:off x="12110939" y="5836767"/>
              <a:ext cx="9760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000" b="1" dirty="0">
                  <a:latin typeface="Times New Roman" panose="02020603050405020304" pitchFamily="18" charset="0"/>
                  <a:ea typeface="微软雅黑" panose="020B0503020204020204" pitchFamily="34" charset="-122"/>
                  <a:cs typeface="+mj-cs"/>
                </a:rPr>
                <a:t>2024</a:t>
              </a:r>
              <a:endParaRPr kumimoji="1" lang="en-CN" sz="2000" b="1" dirty="0">
                <a:latin typeface="Times New Roman" panose="02020603050405020304" pitchFamily="18" charset="0"/>
                <a:ea typeface="微软雅黑" panose="020B0503020204020204" pitchFamily="34" charset="-122"/>
                <a:cs typeface="+mj-cs"/>
              </a:endParaRPr>
            </a:p>
          </p:txBody>
        </p:sp>
      </p:grpSp>
      <p:sp>
        <p:nvSpPr>
          <p:cNvPr id="93" name="矩形: 圆角 42">
            <a:extLst>
              <a:ext uri="{FF2B5EF4-FFF2-40B4-BE49-F238E27FC236}">
                <a16:creationId xmlns:a16="http://schemas.microsoft.com/office/drawing/2014/main" id="{9F558F2C-A772-EAD5-AC8C-132FF0769287}"/>
              </a:ext>
            </a:extLst>
          </p:cNvPr>
          <p:cNvSpPr/>
          <p:nvPr/>
        </p:nvSpPr>
        <p:spPr>
          <a:xfrm>
            <a:off x="7644775" y="841926"/>
            <a:ext cx="4197396" cy="700032"/>
          </a:xfrm>
          <a:prstGeom prst="roundRect">
            <a:avLst>
              <a:gd name="adj" fmla="val 9097"/>
            </a:avLst>
          </a:prstGeom>
          <a:solidFill>
            <a:srgbClr val="1E6B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多方隐私集合运算</a:t>
            </a:r>
          </a:p>
        </p:txBody>
      </p:sp>
      <p:sp>
        <p:nvSpPr>
          <p:cNvPr id="94" name="矩形: 圆角 42">
            <a:extLst>
              <a:ext uri="{FF2B5EF4-FFF2-40B4-BE49-F238E27FC236}">
                <a16:creationId xmlns:a16="http://schemas.microsoft.com/office/drawing/2014/main" id="{9AD3F768-0B8E-746E-C1C3-51B79C9FABFC}"/>
              </a:ext>
            </a:extLst>
          </p:cNvPr>
          <p:cNvSpPr/>
          <p:nvPr/>
        </p:nvSpPr>
        <p:spPr>
          <a:xfrm>
            <a:off x="3206663" y="843443"/>
            <a:ext cx="4197395" cy="703384"/>
          </a:xfrm>
          <a:prstGeom prst="roundRect">
            <a:avLst>
              <a:gd name="adj" fmla="val 9097"/>
            </a:avLst>
          </a:prstGeom>
          <a:solidFill>
            <a:srgbClr val="1E6B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两方隐私集合运算</a:t>
            </a:r>
          </a:p>
        </p:txBody>
      </p:sp>
      <p:grpSp>
        <p:nvGrpSpPr>
          <p:cNvPr id="113" name="组合 112">
            <a:extLst>
              <a:ext uri="{FF2B5EF4-FFF2-40B4-BE49-F238E27FC236}">
                <a16:creationId xmlns:a16="http://schemas.microsoft.com/office/drawing/2014/main" id="{2F7A6715-9FEE-15DB-8F9D-19A0C357E127}"/>
              </a:ext>
            </a:extLst>
          </p:cNvPr>
          <p:cNvGrpSpPr>
            <a:grpSpLocks noChangeAspect="1"/>
          </p:cNvGrpSpPr>
          <p:nvPr/>
        </p:nvGrpSpPr>
        <p:grpSpPr>
          <a:xfrm>
            <a:off x="2950649" y="1811917"/>
            <a:ext cx="6250500" cy="2503800"/>
            <a:chOff x="-2962" y="1793800"/>
            <a:chExt cx="6723560" cy="2764531"/>
          </a:xfrm>
        </p:grpSpPr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3FE25A54-BF09-7FD0-AE22-264BC57D6E54}"/>
                </a:ext>
              </a:extLst>
            </p:cNvPr>
            <p:cNvSpPr/>
            <p:nvPr/>
          </p:nvSpPr>
          <p:spPr>
            <a:xfrm>
              <a:off x="2131475" y="1793800"/>
              <a:ext cx="1196140" cy="348645"/>
            </a:xfrm>
            <a:prstGeom prst="rect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PSO</a:t>
              </a:r>
              <a:endPara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98" name="连接符: 肘形 97">
              <a:extLst>
                <a:ext uri="{FF2B5EF4-FFF2-40B4-BE49-F238E27FC236}">
                  <a16:creationId xmlns:a16="http://schemas.microsoft.com/office/drawing/2014/main" id="{E2D3C326-390F-EF26-7E7C-78FA4FE24B3D}"/>
                </a:ext>
              </a:extLst>
            </p:cNvPr>
            <p:cNvCxnSpPr>
              <a:cxnSpLocks/>
              <a:endCxn id="97" idx="1"/>
            </p:cNvCxnSpPr>
            <p:nvPr/>
          </p:nvCxnSpPr>
          <p:spPr>
            <a:xfrm flipV="1">
              <a:off x="1641014" y="1968123"/>
              <a:ext cx="490461" cy="15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连接符: 肘形 98">
              <a:extLst>
                <a:ext uri="{FF2B5EF4-FFF2-40B4-BE49-F238E27FC236}">
                  <a16:creationId xmlns:a16="http://schemas.microsoft.com/office/drawing/2014/main" id="{9215A8B8-13AB-FB24-D8A5-470EB5072FDC}"/>
                </a:ext>
              </a:extLst>
            </p:cNvPr>
            <p:cNvCxnSpPr>
              <a:cxnSpLocks/>
              <a:endCxn id="97" idx="3"/>
            </p:cNvCxnSpPr>
            <p:nvPr/>
          </p:nvCxnSpPr>
          <p:spPr>
            <a:xfrm rot="10800000">
              <a:off x="3327615" y="1968124"/>
              <a:ext cx="486010" cy="13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0" name="文本框 99">
                  <a:extLst>
                    <a:ext uri="{FF2B5EF4-FFF2-40B4-BE49-F238E27FC236}">
                      <a16:creationId xmlns:a16="http://schemas.microsoft.com/office/drawing/2014/main" id="{5E094368-FC07-D3AB-6ADD-BFAE057D55FC}"/>
                    </a:ext>
                  </a:extLst>
                </p:cNvPr>
                <p:cNvSpPr txBox="1"/>
                <p:nvPr/>
              </p:nvSpPr>
              <p:spPr>
                <a:xfrm>
                  <a:off x="644710" y="2139325"/>
                  <a:ext cx="1670184" cy="64567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1600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X</m:t>
                        </m:r>
                        <m:r>
                          <a:rPr lang="en-US" altLang="zh-CN" sz="160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=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,⋯</m:t>
                            </m:r>
                            <m:sSub>
                              <m:sSubPr>
                                <m:ctrlP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sz="1600" b="0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1600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V</m:t>
                        </m:r>
                        <m:r>
                          <a:rPr lang="en-US" altLang="zh-CN" sz="160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=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,⋯</m:t>
                            </m:r>
                            <m:sSub>
                              <m:sSubPr>
                                <m:ctrlP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CN" altLang="en-US" sz="1600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>
            <p:sp>
              <p:nvSpPr>
                <p:cNvPr id="100" name="文本框 99">
                  <a:extLst>
                    <a:ext uri="{FF2B5EF4-FFF2-40B4-BE49-F238E27FC236}">
                      <a16:creationId xmlns:a16="http://schemas.microsoft.com/office/drawing/2014/main" id="{5E094368-FC07-D3AB-6ADD-BFAE057D55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4710" y="2139325"/>
                  <a:ext cx="1670184" cy="64567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1" name="文本框 100">
                  <a:extLst>
                    <a:ext uri="{FF2B5EF4-FFF2-40B4-BE49-F238E27FC236}">
                      <a16:creationId xmlns:a16="http://schemas.microsoft.com/office/drawing/2014/main" id="{00175E0F-8521-40E5-6FEC-3B611A28AEBE}"/>
                    </a:ext>
                  </a:extLst>
                </p:cNvPr>
                <p:cNvSpPr txBox="1"/>
                <p:nvPr/>
              </p:nvSpPr>
              <p:spPr>
                <a:xfrm>
                  <a:off x="3895915" y="2223589"/>
                  <a:ext cx="455229" cy="3058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𝑌</m:t>
                        </m:r>
                      </m:oMath>
                    </m:oMathPara>
                  </a14:m>
                  <a:endPara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>
            <p:sp>
              <p:nvSpPr>
                <p:cNvPr id="101" name="文本框 100">
                  <a:extLst>
                    <a:ext uri="{FF2B5EF4-FFF2-40B4-BE49-F238E27FC236}">
                      <a16:creationId xmlns:a16="http://schemas.microsoft.com/office/drawing/2014/main" id="{00175E0F-8521-40E5-6FEC-3B611A28AE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95915" y="2223589"/>
                  <a:ext cx="455229" cy="305844"/>
                </a:xfrm>
                <a:prstGeom prst="rect">
                  <a:avLst/>
                </a:prstGeom>
                <a:blipFill>
                  <a:blip r:embed="rId5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5" name="直接箭头连接符 104">
              <a:extLst>
                <a:ext uri="{FF2B5EF4-FFF2-40B4-BE49-F238E27FC236}">
                  <a16:creationId xmlns:a16="http://schemas.microsoft.com/office/drawing/2014/main" id="{FB4B69A8-C3D1-FF1A-25D5-EB0FFEBDF797}"/>
                </a:ext>
              </a:extLst>
            </p:cNvPr>
            <p:cNvCxnSpPr>
              <a:cxnSpLocks/>
            </p:cNvCxnSpPr>
            <p:nvPr/>
          </p:nvCxnSpPr>
          <p:spPr>
            <a:xfrm>
              <a:off x="2704729" y="2142445"/>
              <a:ext cx="0" cy="16720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9" name="图片 108">
              <a:extLst>
                <a:ext uri="{FF2B5EF4-FFF2-40B4-BE49-F238E27FC236}">
                  <a16:creationId xmlns:a16="http://schemas.microsoft.com/office/drawing/2014/main" id="{BCCFF2F5-C268-4102-465A-CD7C6C6AA55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03777" y="2718045"/>
              <a:ext cx="1018086" cy="1840286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0" name="文本框 109">
                  <a:extLst>
                    <a:ext uri="{FF2B5EF4-FFF2-40B4-BE49-F238E27FC236}">
                      <a16:creationId xmlns:a16="http://schemas.microsoft.com/office/drawing/2014/main" id="{EC37A498-D807-09E0-3AA6-65EA523FCD5A}"/>
                    </a:ext>
                  </a:extLst>
                </p:cNvPr>
                <p:cNvSpPr txBox="1"/>
                <p:nvPr/>
              </p:nvSpPr>
              <p:spPr>
                <a:xfrm>
                  <a:off x="-2962" y="2670551"/>
                  <a:ext cx="6167042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1600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PSI</m:t>
                        </m:r>
                        <m:r>
                          <a:rPr lang="en-US" altLang="zh-CN" sz="160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=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𝑋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∩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𝑌</m:t>
                        </m:r>
                      </m:oMath>
                    </m:oMathPara>
                  </a14:m>
                  <a:endParaRPr lang="zh-CN" altLang="en-US" sz="1600" dirty="0"/>
                </a:p>
              </p:txBody>
            </p:sp>
          </mc:Choice>
          <mc:Fallback>
            <p:sp>
              <p:nvSpPr>
                <p:cNvPr id="110" name="文本框 109">
                  <a:extLst>
                    <a:ext uri="{FF2B5EF4-FFF2-40B4-BE49-F238E27FC236}">
                      <a16:creationId xmlns:a16="http://schemas.microsoft.com/office/drawing/2014/main" id="{EC37A498-D807-09E0-3AA6-65EA523FCD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962" y="2670551"/>
                  <a:ext cx="6167042" cy="33855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1" name="文本框 110">
                  <a:extLst>
                    <a:ext uri="{FF2B5EF4-FFF2-40B4-BE49-F238E27FC236}">
                      <a16:creationId xmlns:a16="http://schemas.microsoft.com/office/drawing/2014/main" id="{8639524E-7F4B-6FB8-041C-ED7F16523914}"/>
                    </a:ext>
                  </a:extLst>
                </p:cNvPr>
                <p:cNvSpPr txBox="1"/>
                <p:nvPr/>
              </p:nvSpPr>
              <p:spPr>
                <a:xfrm>
                  <a:off x="54422" y="4151547"/>
                  <a:ext cx="6167042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1600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PSU</m:t>
                        </m:r>
                        <m:r>
                          <a:rPr lang="en-US" altLang="zh-CN" sz="160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=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𝑋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∪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𝑌</m:t>
                        </m:r>
                      </m:oMath>
                    </m:oMathPara>
                  </a14:m>
                  <a:endParaRPr lang="zh-CN" altLang="en-US" sz="1600" dirty="0"/>
                </a:p>
              </p:txBody>
            </p:sp>
          </mc:Choice>
          <mc:Fallback>
            <p:sp>
              <p:nvSpPr>
                <p:cNvPr id="111" name="文本框 110">
                  <a:extLst>
                    <a:ext uri="{FF2B5EF4-FFF2-40B4-BE49-F238E27FC236}">
                      <a16:creationId xmlns:a16="http://schemas.microsoft.com/office/drawing/2014/main" id="{8639524E-7F4B-6FB8-041C-ED7F165239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422" y="4151547"/>
                  <a:ext cx="6167042" cy="338554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2" name="文本框 111">
                  <a:extLst>
                    <a:ext uri="{FF2B5EF4-FFF2-40B4-BE49-F238E27FC236}">
                      <a16:creationId xmlns:a16="http://schemas.microsoft.com/office/drawing/2014/main" id="{C647EB36-8B05-D72D-8EFF-DBC4371ED5E3}"/>
                    </a:ext>
                  </a:extLst>
                </p:cNvPr>
                <p:cNvSpPr txBox="1"/>
                <p:nvPr/>
              </p:nvSpPr>
              <p:spPr>
                <a:xfrm>
                  <a:off x="553556" y="2889096"/>
                  <a:ext cx="6167042" cy="126111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1600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P</m:t>
                        </m:r>
                        <m:r>
                          <m:rPr>
                            <m:sty m:val="p"/>
                          </m:r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C</m:t>
                        </m:r>
                        <m:r>
                          <m:rPr>
                            <m:sty m:val="p"/>
                          </m:rPr>
                          <a:rPr lang="en-US" altLang="zh-CN" sz="1600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SI</m:t>
                        </m:r>
                        <m:r>
                          <a:rPr lang="en-US" altLang="zh-CN" sz="160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=</m:t>
                        </m:r>
                        <m:d>
                          <m:dPr>
                            <m:begChr m:val="{"/>
                            <m:endChr m:val=""/>
                            <m:ctrlPr>
                              <a:rPr lang="en-US" altLang="zh-CN" sz="160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altLang="zh-CN" sz="160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eqArrPr>
                              <m:e>
                                <m: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|</m:t>
                                </m:r>
                                <m: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𝑋</m:t>
                                </m:r>
                                <m: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∩</m:t>
                                </m:r>
                                <m: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𝑌</m:t>
                                </m:r>
                                <m: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|</m:t>
                                </m:r>
                              </m:e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altLang="zh-CN" sz="16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sz="16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𝑋</m:t>
                                    </m:r>
                                    <m:r>
                                      <a:rPr lang="en-US" altLang="zh-CN" sz="16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∩</m:t>
                                    </m:r>
                                    <m:r>
                                      <a:rPr lang="en-US" altLang="zh-CN" sz="16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𝑌</m:t>
                                    </m:r>
                                  </m:e>
                                </m:d>
                                <m:r>
                                  <a:rPr lang="en-US" altLang="zh-CN" sz="1600" b="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, 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en-US" altLang="zh-CN" sz="16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altLang="zh-CN" sz="16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𝑥</m:t>
                                    </m:r>
                                    <m:r>
                                      <a:rPr lang="en-US" altLang="zh-CN" sz="16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∈</m:t>
                                    </m:r>
                                    <m:r>
                                      <a:rPr lang="en-US" altLang="zh-CN" sz="16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𝑋</m:t>
                                    </m:r>
                                    <m:r>
                                      <a:rPr lang="en-US" altLang="zh-CN" sz="16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∩</m:t>
                                    </m:r>
                                    <m:r>
                                      <a:rPr lang="en-US" altLang="zh-CN" sz="16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𝑌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en-US" altLang="zh-CN" sz="16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6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zh-CN" sz="16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  <m:e>
                                <m:r>
                                  <a:rPr lang="en-US" altLang="zh-CN" sz="1600" b="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𝑓</m:t>
                                </m:r>
                                <m:r>
                                  <a:rPr lang="en-US" altLang="zh-CN" sz="1600" b="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(</m:t>
                                </m:r>
                                <m: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𝑋</m:t>
                                </m:r>
                                <m: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∩</m:t>
                                </m:r>
                                <m: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𝑌</m:t>
                                </m:r>
                                <m:r>
                                  <a:rPr lang="en-US" altLang="zh-CN" sz="1600" b="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)</m:t>
                                </m:r>
                              </m:e>
                            </m:eqArr>
                          </m:e>
                        </m:d>
                      </m:oMath>
                    </m:oMathPara>
                  </a14:m>
                  <a:endParaRPr lang="zh-CN" altLang="en-US" sz="1600" dirty="0"/>
                </a:p>
              </p:txBody>
            </p:sp>
          </mc:Choice>
          <mc:Fallback>
            <p:sp>
              <p:nvSpPr>
                <p:cNvPr id="112" name="文本框 111">
                  <a:extLst>
                    <a:ext uri="{FF2B5EF4-FFF2-40B4-BE49-F238E27FC236}">
                      <a16:creationId xmlns:a16="http://schemas.microsoft.com/office/drawing/2014/main" id="{C647EB36-8B05-D72D-8EFF-DBC4371ED5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556" y="2889096"/>
                  <a:ext cx="6167042" cy="1261114"/>
                </a:xfrm>
                <a:prstGeom prst="rect">
                  <a:avLst/>
                </a:prstGeom>
                <a:blipFill>
                  <a:blip r:embed="rId9"/>
                  <a:stretch>
                    <a:fillRect b="-641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48633" name="组合 1048632">
            <a:extLst>
              <a:ext uri="{FF2B5EF4-FFF2-40B4-BE49-F238E27FC236}">
                <a16:creationId xmlns:a16="http://schemas.microsoft.com/office/drawing/2014/main" id="{DC8B131F-C8F8-B811-CD52-E462D374E2F7}"/>
              </a:ext>
            </a:extLst>
          </p:cNvPr>
          <p:cNvGrpSpPr/>
          <p:nvPr/>
        </p:nvGrpSpPr>
        <p:grpSpPr>
          <a:xfrm>
            <a:off x="36867" y="5853059"/>
            <a:ext cx="12096205" cy="1070373"/>
            <a:chOff x="-288152" y="899791"/>
            <a:chExt cx="8913628" cy="1070373"/>
          </a:xfrm>
        </p:grpSpPr>
        <p:sp>
          <p:nvSpPr>
            <p:cNvPr id="1048634" name="圆角矩形 1">
              <a:extLst>
                <a:ext uri="{FF2B5EF4-FFF2-40B4-BE49-F238E27FC236}">
                  <a16:creationId xmlns:a16="http://schemas.microsoft.com/office/drawing/2014/main" id="{AAA00AB5-B171-0CBC-BD3B-2B179D019687}"/>
                </a:ext>
              </a:extLst>
            </p:cNvPr>
            <p:cNvSpPr/>
            <p:nvPr/>
          </p:nvSpPr>
          <p:spPr>
            <a:xfrm>
              <a:off x="-120678" y="1094918"/>
              <a:ext cx="8621867" cy="720000"/>
            </a:xfrm>
            <a:prstGeom prst="roundRect">
              <a:avLst>
                <a:gd name="adj" fmla="val 15752"/>
              </a:avLst>
            </a:prstGeom>
            <a:solidFill>
              <a:srgbClr val="8F0F16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30000"/>
                </a:lnSpc>
                <a:defRPr/>
              </a:pPr>
              <a:endParaRPr lang="zh-CN" altLang="en-US" sz="2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48635" name="圆角矩形 1">
              <a:extLst>
                <a:ext uri="{FF2B5EF4-FFF2-40B4-BE49-F238E27FC236}">
                  <a16:creationId xmlns:a16="http://schemas.microsoft.com/office/drawing/2014/main" id="{CF146670-558B-1F2E-79AF-AECCC0AABAC3}"/>
                </a:ext>
              </a:extLst>
            </p:cNvPr>
            <p:cNvSpPr/>
            <p:nvPr/>
          </p:nvSpPr>
          <p:spPr>
            <a:xfrm>
              <a:off x="-288152" y="899791"/>
              <a:ext cx="8913628" cy="1070373"/>
            </a:xfrm>
            <a:prstGeom prst="roundRect">
              <a:avLst>
                <a:gd name="adj" fmla="val 4708"/>
              </a:avLst>
            </a:prstGeom>
            <a:no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  <a:defRPr/>
              </a:pPr>
              <a:r>
                <a:rPr lang="zh-CN" altLang="en-US" sz="2800" b="1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多方隐私集合运算：相比于两方</a:t>
              </a:r>
              <a:r>
                <a:rPr lang="zh-CN" altLang="en-US" sz="2800" b="1" dirty="0">
                  <a:solidFill>
                    <a:srgbClr val="FFFF00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功能复杂</a:t>
              </a:r>
              <a:r>
                <a:rPr lang="zh-CN" altLang="en-US" sz="2800" b="1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、</a:t>
              </a:r>
              <a:r>
                <a:rPr kumimoji="1" lang="zh-CN" altLang="en-US" sz="2800" b="1" dirty="0">
                  <a:solidFill>
                    <a:srgbClr val="FFFF00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设计难度大</a:t>
              </a:r>
              <a:r>
                <a:rPr kumimoji="1" lang="zh-CN" altLang="en-US" sz="2800" b="1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、</a:t>
              </a:r>
              <a:r>
                <a:rPr kumimoji="1" lang="zh-CN" altLang="en-US" sz="2800" b="1" dirty="0">
                  <a:solidFill>
                    <a:srgbClr val="FFFF00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进展迟缓</a:t>
              </a:r>
            </a:p>
          </p:txBody>
        </p:sp>
      </p:grpSp>
      <p:sp>
        <p:nvSpPr>
          <p:cNvPr id="1048637" name="Oval 12">
            <a:extLst>
              <a:ext uri="{FF2B5EF4-FFF2-40B4-BE49-F238E27FC236}">
                <a16:creationId xmlns:a16="http://schemas.microsoft.com/office/drawing/2014/main" id="{39D087AB-ABCD-E108-6037-CFBBD68229B0}"/>
              </a:ext>
            </a:extLst>
          </p:cNvPr>
          <p:cNvSpPr/>
          <p:nvPr/>
        </p:nvSpPr>
        <p:spPr>
          <a:xfrm>
            <a:off x="10667131" y="5379320"/>
            <a:ext cx="164386" cy="174654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>
              <a:solidFill>
                <a:srgbClr val="C00000"/>
              </a:solidFill>
            </a:endParaRPr>
          </a:p>
        </p:txBody>
      </p:sp>
      <p:sp>
        <p:nvSpPr>
          <p:cNvPr id="1048638" name="TextBox 11">
            <a:extLst>
              <a:ext uri="{FF2B5EF4-FFF2-40B4-BE49-F238E27FC236}">
                <a16:creationId xmlns:a16="http://schemas.microsoft.com/office/drawing/2014/main" id="{E72A46E1-6FD4-A5E6-FC89-EC9CE3FA6943}"/>
              </a:ext>
            </a:extLst>
          </p:cNvPr>
          <p:cNvSpPr txBox="1"/>
          <p:nvPr/>
        </p:nvSpPr>
        <p:spPr>
          <a:xfrm>
            <a:off x="4658153" y="4375095"/>
            <a:ext cx="171648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b="1" kern="0" dirty="0" err="1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Kolesniko</a:t>
            </a:r>
            <a:r>
              <a:rPr lang="zh-CN" altLang="en-US" sz="2000" b="1" kern="0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等基于</a:t>
            </a:r>
            <a:r>
              <a:rPr lang="en-US" altLang="zh-CN" sz="2000" b="1" kern="0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OT</a:t>
            </a:r>
            <a:r>
              <a:rPr lang="zh-CN" altLang="en-US" sz="2000" b="1" kern="0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的</a:t>
            </a:r>
            <a:endParaRPr lang="en-US" altLang="zh-CN" sz="2000" b="1" kern="0" dirty="0">
              <a:latin typeface="Times New Roman" panose="02020503050405090304" pitchFamily="18" charset="0"/>
              <a:ea typeface="微软雅黑" charset="-122"/>
              <a:cs typeface="Times New Roman" panose="02020503050405090304" pitchFamily="18" charset="0"/>
            </a:endParaRPr>
          </a:p>
          <a:p>
            <a:pPr algn="ctr"/>
            <a:r>
              <a:rPr lang="zh-CN" altLang="en-US" sz="2000" b="1" kern="0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高效两方</a:t>
            </a:r>
            <a:r>
              <a:rPr lang="en-US" altLang="zh-CN" sz="2000" b="1" kern="0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PSU</a:t>
            </a:r>
            <a:endParaRPr lang="zh-CN" altLang="en-US" sz="2000" b="1" dirty="0">
              <a:latin typeface="Times New Roman" panose="02020503050405090304" pitchFamily="18" charset="0"/>
              <a:ea typeface="微软雅黑" charset="-122"/>
              <a:cs typeface="Times New Roman" panose="02020503050405090304" pitchFamily="18" charset="0"/>
            </a:endParaRPr>
          </a:p>
        </p:txBody>
      </p:sp>
      <p:sp>
        <p:nvSpPr>
          <p:cNvPr id="1048639" name="Oval 25">
            <a:extLst>
              <a:ext uri="{FF2B5EF4-FFF2-40B4-BE49-F238E27FC236}">
                <a16:creationId xmlns:a16="http://schemas.microsoft.com/office/drawing/2014/main" id="{4D7096EE-F5E8-0FD7-832F-F84DE76655E0}"/>
              </a:ext>
            </a:extLst>
          </p:cNvPr>
          <p:cNvSpPr/>
          <p:nvPr/>
        </p:nvSpPr>
        <p:spPr>
          <a:xfrm flipH="1">
            <a:off x="5274293" y="5354821"/>
            <a:ext cx="162440" cy="178444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3145729" name="TextBox 27">
            <a:extLst>
              <a:ext uri="{FF2B5EF4-FFF2-40B4-BE49-F238E27FC236}">
                <a16:creationId xmlns:a16="http://schemas.microsoft.com/office/drawing/2014/main" id="{BE6697F0-33A8-75A2-4C8C-BEDFC588C19E}"/>
              </a:ext>
            </a:extLst>
          </p:cNvPr>
          <p:cNvSpPr txBox="1"/>
          <p:nvPr/>
        </p:nvSpPr>
        <p:spPr>
          <a:xfrm>
            <a:off x="4856395" y="5514801"/>
            <a:ext cx="9260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b="1" dirty="0">
                <a:latin typeface="Times New Roman" panose="02020603050405020304" pitchFamily="18" charset="0"/>
                <a:ea typeface="微软雅黑" panose="020B0503020204020204" pitchFamily="34" charset="-122"/>
                <a:cs typeface="+mj-cs"/>
              </a:rPr>
              <a:t>2019</a:t>
            </a:r>
            <a:endParaRPr kumimoji="1" lang="en-CN" sz="2000" b="1" dirty="0">
              <a:latin typeface="Times New Roman" panose="02020603050405020304" pitchFamily="18" charset="0"/>
              <a:ea typeface="微软雅黑" panose="020B0503020204020204" pitchFamily="34" charset="-122"/>
              <a:cs typeface="+mj-cs"/>
            </a:endParaRPr>
          </a:p>
        </p:txBody>
      </p:sp>
      <p:sp>
        <p:nvSpPr>
          <p:cNvPr id="3145730" name="Oval 26">
            <a:extLst>
              <a:ext uri="{FF2B5EF4-FFF2-40B4-BE49-F238E27FC236}">
                <a16:creationId xmlns:a16="http://schemas.microsoft.com/office/drawing/2014/main" id="{6F38FFA8-6FD5-E80E-9540-F4CAEEDDBA95}"/>
              </a:ext>
            </a:extLst>
          </p:cNvPr>
          <p:cNvSpPr/>
          <p:nvPr/>
        </p:nvSpPr>
        <p:spPr>
          <a:xfrm flipH="1">
            <a:off x="9609359" y="5359883"/>
            <a:ext cx="162440" cy="178444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145731" name="TextBox 28">
            <a:extLst>
              <a:ext uri="{FF2B5EF4-FFF2-40B4-BE49-F238E27FC236}">
                <a16:creationId xmlns:a16="http://schemas.microsoft.com/office/drawing/2014/main" id="{F82F01AB-120D-DDA3-2B14-A4A797EA475C}"/>
              </a:ext>
            </a:extLst>
          </p:cNvPr>
          <p:cNvSpPr txBox="1"/>
          <p:nvPr/>
        </p:nvSpPr>
        <p:spPr>
          <a:xfrm>
            <a:off x="9226532" y="5510719"/>
            <a:ext cx="9260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b="1" dirty="0">
                <a:latin typeface="Times New Roman" panose="02020603050405020304" pitchFamily="18" charset="0"/>
                <a:ea typeface="微软雅黑" panose="020B0503020204020204" pitchFamily="34" charset="-122"/>
                <a:cs typeface="+mj-cs"/>
              </a:rPr>
              <a:t>2023</a:t>
            </a:r>
            <a:endParaRPr kumimoji="1" lang="en-CN" sz="2000" b="1" dirty="0">
              <a:latin typeface="Times New Roman" panose="02020603050405020304" pitchFamily="18" charset="0"/>
              <a:ea typeface="微软雅黑" panose="020B0503020204020204" pitchFamily="34" charset="-122"/>
              <a:cs typeface="+mj-cs"/>
            </a:endParaRPr>
          </a:p>
        </p:txBody>
      </p:sp>
      <p:sp>
        <p:nvSpPr>
          <p:cNvPr id="3145732" name="TextBox 11">
            <a:extLst>
              <a:ext uri="{FF2B5EF4-FFF2-40B4-BE49-F238E27FC236}">
                <a16:creationId xmlns:a16="http://schemas.microsoft.com/office/drawing/2014/main" id="{E4D75090-BD5B-CC13-D5C5-A3FE94318901}"/>
              </a:ext>
            </a:extLst>
          </p:cNvPr>
          <p:cNvSpPr txBox="1"/>
          <p:nvPr/>
        </p:nvSpPr>
        <p:spPr>
          <a:xfrm>
            <a:off x="8585368" y="4395104"/>
            <a:ext cx="189324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kern="0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张聪等</a:t>
            </a:r>
            <a:endParaRPr lang="en-US" altLang="zh-CN" sz="2000" b="1" kern="0" dirty="0">
              <a:latin typeface="Times New Roman" panose="02020503050405090304" pitchFamily="18" charset="0"/>
              <a:ea typeface="微软雅黑" charset="-122"/>
              <a:cs typeface="Times New Roman" panose="02020503050405090304" pitchFamily="18" charset="0"/>
            </a:endParaRPr>
          </a:p>
          <a:p>
            <a:pPr algn="ctr"/>
            <a:r>
              <a:rPr lang="zh-CN" altLang="en-US" sz="2000" b="1" kern="0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提出首个线性两方</a:t>
            </a:r>
            <a:r>
              <a:rPr lang="en-US" altLang="zh-CN" sz="2000" b="1" kern="0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PSU</a:t>
            </a:r>
            <a:endParaRPr lang="en-CN" sz="2000" b="1" kern="0" dirty="0">
              <a:latin typeface="Times New Roman" panose="02020503050405090304" pitchFamily="18" charset="0"/>
              <a:ea typeface="微软雅黑" charset="-122"/>
              <a:cs typeface="Times New Roman" panose="02020503050405090304" pitchFamily="18" charset="0"/>
            </a:endParaRPr>
          </a:p>
        </p:txBody>
      </p:sp>
      <p:sp>
        <p:nvSpPr>
          <p:cNvPr id="3145733" name="Oval 26">
            <a:extLst>
              <a:ext uri="{FF2B5EF4-FFF2-40B4-BE49-F238E27FC236}">
                <a16:creationId xmlns:a16="http://schemas.microsoft.com/office/drawing/2014/main" id="{B4D2282F-D291-C9FA-AA81-A198369090BA}"/>
              </a:ext>
            </a:extLst>
          </p:cNvPr>
          <p:cNvSpPr/>
          <p:nvPr/>
        </p:nvSpPr>
        <p:spPr>
          <a:xfrm flipH="1">
            <a:off x="8178194" y="5371967"/>
            <a:ext cx="162440" cy="178444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145734" name="TextBox 28">
            <a:extLst>
              <a:ext uri="{FF2B5EF4-FFF2-40B4-BE49-F238E27FC236}">
                <a16:creationId xmlns:a16="http://schemas.microsoft.com/office/drawing/2014/main" id="{32916265-7042-20CE-53BD-763D321B0F7B}"/>
              </a:ext>
            </a:extLst>
          </p:cNvPr>
          <p:cNvSpPr txBox="1"/>
          <p:nvPr/>
        </p:nvSpPr>
        <p:spPr>
          <a:xfrm>
            <a:off x="7844715" y="5508875"/>
            <a:ext cx="9260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b="1" dirty="0">
                <a:latin typeface="Times New Roman" panose="02020603050405020304" pitchFamily="18" charset="0"/>
                <a:ea typeface="微软雅黑" panose="020B0503020204020204" pitchFamily="34" charset="-122"/>
                <a:cs typeface="+mj-cs"/>
              </a:rPr>
              <a:t>2022</a:t>
            </a:r>
            <a:endParaRPr kumimoji="1" lang="en-CN" sz="2000" b="1" dirty="0">
              <a:latin typeface="Times New Roman" panose="02020603050405020304" pitchFamily="18" charset="0"/>
              <a:ea typeface="微软雅黑" panose="020B0503020204020204" pitchFamily="34" charset="-122"/>
              <a:cs typeface="+mj-cs"/>
            </a:endParaRPr>
          </a:p>
        </p:txBody>
      </p:sp>
      <p:sp>
        <p:nvSpPr>
          <p:cNvPr id="3145735" name="TextBox 11">
            <a:extLst>
              <a:ext uri="{FF2B5EF4-FFF2-40B4-BE49-F238E27FC236}">
                <a16:creationId xmlns:a16="http://schemas.microsoft.com/office/drawing/2014/main" id="{6DBF8471-622F-3CCA-61B4-134A10355463}"/>
              </a:ext>
            </a:extLst>
          </p:cNvPr>
          <p:cNvSpPr txBox="1"/>
          <p:nvPr/>
        </p:nvSpPr>
        <p:spPr>
          <a:xfrm>
            <a:off x="6317809" y="4367717"/>
            <a:ext cx="23877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b="1" kern="0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Raghuraman</a:t>
            </a:r>
            <a:r>
              <a:rPr lang="zh-CN" altLang="en-US" sz="2000" b="1" kern="0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等</a:t>
            </a:r>
            <a:endParaRPr lang="en-US" altLang="zh-CN" sz="2000" b="1" kern="0" dirty="0">
              <a:latin typeface="Times New Roman" panose="02020503050405090304" pitchFamily="18" charset="0"/>
              <a:ea typeface="微软雅黑" charset="-122"/>
              <a:cs typeface="Times New Roman" panose="02020503050405090304" pitchFamily="18" charset="0"/>
            </a:endParaRPr>
          </a:p>
          <a:p>
            <a:pPr algn="ctr"/>
            <a:r>
              <a:rPr lang="zh-CN" altLang="en-US" sz="2000" b="1" kern="0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提出与朴素方案性能相当的两方</a:t>
            </a:r>
            <a:r>
              <a:rPr lang="en-US" altLang="zh-CN" sz="2000" b="1" kern="0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PSI</a:t>
            </a:r>
            <a:endParaRPr lang="en-CN" sz="2000" b="1" kern="0" dirty="0">
              <a:latin typeface="Times New Roman" panose="02020503050405090304" pitchFamily="18" charset="0"/>
              <a:ea typeface="微软雅黑" charset="-122"/>
              <a:cs typeface="Times New Roman" panose="02020503050405090304" pitchFamily="18" charset="0"/>
            </a:endParaRPr>
          </a:p>
        </p:txBody>
      </p:sp>
      <p:sp>
        <p:nvSpPr>
          <p:cNvPr id="3145737" name="文本框 58">
            <a:extLst>
              <a:ext uri="{FF2B5EF4-FFF2-40B4-BE49-F238E27FC236}">
                <a16:creationId xmlns:a16="http://schemas.microsoft.com/office/drawing/2014/main" id="{7DC3AA02-799D-296F-9AF5-AA1F19CE3EF6}"/>
              </a:ext>
            </a:extLst>
          </p:cNvPr>
          <p:cNvSpPr txBox="1"/>
          <p:nvPr/>
        </p:nvSpPr>
        <p:spPr>
          <a:xfrm>
            <a:off x="5516394" y="5508552"/>
            <a:ext cx="2683311" cy="383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000"/>
              </a:lnSpc>
            </a:pPr>
            <a:r>
              <a:rPr lang="zh-CN" altLang="en-US" b="1" dirty="0">
                <a:solidFill>
                  <a:srgbClr val="C00000"/>
                </a:solidFill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两方</a:t>
            </a:r>
            <a:r>
              <a:rPr lang="en-US" altLang="zh-CN" b="1" dirty="0">
                <a:solidFill>
                  <a:srgbClr val="C00000"/>
                </a:solidFill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PSO</a:t>
            </a:r>
            <a:r>
              <a:rPr lang="zh-CN" altLang="en-US" b="1" dirty="0">
                <a:solidFill>
                  <a:srgbClr val="C00000"/>
                </a:solidFill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技术飞速发展</a:t>
            </a:r>
          </a:p>
        </p:txBody>
      </p:sp>
      <p:grpSp>
        <p:nvGrpSpPr>
          <p:cNvPr id="3145758" name="组合 3145757">
            <a:extLst>
              <a:ext uri="{FF2B5EF4-FFF2-40B4-BE49-F238E27FC236}">
                <a16:creationId xmlns:a16="http://schemas.microsoft.com/office/drawing/2014/main" id="{DA4FD60C-AE3D-F42F-7655-F2572A129B06}"/>
              </a:ext>
            </a:extLst>
          </p:cNvPr>
          <p:cNvGrpSpPr/>
          <p:nvPr/>
        </p:nvGrpSpPr>
        <p:grpSpPr>
          <a:xfrm>
            <a:off x="958338" y="2659384"/>
            <a:ext cx="1837033" cy="1885162"/>
            <a:chOff x="420136" y="1862565"/>
            <a:chExt cx="2690788" cy="2434146"/>
          </a:xfrm>
        </p:grpSpPr>
        <p:sp>
          <p:nvSpPr>
            <p:cNvPr id="3145741" name="矩形 3145740">
              <a:extLst>
                <a:ext uri="{FF2B5EF4-FFF2-40B4-BE49-F238E27FC236}">
                  <a16:creationId xmlns:a16="http://schemas.microsoft.com/office/drawing/2014/main" id="{8EA5BE67-D023-4941-BA4D-F048D9897B2E}"/>
                </a:ext>
              </a:extLst>
            </p:cNvPr>
            <p:cNvSpPr/>
            <p:nvPr/>
          </p:nvSpPr>
          <p:spPr>
            <a:xfrm>
              <a:off x="460500" y="3614455"/>
              <a:ext cx="2389925" cy="682256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3200" b="1" dirty="0"/>
            </a:p>
          </p:txBody>
        </p:sp>
        <p:sp>
          <p:nvSpPr>
            <p:cNvPr id="3145742" name="矩形 3145741">
              <a:extLst>
                <a:ext uri="{FF2B5EF4-FFF2-40B4-BE49-F238E27FC236}">
                  <a16:creationId xmlns:a16="http://schemas.microsoft.com/office/drawing/2014/main" id="{3144C016-9D17-4B5B-92C4-2799AA452E27}"/>
                </a:ext>
              </a:extLst>
            </p:cNvPr>
            <p:cNvSpPr/>
            <p:nvPr/>
          </p:nvSpPr>
          <p:spPr>
            <a:xfrm>
              <a:off x="436272" y="2737281"/>
              <a:ext cx="2196765" cy="682256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3200" b="1" dirty="0"/>
            </a:p>
          </p:txBody>
        </p:sp>
        <p:sp>
          <p:nvSpPr>
            <p:cNvPr id="3145743" name="矩形 3145742">
              <a:extLst>
                <a:ext uri="{FF2B5EF4-FFF2-40B4-BE49-F238E27FC236}">
                  <a16:creationId xmlns:a16="http://schemas.microsoft.com/office/drawing/2014/main" id="{34A8F579-8C37-45B8-9F2C-629FAB432004}"/>
                </a:ext>
              </a:extLst>
            </p:cNvPr>
            <p:cNvSpPr/>
            <p:nvPr/>
          </p:nvSpPr>
          <p:spPr>
            <a:xfrm>
              <a:off x="420136" y="1862565"/>
              <a:ext cx="2196765" cy="682257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3200" b="1" dirty="0"/>
            </a:p>
          </p:txBody>
        </p:sp>
        <p:sp>
          <p:nvSpPr>
            <p:cNvPr id="3145744" name="矩形 3145743">
              <a:extLst>
                <a:ext uri="{FF2B5EF4-FFF2-40B4-BE49-F238E27FC236}">
                  <a16:creationId xmlns:a16="http://schemas.microsoft.com/office/drawing/2014/main" id="{B804BBBB-39B2-471E-8F67-74C023BD1A68}"/>
                </a:ext>
              </a:extLst>
            </p:cNvPr>
            <p:cNvSpPr/>
            <p:nvPr/>
          </p:nvSpPr>
          <p:spPr>
            <a:xfrm>
              <a:off x="1081294" y="1954743"/>
              <a:ext cx="1470373" cy="4616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2400" b="1" dirty="0">
                  <a:solidFill>
                    <a:schemeClr val="bg1"/>
                  </a:solidFill>
                </a:rPr>
                <a:t>高频</a:t>
              </a:r>
              <a:endParaRPr lang="zh-CN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3145745" name="矩形 3145744">
              <a:extLst>
                <a:ext uri="{FF2B5EF4-FFF2-40B4-BE49-F238E27FC236}">
                  <a16:creationId xmlns:a16="http://schemas.microsoft.com/office/drawing/2014/main" id="{054098E3-6AAB-433C-BF72-7B2986F7ED69}"/>
                </a:ext>
              </a:extLst>
            </p:cNvPr>
            <p:cNvSpPr/>
            <p:nvPr/>
          </p:nvSpPr>
          <p:spPr>
            <a:xfrm>
              <a:off x="1089417" y="2804518"/>
              <a:ext cx="1622817" cy="5961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2400" b="1" dirty="0">
                  <a:solidFill>
                    <a:schemeClr val="bg1"/>
                  </a:solidFill>
                </a:rPr>
                <a:t>高价值</a:t>
              </a:r>
              <a:endParaRPr lang="zh-CN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3145746" name="矩形 3145745">
              <a:extLst>
                <a:ext uri="{FF2B5EF4-FFF2-40B4-BE49-F238E27FC236}">
                  <a16:creationId xmlns:a16="http://schemas.microsoft.com/office/drawing/2014/main" id="{EB087BEF-DC43-46DD-B1B6-818178574C55}"/>
                </a:ext>
              </a:extLst>
            </p:cNvPr>
            <p:cNvSpPr/>
            <p:nvPr/>
          </p:nvSpPr>
          <p:spPr>
            <a:xfrm>
              <a:off x="896234" y="3677099"/>
              <a:ext cx="2214690" cy="5961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2400" b="1" dirty="0">
                  <a:solidFill>
                    <a:schemeClr val="bg1"/>
                  </a:solidFill>
                </a:rPr>
                <a:t>专用协议</a:t>
              </a:r>
            </a:p>
          </p:txBody>
        </p:sp>
        <p:pic>
          <p:nvPicPr>
            <p:cNvPr id="3145747" name="图片 3145746">
              <a:extLst>
                <a:ext uri="{FF2B5EF4-FFF2-40B4-BE49-F238E27FC236}">
                  <a16:creationId xmlns:a16="http://schemas.microsoft.com/office/drawing/2014/main" id="{82C9C3EB-5577-44D6-BD50-ACFBF623B1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0457" y="1887564"/>
              <a:ext cx="598389" cy="598389"/>
            </a:xfrm>
            <a:prstGeom prst="rect">
              <a:avLst/>
            </a:prstGeom>
          </p:spPr>
        </p:pic>
        <p:pic>
          <p:nvPicPr>
            <p:cNvPr id="3145748" name="图片 3145747">
              <a:extLst>
                <a:ext uri="{FF2B5EF4-FFF2-40B4-BE49-F238E27FC236}">
                  <a16:creationId xmlns:a16="http://schemas.microsoft.com/office/drawing/2014/main" id="{E5454D47-FB70-4A34-9359-601A1A5FC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2049" y="2839693"/>
              <a:ext cx="546179" cy="464834"/>
            </a:xfrm>
            <a:prstGeom prst="rect">
              <a:avLst/>
            </a:prstGeom>
          </p:spPr>
        </p:pic>
        <p:pic>
          <p:nvPicPr>
            <p:cNvPr id="3145749" name="图片 3145748">
              <a:extLst>
                <a:ext uri="{FF2B5EF4-FFF2-40B4-BE49-F238E27FC236}">
                  <a16:creationId xmlns:a16="http://schemas.microsoft.com/office/drawing/2014/main" id="{27F7503C-6E3D-4DAB-A1D0-8A0EA088785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2049" y="3679455"/>
              <a:ext cx="532175" cy="532175"/>
            </a:xfrm>
            <a:prstGeom prst="rect">
              <a:avLst/>
            </a:prstGeom>
          </p:spPr>
        </p:pic>
      </p:grpSp>
      <p:pic>
        <p:nvPicPr>
          <p:cNvPr id="3145763" name="图片 3145762">
            <a:extLst>
              <a:ext uri="{FF2B5EF4-FFF2-40B4-BE49-F238E27FC236}">
                <a16:creationId xmlns:a16="http://schemas.microsoft.com/office/drawing/2014/main" id="{1A083BC8-C756-EBE2-DEF6-3EB523E12A2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2404" y="1541169"/>
            <a:ext cx="662590" cy="662590"/>
          </a:xfrm>
          <a:prstGeom prst="rect">
            <a:avLst/>
          </a:prstGeom>
        </p:spPr>
      </p:pic>
      <p:pic>
        <p:nvPicPr>
          <p:cNvPr id="3145765" name="图片 3145764">
            <a:extLst>
              <a:ext uri="{FF2B5EF4-FFF2-40B4-BE49-F238E27FC236}">
                <a16:creationId xmlns:a16="http://schemas.microsoft.com/office/drawing/2014/main" id="{FC4B9CE5-5BA2-04F6-56AD-F5E7ADBEA8E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0883" y="1582833"/>
            <a:ext cx="660134" cy="660134"/>
          </a:xfrm>
          <a:prstGeom prst="rect">
            <a:avLst/>
          </a:prstGeom>
        </p:spPr>
      </p:pic>
      <p:grpSp>
        <p:nvGrpSpPr>
          <p:cNvPr id="3145785" name="组合 3145784">
            <a:extLst>
              <a:ext uri="{FF2B5EF4-FFF2-40B4-BE49-F238E27FC236}">
                <a16:creationId xmlns:a16="http://schemas.microsoft.com/office/drawing/2014/main" id="{9D6AF5C4-AFB1-3D4D-76DF-2AC256852C0D}"/>
              </a:ext>
            </a:extLst>
          </p:cNvPr>
          <p:cNvGrpSpPr/>
          <p:nvPr/>
        </p:nvGrpSpPr>
        <p:grpSpPr>
          <a:xfrm>
            <a:off x="7473458" y="1532325"/>
            <a:ext cx="4738555" cy="2604418"/>
            <a:chOff x="7473458" y="1532325"/>
            <a:chExt cx="4738555" cy="2604418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7D852DC5-9E1C-58E4-7F44-C0FDD152ACD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039335" y="1605032"/>
              <a:ext cx="3674626" cy="1946272"/>
              <a:chOff x="2887452" y="2101518"/>
              <a:chExt cx="6097835" cy="3262684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10BF3112-DF37-48FC-AFB6-4AA32CEE6C7D}"/>
                      </a:ext>
                    </a:extLst>
                  </p:cNvPr>
                  <p:cNvSpPr txBox="1"/>
                  <p:nvPr/>
                </p:nvSpPr>
                <p:spPr>
                  <a:xfrm>
                    <a:off x="3046059" y="2979443"/>
                    <a:ext cx="287777" cy="46435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10BF3112-DF37-48FC-AFB6-4AA32CEE6C7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46059" y="2979443"/>
                    <a:ext cx="287777" cy="464354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44828" r="-62069" b="-1521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" name="文本框 8">
                    <a:extLst>
                      <a:ext uri="{FF2B5EF4-FFF2-40B4-BE49-F238E27FC236}">
                        <a16:creationId xmlns:a16="http://schemas.microsoft.com/office/drawing/2014/main" id="{5176ADCE-C119-8155-D3ED-0221E0BC8172}"/>
                      </a:ext>
                    </a:extLst>
                  </p:cNvPr>
                  <p:cNvSpPr txBox="1"/>
                  <p:nvPr/>
                </p:nvSpPr>
                <p:spPr>
                  <a:xfrm>
                    <a:off x="5595728" y="2967598"/>
                    <a:ext cx="521804" cy="46435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>
              <p:sp>
                <p:nvSpPr>
                  <p:cNvPr id="9" name="文本框 8">
                    <a:extLst>
                      <a:ext uri="{FF2B5EF4-FFF2-40B4-BE49-F238E27FC236}">
                        <a16:creationId xmlns:a16="http://schemas.microsoft.com/office/drawing/2014/main" id="{5176ADCE-C119-8155-D3ED-0221E0BC81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95728" y="2967598"/>
                    <a:ext cx="521804" cy="464354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5686" r="-5882" b="-1777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文本框 11">
                    <a:extLst>
                      <a:ext uri="{FF2B5EF4-FFF2-40B4-BE49-F238E27FC236}">
                        <a16:creationId xmlns:a16="http://schemas.microsoft.com/office/drawing/2014/main" id="{ECAE0478-CCD1-0759-3C57-7563AD51E566}"/>
                      </a:ext>
                    </a:extLst>
                  </p:cNvPr>
                  <p:cNvSpPr txBox="1"/>
                  <p:nvPr/>
                </p:nvSpPr>
                <p:spPr>
                  <a:xfrm>
                    <a:off x="8263388" y="2986380"/>
                    <a:ext cx="237246" cy="46435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>
              <p:sp>
                <p:nvSpPr>
                  <p:cNvPr id="12" name="文本框 11">
                    <a:extLst>
                      <a:ext uri="{FF2B5EF4-FFF2-40B4-BE49-F238E27FC236}">
                        <a16:creationId xmlns:a16="http://schemas.microsoft.com/office/drawing/2014/main" id="{ECAE0478-CCD1-0759-3C57-7563AD51E56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263388" y="2986380"/>
                    <a:ext cx="237246" cy="46435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54167" r="-100000" b="-1777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3" name="图片 12">
                <a:extLst>
                  <a:ext uri="{FF2B5EF4-FFF2-40B4-BE49-F238E27FC236}">
                    <a16:creationId xmlns:a16="http://schemas.microsoft.com/office/drawing/2014/main" id="{8BE3C0F2-A963-4556-0BCF-0CA01CC326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745020" y="2101518"/>
                <a:ext cx="687987" cy="631181"/>
              </a:xfrm>
              <a:prstGeom prst="rect">
                <a:avLst/>
              </a:prstGeom>
            </p:spPr>
          </p:pic>
          <p:cxnSp>
            <p:nvCxnSpPr>
              <p:cNvPr id="14" name="直接连接符 13">
                <a:extLst>
                  <a:ext uri="{FF2B5EF4-FFF2-40B4-BE49-F238E27FC236}">
                    <a16:creationId xmlns:a16="http://schemas.microsoft.com/office/drawing/2014/main" id="{968FAABF-E784-ADFC-6FB2-C31B4F76C1AE}"/>
                  </a:ext>
                </a:extLst>
              </p:cNvPr>
              <p:cNvCxnSpPr>
                <a:cxnSpLocks/>
                <a:stCxn id="13" idx="1"/>
              </p:cNvCxnSpPr>
              <p:nvPr/>
            </p:nvCxnSpPr>
            <p:spPr>
              <a:xfrm flipH="1">
                <a:off x="6137664" y="2417109"/>
                <a:ext cx="607356" cy="401324"/>
              </a:xfrm>
              <a:prstGeom prst="line">
                <a:avLst/>
              </a:prstGeom>
              <a:ln w="1270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15" name="直接箭头连接符 14">
                <a:extLst>
                  <a:ext uri="{FF2B5EF4-FFF2-40B4-BE49-F238E27FC236}">
                    <a16:creationId xmlns:a16="http://schemas.microsoft.com/office/drawing/2014/main" id="{9F7E4FD7-9EC2-8FC9-628E-F236EC650F17}"/>
                  </a:ext>
                </a:extLst>
              </p:cNvPr>
              <p:cNvCxnSpPr>
                <a:cxnSpLocks/>
                <a:stCxn id="13" idx="3"/>
              </p:cNvCxnSpPr>
              <p:nvPr/>
            </p:nvCxnSpPr>
            <p:spPr>
              <a:xfrm>
                <a:off x="7433007" y="2417109"/>
                <a:ext cx="539780" cy="361738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19E96AA8-4192-3D95-FAE6-C47847EDC341}"/>
                  </a:ext>
                </a:extLst>
              </p:cNvPr>
              <p:cNvSpPr/>
              <p:nvPr/>
            </p:nvSpPr>
            <p:spPr>
              <a:xfrm>
                <a:off x="4405985" y="3607379"/>
                <a:ext cx="2706200" cy="517923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MPSO</a:t>
                </a:r>
                <a:endParaRPr lang="zh-CN" altLang="en-US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7" name="连接符: 肘形 16">
                <a:extLst>
                  <a:ext uri="{FF2B5EF4-FFF2-40B4-BE49-F238E27FC236}">
                    <a16:creationId xmlns:a16="http://schemas.microsoft.com/office/drawing/2014/main" id="{31AA4DD2-06EF-1E95-06FB-8CF2BB2A8C4F}"/>
                  </a:ext>
                </a:extLst>
              </p:cNvPr>
              <p:cNvCxnSpPr>
                <a:cxnSpLocks/>
                <a:stCxn id="8" idx="2"/>
                <a:endCxn id="16" idx="1"/>
              </p:cNvCxnSpPr>
              <p:nvPr/>
            </p:nvCxnSpPr>
            <p:spPr>
              <a:xfrm rot="16200000" flipH="1">
                <a:off x="3586694" y="3047051"/>
                <a:ext cx="422544" cy="1216037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连接符: 肘形 17">
                <a:extLst>
                  <a:ext uri="{FF2B5EF4-FFF2-40B4-BE49-F238E27FC236}">
                    <a16:creationId xmlns:a16="http://schemas.microsoft.com/office/drawing/2014/main" id="{BD3823B1-98CD-4F36-FF4A-E9727B031E97}"/>
                  </a:ext>
                </a:extLst>
              </p:cNvPr>
              <p:cNvCxnSpPr>
                <a:cxnSpLocks/>
                <a:stCxn id="12" idx="2"/>
                <a:endCxn id="16" idx="3"/>
              </p:cNvCxnSpPr>
              <p:nvPr/>
            </p:nvCxnSpPr>
            <p:spPr>
              <a:xfrm rot="5400000">
                <a:off x="7539295" y="3023625"/>
                <a:ext cx="415607" cy="1269828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直接箭头连接符 18">
                <a:extLst>
                  <a:ext uri="{FF2B5EF4-FFF2-40B4-BE49-F238E27FC236}">
                    <a16:creationId xmlns:a16="http://schemas.microsoft.com/office/drawing/2014/main" id="{13A447DA-FBF0-DB26-5CCF-41D91B89B7EF}"/>
                  </a:ext>
                </a:extLst>
              </p:cNvPr>
              <p:cNvCxnSpPr>
                <a:cxnSpLocks/>
                <a:endCxn id="16" idx="0"/>
              </p:cNvCxnSpPr>
              <p:nvPr/>
            </p:nvCxnSpPr>
            <p:spPr>
              <a:xfrm>
                <a:off x="5755300" y="3399071"/>
                <a:ext cx="3786" cy="20830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接箭头连接符 19">
                <a:extLst>
                  <a:ext uri="{FF2B5EF4-FFF2-40B4-BE49-F238E27FC236}">
                    <a16:creationId xmlns:a16="http://schemas.microsoft.com/office/drawing/2014/main" id="{5F8AF838-B942-2028-7187-CB504C9B2C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55299" y="4125302"/>
                <a:ext cx="0" cy="248394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" name="文本框 20">
                    <a:extLst>
                      <a:ext uri="{FF2B5EF4-FFF2-40B4-BE49-F238E27FC236}">
                        <a16:creationId xmlns:a16="http://schemas.microsoft.com/office/drawing/2014/main" id="{6E1E6780-2C79-D251-099A-A8DEE998511B}"/>
                      </a:ext>
                    </a:extLst>
                  </p:cNvPr>
                  <p:cNvSpPr txBox="1"/>
                  <p:nvPr/>
                </p:nvSpPr>
                <p:spPr>
                  <a:xfrm>
                    <a:off x="5117359" y="4331774"/>
                    <a:ext cx="2149781" cy="46435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𝒇</m:t>
                          </m:r>
                          <m:r>
                            <a:rPr lang="en-US" altLang="zh-CN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altLang="zh-CN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)</m:t>
                          </m:r>
                        </m:oMath>
                      </m:oMathPara>
                    </a14:m>
                    <a:endParaRPr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>
              <p:sp>
                <p:nvSpPr>
                  <p:cNvPr id="21" name="文本框 20">
                    <a:extLst>
                      <a:ext uri="{FF2B5EF4-FFF2-40B4-BE49-F238E27FC236}">
                        <a16:creationId xmlns:a16="http://schemas.microsoft.com/office/drawing/2014/main" id="{6E1E6780-2C79-D251-099A-A8DEE99851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17359" y="4331774"/>
                    <a:ext cx="2149781" cy="464354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5164" t="-2222" r="-5634" b="-3777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文本框 21">
                    <a:extLst>
                      <a:ext uri="{FF2B5EF4-FFF2-40B4-BE49-F238E27FC236}">
                        <a16:creationId xmlns:a16="http://schemas.microsoft.com/office/drawing/2014/main" id="{D5D9BBC6-BBA2-A37E-F648-13896F62FF88}"/>
                      </a:ext>
                    </a:extLst>
                  </p:cNvPr>
                  <p:cNvSpPr txBox="1"/>
                  <p:nvPr/>
                </p:nvSpPr>
                <p:spPr>
                  <a:xfrm>
                    <a:off x="2887452" y="4821358"/>
                    <a:ext cx="6097835" cy="54284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>
                      <a:lnSpc>
                        <a:spcPct val="105000"/>
                      </a:lnSpc>
                    </a:pPr>
                    <a14:m>
                      <m:oMath xmlns:m="http://schemas.openxmlformats.org/officeDocument/2006/math">
                        <m:r>
                          <a:rPr lang="en-US" altLang="zh-CN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𝒇</m:t>
                        </m:r>
                      </m:oMath>
                    </a14:m>
                    <a:r>
                      <a: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可以是</a:t>
                    </a:r>
                    <a:r>
                      <a:rPr lang="zh-CN" altLang="en-US" b="1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任意</a:t>
                    </a:r>
                    <a:r>
                      <a: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集合公式</a:t>
                    </a:r>
                    <a:endParaRPr lang="en-US" altLang="zh-CN"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>
              <p:sp>
                <p:nvSpPr>
                  <p:cNvPr id="22" name="文本框 21">
                    <a:extLst>
                      <a:ext uri="{FF2B5EF4-FFF2-40B4-BE49-F238E27FC236}">
                        <a16:creationId xmlns:a16="http://schemas.microsoft.com/office/drawing/2014/main" id="{D5D9BBC6-BBA2-A37E-F648-13896F62FF8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87452" y="4821358"/>
                    <a:ext cx="6097835" cy="542844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t="-11111" b="-3888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3145768" name="图片 3145767">
              <a:extLst>
                <a:ext uri="{FF2B5EF4-FFF2-40B4-BE49-F238E27FC236}">
                  <a16:creationId xmlns:a16="http://schemas.microsoft.com/office/drawing/2014/main" id="{9284A41A-51BC-BDA5-DC6C-37BED5D5C1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02337" y="1532325"/>
              <a:ext cx="662590" cy="662590"/>
            </a:xfrm>
            <a:prstGeom prst="rect">
              <a:avLst/>
            </a:prstGeom>
          </p:spPr>
        </p:pic>
        <p:pic>
          <p:nvPicPr>
            <p:cNvPr id="3145769" name="图片 3145768">
              <a:extLst>
                <a:ext uri="{FF2B5EF4-FFF2-40B4-BE49-F238E27FC236}">
                  <a16:creationId xmlns:a16="http://schemas.microsoft.com/office/drawing/2014/main" id="{F93515AB-EE28-3A89-761E-49771EB031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37466" y="1546829"/>
              <a:ext cx="660134" cy="660134"/>
            </a:xfrm>
            <a:prstGeom prst="rect">
              <a:avLst/>
            </a:prstGeom>
          </p:spPr>
        </p:pic>
        <p:pic>
          <p:nvPicPr>
            <p:cNvPr id="3145773" name="图片 3145772">
              <a:extLst>
                <a:ext uri="{FF2B5EF4-FFF2-40B4-BE49-F238E27FC236}">
                  <a16:creationId xmlns:a16="http://schemas.microsoft.com/office/drawing/2014/main" id="{7A96CA40-E567-6FA8-3BC0-3F59B46F6A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14467" y="1548835"/>
              <a:ext cx="660134" cy="660134"/>
            </a:xfrm>
            <a:prstGeom prst="rect">
              <a:avLst/>
            </a:prstGeom>
          </p:spPr>
        </p:pic>
        <p:pic>
          <p:nvPicPr>
            <p:cNvPr id="3145775" name="图片 3145774">
              <a:extLst>
                <a:ext uri="{FF2B5EF4-FFF2-40B4-BE49-F238E27FC236}">
                  <a16:creationId xmlns:a16="http://schemas.microsoft.com/office/drawing/2014/main" id="{03E7B76A-8E7D-E94C-3406-9F84753307E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73458" y="3632695"/>
              <a:ext cx="926774" cy="499643"/>
            </a:xfrm>
            <a:prstGeom prst="rect">
              <a:avLst/>
            </a:prstGeom>
          </p:spPr>
        </p:pic>
        <p:pic>
          <p:nvPicPr>
            <p:cNvPr id="3145777" name="图片 3145776">
              <a:extLst>
                <a:ext uri="{FF2B5EF4-FFF2-40B4-BE49-F238E27FC236}">
                  <a16:creationId xmlns:a16="http://schemas.microsoft.com/office/drawing/2014/main" id="{E3E2DE84-CBF0-38FA-DC5D-7D71E47BC968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19309" y="3635276"/>
              <a:ext cx="926774" cy="501467"/>
            </a:xfrm>
            <a:prstGeom prst="rect">
              <a:avLst/>
            </a:prstGeom>
          </p:spPr>
        </p:pic>
        <p:pic>
          <p:nvPicPr>
            <p:cNvPr id="3145779" name="图片 3145778">
              <a:extLst>
                <a:ext uri="{FF2B5EF4-FFF2-40B4-BE49-F238E27FC236}">
                  <a16:creationId xmlns:a16="http://schemas.microsoft.com/office/drawing/2014/main" id="{B5A2E97F-BDDE-0D0F-A2B4-D69C4A502E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83333" y="3634163"/>
              <a:ext cx="924853" cy="498175"/>
            </a:xfrm>
            <a:prstGeom prst="rect">
              <a:avLst/>
            </a:prstGeom>
          </p:spPr>
        </p:pic>
        <p:pic>
          <p:nvPicPr>
            <p:cNvPr id="3145781" name="图片 3145780">
              <a:extLst>
                <a:ext uri="{FF2B5EF4-FFF2-40B4-BE49-F238E27FC236}">
                  <a16:creationId xmlns:a16="http://schemas.microsoft.com/office/drawing/2014/main" id="{73F12B06-02EC-E618-CEC3-E535C52D2628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45436" y="3629142"/>
              <a:ext cx="920392" cy="498176"/>
            </a:xfrm>
            <a:prstGeom prst="rect">
              <a:avLst/>
            </a:prstGeom>
          </p:spPr>
        </p:pic>
        <p:pic>
          <p:nvPicPr>
            <p:cNvPr id="3145783" name="图片 3145782">
              <a:extLst>
                <a:ext uri="{FF2B5EF4-FFF2-40B4-BE49-F238E27FC236}">
                  <a16:creationId xmlns:a16="http://schemas.microsoft.com/office/drawing/2014/main" id="{EDCE9A1A-FB08-448F-8971-D9BB27DBB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285239" y="3614434"/>
              <a:ext cx="926774" cy="4992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714319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A7AC6-C7CC-C489-CCEE-A040FABB8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4">
            <a:extLst>
              <a:ext uri="{FF2B5EF4-FFF2-40B4-BE49-F238E27FC236}">
                <a16:creationId xmlns:a16="http://schemas.microsoft.com/office/drawing/2014/main" id="{EFD78AE0-B2A7-4BC1-303E-1E2FB3F1E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29" y="144205"/>
            <a:ext cx="9144000" cy="623628"/>
          </a:xfrm>
        </p:spPr>
        <p:txBody>
          <a:bodyPr>
            <a:normAutofit/>
          </a:bodyPr>
          <a:lstStyle/>
          <a:p>
            <a:pPr eaLnBrk="0" fontAlgn="base" hangingPunct="0">
              <a:spcAft>
                <a:spcPct val="0"/>
              </a:spcAft>
              <a:buClr>
                <a:srgbClr val="002060"/>
              </a:buClr>
              <a:defRPr/>
            </a:pPr>
            <a:r>
              <a:rPr kumimoji="1" lang="zh-CN" altLang="en-US" sz="3600" b="1" dirty="0">
                <a:solidFill>
                  <a:srgbClr val="8F0F16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典型功能及其应用场景</a:t>
            </a:r>
          </a:p>
        </p:txBody>
      </p:sp>
      <p:cxnSp>
        <p:nvCxnSpPr>
          <p:cNvPr id="2" name="Straight Connector 18">
            <a:extLst>
              <a:ext uri="{FF2B5EF4-FFF2-40B4-BE49-F238E27FC236}">
                <a16:creationId xmlns:a16="http://schemas.microsoft.com/office/drawing/2014/main" id="{129C8014-C567-C390-5E05-FC060BDA426A}"/>
              </a:ext>
            </a:extLst>
          </p:cNvPr>
          <p:cNvCxnSpPr>
            <a:cxnSpLocks/>
          </p:cNvCxnSpPr>
          <p:nvPr/>
        </p:nvCxnSpPr>
        <p:spPr>
          <a:xfrm flipV="1">
            <a:off x="0" y="699703"/>
            <a:ext cx="12192000" cy="42632"/>
          </a:xfrm>
          <a:prstGeom prst="line">
            <a:avLst/>
          </a:prstGeom>
          <a:ln w="38100">
            <a:solidFill>
              <a:srgbClr val="8F0F1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圆角矩形 1">
            <a:extLst>
              <a:ext uri="{FF2B5EF4-FFF2-40B4-BE49-F238E27FC236}">
                <a16:creationId xmlns:a16="http://schemas.microsoft.com/office/drawing/2014/main" id="{FC5462D7-5880-BEA0-0BE5-F19F565FB484}"/>
              </a:ext>
            </a:extLst>
          </p:cNvPr>
          <p:cNvSpPr/>
          <p:nvPr/>
        </p:nvSpPr>
        <p:spPr>
          <a:xfrm>
            <a:off x="1437367" y="1084821"/>
            <a:ext cx="10594460" cy="664310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                             允许多个参与方在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不泄露输入集合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的前提下联合计算交集</a:t>
            </a:r>
          </a:p>
        </p:txBody>
      </p:sp>
      <p:sp>
        <p:nvSpPr>
          <p:cNvPr id="54" name="矩形: 圆角 27">
            <a:extLst>
              <a:ext uri="{FF2B5EF4-FFF2-40B4-BE49-F238E27FC236}">
                <a16:creationId xmlns:a16="http://schemas.microsoft.com/office/drawing/2014/main" id="{F33882C3-DF61-DAEE-9CA3-1D68A4D3E829}"/>
              </a:ext>
            </a:extLst>
          </p:cNvPr>
          <p:cNvSpPr/>
          <p:nvPr/>
        </p:nvSpPr>
        <p:spPr>
          <a:xfrm>
            <a:off x="613379" y="1077446"/>
            <a:ext cx="3179682" cy="666000"/>
          </a:xfrm>
          <a:prstGeom prst="roundRect">
            <a:avLst>
              <a:gd name="adj" fmla="val 8538"/>
            </a:avLst>
          </a:prstGeom>
          <a:solidFill>
            <a:srgbClr val="8F0F16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CN">
                <a:solidFill>
                  <a:schemeClr val="dk1"/>
                </a:solidFill>
              </a:defRPr>
            </a:defPPr>
            <a:lvl1pPr marL="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1218565">
              <a:lnSpc>
                <a:spcPct val="114000"/>
              </a:lnSpc>
              <a:spcBef>
                <a:spcPct val="0"/>
              </a:spcBef>
            </a:pPr>
            <a:r>
              <a:rPr lang="zh-CN" altLang="en-US" sz="2800" b="1" kern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多方隐私集合求交</a:t>
            </a:r>
            <a:endParaRPr lang="en-US" altLang="zh-CN" sz="2800" b="1" kern="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9" name="组合 58">
            <a:extLst>
              <a:ext uri="{FF2B5EF4-FFF2-40B4-BE49-F238E27FC236}">
                <a16:creationId xmlns:a16="http://schemas.microsoft.com/office/drawing/2014/main" id="{2A2F88A4-680E-5F29-89FF-6F4549AB02DE}"/>
              </a:ext>
            </a:extLst>
          </p:cNvPr>
          <p:cNvGrpSpPr>
            <a:grpSpLocks noChangeAspect="1"/>
          </p:cNvGrpSpPr>
          <p:nvPr/>
        </p:nvGrpSpPr>
        <p:grpSpPr>
          <a:xfrm>
            <a:off x="545710" y="1824020"/>
            <a:ext cx="5397890" cy="4029907"/>
            <a:chOff x="7902337" y="1532325"/>
            <a:chExt cx="3772264" cy="2816262"/>
          </a:xfrm>
        </p:grpSpPr>
        <p:grpSp>
          <p:nvGrpSpPr>
            <p:cNvPr id="60" name="组合 59">
              <a:extLst>
                <a:ext uri="{FF2B5EF4-FFF2-40B4-BE49-F238E27FC236}">
                  <a16:creationId xmlns:a16="http://schemas.microsoft.com/office/drawing/2014/main" id="{48EB24D9-4E01-22AB-FBBA-CDABD2F643F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134913" y="1605032"/>
              <a:ext cx="3286990" cy="1607195"/>
              <a:chOff x="3046059" y="2101518"/>
              <a:chExt cx="5454575" cy="2694264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9" name="文本框 68">
                    <a:extLst>
                      <a:ext uri="{FF2B5EF4-FFF2-40B4-BE49-F238E27FC236}">
                        <a16:creationId xmlns:a16="http://schemas.microsoft.com/office/drawing/2014/main" id="{406B83A1-8897-49D9-4554-4E01181AF257}"/>
                      </a:ext>
                    </a:extLst>
                  </p:cNvPr>
                  <p:cNvSpPr txBox="1"/>
                  <p:nvPr/>
                </p:nvSpPr>
                <p:spPr>
                  <a:xfrm>
                    <a:off x="3046059" y="2979443"/>
                    <a:ext cx="287777" cy="46435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>
              <p:sp>
                <p:nvSpPr>
                  <p:cNvPr id="69" name="文本框 68">
                    <a:extLst>
                      <a:ext uri="{FF2B5EF4-FFF2-40B4-BE49-F238E27FC236}">
                        <a16:creationId xmlns:a16="http://schemas.microsoft.com/office/drawing/2014/main" id="{406B83A1-8897-49D9-4554-4E01181AF25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46059" y="2979443"/>
                    <a:ext cx="287777" cy="4643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9268" r="-1707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0" name="文本框 69">
                    <a:extLst>
                      <a:ext uri="{FF2B5EF4-FFF2-40B4-BE49-F238E27FC236}">
                        <a16:creationId xmlns:a16="http://schemas.microsoft.com/office/drawing/2014/main" id="{45AEFF0C-F4E1-7902-214E-AB445F771A70}"/>
                      </a:ext>
                    </a:extLst>
                  </p:cNvPr>
                  <p:cNvSpPr txBox="1"/>
                  <p:nvPr/>
                </p:nvSpPr>
                <p:spPr>
                  <a:xfrm>
                    <a:off x="5595728" y="2967598"/>
                    <a:ext cx="521804" cy="46435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>
              <p:sp>
                <p:nvSpPr>
                  <p:cNvPr id="70" name="文本框 69">
                    <a:extLst>
                      <a:ext uri="{FF2B5EF4-FFF2-40B4-BE49-F238E27FC236}">
                        <a16:creationId xmlns:a16="http://schemas.microsoft.com/office/drawing/2014/main" id="{45AEFF0C-F4E1-7902-214E-AB445F771A7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95728" y="2967598"/>
                    <a:ext cx="521804" cy="4643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1" name="文本框 70">
                    <a:extLst>
                      <a:ext uri="{FF2B5EF4-FFF2-40B4-BE49-F238E27FC236}">
                        <a16:creationId xmlns:a16="http://schemas.microsoft.com/office/drawing/2014/main" id="{5C63776A-5265-569D-AB3A-4E99F0BB8B4A}"/>
                      </a:ext>
                    </a:extLst>
                  </p:cNvPr>
                  <p:cNvSpPr txBox="1"/>
                  <p:nvPr/>
                </p:nvSpPr>
                <p:spPr>
                  <a:xfrm>
                    <a:off x="8263388" y="2986380"/>
                    <a:ext cx="237246" cy="46435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>
              <p:sp>
                <p:nvSpPr>
                  <p:cNvPr id="71" name="文本框 70">
                    <a:extLst>
                      <a:ext uri="{FF2B5EF4-FFF2-40B4-BE49-F238E27FC236}">
                        <a16:creationId xmlns:a16="http://schemas.microsoft.com/office/drawing/2014/main" id="{5C63776A-5265-569D-AB3A-4E99F0BB8B4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263388" y="2986380"/>
                    <a:ext cx="237246" cy="46435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38235" r="-4117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72" name="图片 71">
                <a:extLst>
                  <a:ext uri="{FF2B5EF4-FFF2-40B4-BE49-F238E27FC236}">
                    <a16:creationId xmlns:a16="http://schemas.microsoft.com/office/drawing/2014/main" id="{DD97253A-7564-B0EF-5720-5102FB5F804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745020" y="2101518"/>
                <a:ext cx="687987" cy="631181"/>
              </a:xfrm>
              <a:prstGeom prst="rect">
                <a:avLst/>
              </a:prstGeom>
            </p:spPr>
          </p:pic>
          <p:cxnSp>
            <p:nvCxnSpPr>
              <p:cNvPr id="73" name="直接连接符 72">
                <a:extLst>
                  <a:ext uri="{FF2B5EF4-FFF2-40B4-BE49-F238E27FC236}">
                    <a16:creationId xmlns:a16="http://schemas.microsoft.com/office/drawing/2014/main" id="{8283BBED-FFDB-9BEB-B54A-53AD293FA642}"/>
                  </a:ext>
                </a:extLst>
              </p:cNvPr>
              <p:cNvCxnSpPr>
                <a:cxnSpLocks/>
                <a:stCxn id="72" idx="1"/>
              </p:cNvCxnSpPr>
              <p:nvPr/>
            </p:nvCxnSpPr>
            <p:spPr>
              <a:xfrm flipH="1">
                <a:off x="6137664" y="2417109"/>
                <a:ext cx="607356" cy="401324"/>
              </a:xfrm>
              <a:prstGeom prst="line">
                <a:avLst/>
              </a:prstGeom>
              <a:ln w="1270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74" name="直接箭头连接符 73">
                <a:extLst>
                  <a:ext uri="{FF2B5EF4-FFF2-40B4-BE49-F238E27FC236}">
                    <a16:creationId xmlns:a16="http://schemas.microsoft.com/office/drawing/2014/main" id="{52FD3531-D2D6-D082-711F-9D53958D09E4}"/>
                  </a:ext>
                </a:extLst>
              </p:cNvPr>
              <p:cNvCxnSpPr>
                <a:cxnSpLocks/>
                <a:stCxn id="72" idx="3"/>
              </p:cNvCxnSpPr>
              <p:nvPr/>
            </p:nvCxnSpPr>
            <p:spPr>
              <a:xfrm>
                <a:off x="7433007" y="2417109"/>
                <a:ext cx="539780" cy="361738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8D5CC418-D525-57EF-F7FE-C93D7547ECA5}"/>
                  </a:ext>
                </a:extLst>
              </p:cNvPr>
              <p:cNvSpPr/>
              <p:nvPr/>
            </p:nvSpPr>
            <p:spPr>
              <a:xfrm>
                <a:off x="4405985" y="3607379"/>
                <a:ext cx="2706200" cy="517923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MPSI</a:t>
                </a:r>
                <a:endParaRPr lang="zh-CN" altLang="en-US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76" name="连接符: 肘形 75">
                <a:extLst>
                  <a:ext uri="{FF2B5EF4-FFF2-40B4-BE49-F238E27FC236}">
                    <a16:creationId xmlns:a16="http://schemas.microsoft.com/office/drawing/2014/main" id="{1625BAF6-398E-B698-E7C5-596F05999EE4}"/>
                  </a:ext>
                </a:extLst>
              </p:cNvPr>
              <p:cNvCxnSpPr>
                <a:cxnSpLocks/>
                <a:stCxn id="69" idx="2"/>
                <a:endCxn id="75" idx="1"/>
              </p:cNvCxnSpPr>
              <p:nvPr/>
            </p:nvCxnSpPr>
            <p:spPr>
              <a:xfrm rot="16200000" flipH="1">
                <a:off x="3586694" y="3047051"/>
                <a:ext cx="422544" cy="1216037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连接符: 肘形 76">
                <a:extLst>
                  <a:ext uri="{FF2B5EF4-FFF2-40B4-BE49-F238E27FC236}">
                    <a16:creationId xmlns:a16="http://schemas.microsoft.com/office/drawing/2014/main" id="{DDDEA466-5D4B-8FDD-3E72-C12B46D5F76F}"/>
                  </a:ext>
                </a:extLst>
              </p:cNvPr>
              <p:cNvCxnSpPr>
                <a:cxnSpLocks/>
                <a:stCxn id="71" idx="2"/>
                <a:endCxn id="75" idx="3"/>
              </p:cNvCxnSpPr>
              <p:nvPr/>
            </p:nvCxnSpPr>
            <p:spPr>
              <a:xfrm rot="5400000">
                <a:off x="7539295" y="3023625"/>
                <a:ext cx="415607" cy="1269828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接箭头连接符 77">
                <a:extLst>
                  <a:ext uri="{FF2B5EF4-FFF2-40B4-BE49-F238E27FC236}">
                    <a16:creationId xmlns:a16="http://schemas.microsoft.com/office/drawing/2014/main" id="{64B94F52-4D47-61CA-E89B-DF44144E817E}"/>
                  </a:ext>
                </a:extLst>
              </p:cNvPr>
              <p:cNvCxnSpPr>
                <a:cxnSpLocks/>
                <a:endCxn id="75" idx="0"/>
              </p:cNvCxnSpPr>
              <p:nvPr/>
            </p:nvCxnSpPr>
            <p:spPr>
              <a:xfrm>
                <a:off x="5755300" y="3399071"/>
                <a:ext cx="3786" cy="20830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直接箭头连接符 78">
                <a:extLst>
                  <a:ext uri="{FF2B5EF4-FFF2-40B4-BE49-F238E27FC236}">
                    <a16:creationId xmlns:a16="http://schemas.microsoft.com/office/drawing/2014/main" id="{B53AA26B-FF86-8FDA-6C7A-BA32000612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55299" y="4125302"/>
                <a:ext cx="0" cy="248394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0" name="文本框 79">
                    <a:extLst>
                      <a:ext uri="{FF2B5EF4-FFF2-40B4-BE49-F238E27FC236}">
                        <a16:creationId xmlns:a16="http://schemas.microsoft.com/office/drawing/2014/main" id="{9221F518-4DE9-164A-63A3-44B1E5B4BA56}"/>
                      </a:ext>
                    </a:extLst>
                  </p:cNvPr>
                  <p:cNvSpPr txBox="1"/>
                  <p:nvPr/>
                </p:nvSpPr>
                <p:spPr>
                  <a:xfrm>
                    <a:off x="4754293" y="4331427"/>
                    <a:ext cx="2189681" cy="46435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∩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∩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>
              <p:sp>
                <p:nvSpPr>
                  <p:cNvPr id="80" name="文本框 79">
                    <a:extLst>
                      <a:ext uri="{FF2B5EF4-FFF2-40B4-BE49-F238E27FC236}">
                        <a16:creationId xmlns:a16="http://schemas.microsoft.com/office/drawing/2014/main" id="{9221F518-4DE9-164A-63A3-44B1E5B4BA5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54293" y="4331427"/>
                    <a:ext cx="2189681" cy="46435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61" name="图片 60">
              <a:extLst>
                <a:ext uri="{FF2B5EF4-FFF2-40B4-BE49-F238E27FC236}">
                  <a16:creationId xmlns:a16="http://schemas.microsoft.com/office/drawing/2014/main" id="{7F925AF0-F71A-8C25-6373-E9B1DAD4D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02337" y="1532325"/>
              <a:ext cx="662590" cy="662590"/>
            </a:xfrm>
            <a:prstGeom prst="rect">
              <a:avLst/>
            </a:prstGeom>
          </p:spPr>
        </p:pic>
        <p:pic>
          <p:nvPicPr>
            <p:cNvPr id="62" name="图片 61">
              <a:extLst>
                <a:ext uri="{FF2B5EF4-FFF2-40B4-BE49-F238E27FC236}">
                  <a16:creationId xmlns:a16="http://schemas.microsoft.com/office/drawing/2014/main" id="{A366741F-2BCE-08FF-6912-20D227EB5C8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37466" y="1546829"/>
              <a:ext cx="660134" cy="660134"/>
            </a:xfrm>
            <a:prstGeom prst="rect">
              <a:avLst/>
            </a:prstGeom>
          </p:spPr>
        </p:pic>
        <p:pic>
          <p:nvPicPr>
            <p:cNvPr id="63" name="图片 62">
              <a:extLst>
                <a:ext uri="{FF2B5EF4-FFF2-40B4-BE49-F238E27FC236}">
                  <a16:creationId xmlns:a16="http://schemas.microsoft.com/office/drawing/2014/main" id="{8B9314A0-86FF-320A-1E5B-F4D39D89B9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14467" y="1548835"/>
              <a:ext cx="660134" cy="660134"/>
            </a:xfrm>
            <a:prstGeom prst="rect">
              <a:avLst/>
            </a:prstGeom>
          </p:spPr>
        </p:pic>
        <p:pic>
          <p:nvPicPr>
            <p:cNvPr id="64" name="图片 63">
              <a:extLst>
                <a:ext uri="{FF2B5EF4-FFF2-40B4-BE49-F238E27FC236}">
                  <a16:creationId xmlns:a16="http://schemas.microsoft.com/office/drawing/2014/main" id="{E75EDF2D-D069-1A3D-04AD-781E161A27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30382" y="3230288"/>
              <a:ext cx="2074301" cy="1118299"/>
            </a:xfrm>
            <a:prstGeom prst="rect">
              <a:avLst/>
            </a:prstGeom>
          </p:spPr>
        </p:pic>
      </p:grp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2CB5F3C9-2BCB-7D80-7971-F4B107887225}"/>
              </a:ext>
            </a:extLst>
          </p:cNvPr>
          <p:cNvGrpSpPr/>
          <p:nvPr/>
        </p:nvGrpSpPr>
        <p:grpSpPr>
          <a:xfrm>
            <a:off x="36867" y="5853059"/>
            <a:ext cx="12096205" cy="1070373"/>
            <a:chOff x="-288152" y="899791"/>
            <a:chExt cx="8913628" cy="1070373"/>
          </a:xfrm>
        </p:grpSpPr>
        <p:sp>
          <p:nvSpPr>
            <p:cNvPr id="83" name="圆角矩形 1">
              <a:extLst>
                <a:ext uri="{FF2B5EF4-FFF2-40B4-BE49-F238E27FC236}">
                  <a16:creationId xmlns:a16="http://schemas.microsoft.com/office/drawing/2014/main" id="{A0370338-B305-0594-A369-E5FB8557E9BF}"/>
                </a:ext>
              </a:extLst>
            </p:cNvPr>
            <p:cNvSpPr/>
            <p:nvPr/>
          </p:nvSpPr>
          <p:spPr>
            <a:xfrm>
              <a:off x="-120678" y="1094918"/>
              <a:ext cx="8621867" cy="720000"/>
            </a:xfrm>
            <a:prstGeom prst="roundRect">
              <a:avLst>
                <a:gd name="adj" fmla="val 15752"/>
              </a:avLst>
            </a:prstGeom>
            <a:solidFill>
              <a:srgbClr val="8F0F16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30000"/>
                </a:lnSpc>
                <a:defRPr/>
              </a:pPr>
              <a:endParaRPr lang="zh-CN" altLang="en-US" sz="2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4" name="圆角矩形 1">
              <a:extLst>
                <a:ext uri="{FF2B5EF4-FFF2-40B4-BE49-F238E27FC236}">
                  <a16:creationId xmlns:a16="http://schemas.microsoft.com/office/drawing/2014/main" id="{609A5E71-7E53-D0D6-149B-8DD11007BEA2}"/>
                </a:ext>
              </a:extLst>
            </p:cNvPr>
            <p:cNvSpPr/>
            <p:nvPr/>
          </p:nvSpPr>
          <p:spPr>
            <a:xfrm>
              <a:off x="-288152" y="899791"/>
              <a:ext cx="8913628" cy="1070373"/>
            </a:xfrm>
            <a:prstGeom prst="roundRect">
              <a:avLst>
                <a:gd name="adj" fmla="val 4708"/>
              </a:avLst>
            </a:prstGeom>
            <a:no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  <a:defRPr/>
              </a:pPr>
              <a:r>
                <a:rPr lang="zh-CN" altLang="en-US" sz="2800" b="1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隐私保护下的位置信息共享 、公共联系人发现、</a:t>
              </a:r>
              <a:r>
                <a:rPr lang="en-US" altLang="zh-CN" sz="2800" b="1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DNA </a:t>
              </a:r>
              <a:r>
                <a:rPr lang="zh-CN" altLang="en-US" sz="2800" b="1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检测和模式匹配</a:t>
              </a:r>
              <a:endParaRPr kumimoji="1" lang="zh-CN" altLang="en-US" sz="2800" b="1" dirty="0">
                <a:solidFill>
                  <a:srgbClr val="FFFF00"/>
                </a:solidFill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338184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53B96-48C3-839A-A51B-08AE9A626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4">
            <a:extLst>
              <a:ext uri="{FF2B5EF4-FFF2-40B4-BE49-F238E27FC236}">
                <a16:creationId xmlns:a16="http://schemas.microsoft.com/office/drawing/2014/main" id="{ED8A5DD8-18A2-B565-2075-724EBDA26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29" y="144205"/>
            <a:ext cx="9144000" cy="623628"/>
          </a:xfrm>
        </p:spPr>
        <p:txBody>
          <a:bodyPr>
            <a:normAutofit/>
          </a:bodyPr>
          <a:lstStyle/>
          <a:p>
            <a:pPr eaLnBrk="0" fontAlgn="base" hangingPunct="0">
              <a:spcAft>
                <a:spcPct val="0"/>
              </a:spcAft>
              <a:buClr>
                <a:srgbClr val="002060"/>
              </a:buClr>
              <a:defRPr/>
            </a:pPr>
            <a:r>
              <a:rPr kumimoji="1" lang="zh-CN" altLang="en-US" sz="3600" b="1" dirty="0">
                <a:solidFill>
                  <a:srgbClr val="8F0F16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典型功能及其应用场景</a:t>
            </a:r>
          </a:p>
        </p:txBody>
      </p:sp>
      <p:cxnSp>
        <p:nvCxnSpPr>
          <p:cNvPr id="2" name="Straight Connector 18">
            <a:extLst>
              <a:ext uri="{FF2B5EF4-FFF2-40B4-BE49-F238E27FC236}">
                <a16:creationId xmlns:a16="http://schemas.microsoft.com/office/drawing/2014/main" id="{5167AE46-9F86-FFD9-E647-91D5D7624806}"/>
              </a:ext>
            </a:extLst>
          </p:cNvPr>
          <p:cNvCxnSpPr>
            <a:cxnSpLocks/>
          </p:cNvCxnSpPr>
          <p:nvPr/>
        </p:nvCxnSpPr>
        <p:spPr>
          <a:xfrm flipV="1">
            <a:off x="0" y="699703"/>
            <a:ext cx="12192000" cy="42632"/>
          </a:xfrm>
          <a:prstGeom prst="line">
            <a:avLst/>
          </a:prstGeom>
          <a:ln w="38100">
            <a:solidFill>
              <a:srgbClr val="8F0F1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圆角矩形 1">
            <a:extLst>
              <a:ext uri="{FF2B5EF4-FFF2-40B4-BE49-F238E27FC236}">
                <a16:creationId xmlns:a16="http://schemas.microsoft.com/office/drawing/2014/main" id="{76AF1FA4-E600-6D8C-00CA-C4D2A0764058}"/>
              </a:ext>
            </a:extLst>
          </p:cNvPr>
          <p:cNvSpPr/>
          <p:nvPr/>
        </p:nvSpPr>
        <p:spPr>
          <a:xfrm>
            <a:off x="1437367" y="1084821"/>
            <a:ext cx="10594460" cy="664310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                             允许多个参与方在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不泄露输入集合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的前提下联合计算并集</a:t>
            </a:r>
          </a:p>
        </p:txBody>
      </p:sp>
      <p:sp>
        <p:nvSpPr>
          <p:cNvPr id="54" name="矩形: 圆角 27">
            <a:extLst>
              <a:ext uri="{FF2B5EF4-FFF2-40B4-BE49-F238E27FC236}">
                <a16:creationId xmlns:a16="http://schemas.microsoft.com/office/drawing/2014/main" id="{94C5C2B9-8D3B-6FD5-CFAD-E58CD149C3EC}"/>
              </a:ext>
            </a:extLst>
          </p:cNvPr>
          <p:cNvSpPr/>
          <p:nvPr/>
        </p:nvSpPr>
        <p:spPr>
          <a:xfrm>
            <a:off x="613379" y="1077446"/>
            <a:ext cx="3179682" cy="666000"/>
          </a:xfrm>
          <a:prstGeom prst="roundRect">
            <a:avLst>
              <a:gd name="adj" fmla="val 8538"/>
            </a:avLst>
          </a:prstGeom>
          <a:solidFill>
            <a:srgbClr val="8F0F16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CN">
                <a:solidFill>
                  <a:schemeClr val="dk1"/>
                </a:solidFill>
              </a:defRPr>
            </a:defPPr>
            <a:lvl1pPr marL="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1218565">
              <a:lnSpc>
                <a:spcPct val="114000"/>
              </a:lnSpc>
              <a:spcBef>
                <a:spcPct val="0"/>
              </a:spcBef>
            </a:pPr>
            <a:r>
              <a:rPr lang="zh-CN" altLang="en-US" sz="2800" b="1" kern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多方隐私集合求并</a:t>
            </a:r>
            <a:endParaRPr lang="en-US" altLang="zh-CN" sz="2800" b="1" kern="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1" name="图片 70">
            <a:extLst>
              <a:ext uri="{FF2B5EF4-FFF2-40B4-BE49-F238E27FC236}">
                <a16:creationId xmlns:a16="http://schemas.microsoft.com/office/drawing/2014/main" id="{584FEDD3-CB81-882A-49AF-70CE9F85090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4703" y="2132555"/>
            <a:ext cx="1865942" cy="1200067"/>
          </a:xfrm>
          <a:prstGeom prst="rect">
            <a:avLst/>
          </a:prstGeom>
        </p:spPr>
      </p:pic>
      <p:sp>
        <p:nvSpPr>
          <p:cNvPr id="72" name="矩形 71">
            <a:extLst>
              <a:ext uri="{FF2B5EF4-FFF2-40B4-BE49-F238E27FC236}">
                <a16:creationId xmlns:a16="http://schemas.microsoft.com/office/drawing/2014/main" id="{CE506EFE-81F9-2DE0-6AE7-ABA8C2A01748}"/>
              </a:ext>
            </a:extLst>
          </p:cNvPr>
          <p:cNvSpPr/>
          <p:nvPr/>
        </p:nvSpPr>
        <p:spPr>
          <a:xfrm flipH="1">
            <a:off x="6056697" y="1870675"/>
            <a:ext cx="935453" cy="390888"/>
          </a:xfrm>
          <a:prstGeom prst="rect">
            <a:avLst/>
          </a:prstGeom>
          <a:noFill/>
        </p:spPr>
        <p:txBody>
          <a:bodyPr wrap="square" lIns="77418" tIns="38709" rIns="77418" bIns="38709">
            <a:spAutoFit/>
          </a:bodyPr>
          <a:lstStyle/>
          <a:p>
            <a:pPr algn="ctr"/>
            <a:r>
              <a:rPr lang="zh-CN" altLang="en-US" sz="2032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银行</a:t>
            </a:r>
            <a:r>
              <a:rPr lang="en-US" altLang="zh-CN" sz="2032" b="1" dirty="0">
                <a:solidFill>
                  <a:prstClr val="black"/>
                </a:solidFill>
                <a:latin typeface="+mn-ea"/>
                <a:cs typeface="Times New Roman" panose="02020603050405020304" pitchFamily="18" charset="0"/>
              </a:rPr>
              <a:t>A</a:t>
            </a:r>
            <a:endParaRPr lang="zh-CN" altLang="en-US" sz="2032" b="1" dirty="0">
              <a:solidFill>
                <a:prstClr val="black"/>
              </a:solidFill>
              <a:latin typeface="+mn-ea"/>
              <a:cs typeface="Times New Roman" panose="02020603050405020304" pitchFamily="18" charset="0"/>
            </a:endParaRPr>
          </a:p>
        </p:txBody>
      </p:sp>
      <p:pic>
        <p:nvPicPr>
          <p:cNvPr id="77" name="图片 76">
            <a:extLst>
              <a:ext uri="{FF2B5EF4-FFF2-40B4-BE49-F238E27FC236}">
                <a16:creationId xmlns:a16="http://schemas.microsoft.com/office/drawing/2014/main" id="{9F962A98-A9F4-6ACC-77E4-CA90A264A43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0645" y="2139528"/>
            <a:ext cx="1865942" cy="1200067"/>
          </a:xfrm>
          <a:prstGeom prst="rect">
            <a:avLst/>
          </a:prstGeom>
        </p:spPr>
      </p:pic>
      <p:sp>
        <p:nvSpPr>
          <p:cNvPr id="78" name="矩形 77">
            <a:extLst>
              <a:ext uri="{FF2B5EF4-FFF2-40B4-BE49-F238E27FC236}">
                <a16:creationId xmlns:a16="http://schemas.microsoft.com/office/drawing/2014/main" id="{178EFA50-3624-EC29-5B8B-B43B46430EE3}"/>
              </a:ext>
            </a:extLst>
          </p:cNvPr>
          <p:cNvSpPr/>
          <p:nvPr/>
        </p:nvSpPr>
        <p:spPr>
          <a:xfrm flipH="1">
            <a:off x="7922639" y="1877648"/>
            <a:ext cx="935453" cy="390888"/>
          </a:xfrm>
          <a:prstGeom prst="rect">
            <a:avLst/>
          </a:prstGeom>
          <a:noFill/>
        </p:spPr>
        <p:txBody>
          <a:bodyPr wrap="square" lIns="77418" tIns="38709" rIns="77418" bIns="38709">
            <a:spAutoFit/>
          </a:bodyPr>
          <a:lstStyle/>
          <a:p>
            <a:pPr algn="ctr"/>
            <a:r>
              <a:rPr lang="zh-CN" altLang="en-US" sz="2032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银行</a:t>
            </a:r>
            <a:r>
              <a:rPr lang="en-US" altLang="zh-CN" sz="2032" b="1" dirty="0">
                <a:solidFill>
                  <a:prstClr val="black"/>
                </a:solidFill>
                <a:latin typeface="+mn-ea"/>
                <a:cs typeface="Times New Roman" panose="02020603050405020304" pitchFamily="18" charset="0"/>
              </a:rPr>
              <a:t>A</a:t>
            </a:r>
            <a:endParaRPr lang="zh-CN" altLang="en-US" sz="2032" b="1" dirty="0">
              <a:solidFill>
                <a:prstClr val="black"/>
              </a:solidFill>
              <a:latin typeface="+mn-ea"/>
              <a:cs typeface="Times New Roman" panose="02020603050405020304" pitchFamily="18" charset="0"/>
            </a:endParaRPr>
          </a:p>
        </p:txBody>
      </p:sp>
      <p:pic>
        <p:nvPicPr>
          <p:cNvPr id="79" name="图片 78">
            <a:extLst>
              <a:ext uri="{FF2B5EF4-FFF2-40B4-BE49-F238E27FC236}">
                <a16:creationId xmlns:a16="http://schemas.microsoft.com/office/drawing/2014/main" id="{F9A7B7E0-10C7-0700-9E1E-42B5BB72739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6587" y="2139528"/>
            <a:ext cx="1865942" cy="1200067"/>
          </a:xfrm>
          <a:prstGeom prst="rect">
            <a:avLst/>
          </a:prstGeom>
        </p:spPr>
      </p:pic>
      <p:sp>
        <p:nvSpPr>
          <p:cNvPr id="81" name="矩形 80">
            <a:extLst>
              <a:ext uri="{FF2B5EF4-FFF2-40B4-BE49-F238E27FC236}">
                <a16:creationId xmlns:a16="http://schemas.microsoft.com/office/drawing/2014/main" id="{E7157E04-9150-3AEC-25B7-ED8C8AC00629}"/>
              </a:ext>
            </a:extLst>
          </p:cNvPr>
          <p:cNvSpPr/>
          <p:nvPr/>
        </p:nvSpPr>
        <p:spPr>
          <a:xfrm flipH="1">
            <a:off x="9788581" y="1877648"/>
            <a:ext cx="935453" cy="390888"/>
          </a:xfrm>
          <a:prstGeom prst="rect">
            <a:avLst/>
          </a:prstGeom>
          <a:noFill/>
        </p:spPr>
        <p:txBody>
          <a:bodyPr wrap="square" lIns="77418" tIns="38709" rIns="77418" bIns="38709">
            <a:spAutoFit/>
          </a:bodyPr>
          <a:lstStyle/>
          <a:p>
            <a:pPr algn="ctr"/>
            <a:r>
              <a:rPr lang="zh-CN" altLang="en-US" sz="2032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银行</a:t>
            </a:r>
            <a:r>
              <a:rPr lang="en-US" altLang="zh-CN" sz="2032" b="1" dirty="0">
                <a:solidFill>
                  <a:prstClr val="black"/>
                </a:solidFill>
                <a:latin typeface="+mn-ea"/>
                <a:cs typeface="Times New Roman" panose="02020603050405020304" pitchFamily="18" charset="0"/>
              </a:rPr>
              <a:t>A</a:t>
            </a:r>
            <a:endParaRPr lang="zh-CN" altLang="en-US" sz="2032" b="1" dirty="0">
              <a:solidFill>
                <a:prstClr val="black"/>
              </a:solidFill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EDF35FB4-00C6-8F8F-4D94-0ADD64C98FC0}"/>
              </a:ext>
            </a:extLst>
          </p:cNvPr>
          <p:cNvSpPr/>
          <p:nvPr/>
        </p:nvSpPr>
        <p:spPr>
          <a:xfrm>
            <a:off x="7171285" y="3525379"/>
            <a:ext cx="2732476" cy="51767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MPSU</a:t>
            </a:r>
            <a:endParaRPr lang="zh-CN" altLang="en-US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3" name="连接符: 肘形 82">
            <a:extLst>
              <a:ext uri="{FF2B5EF4-FFF2-40B4-BE49-F238E27FC236}">
                <a16:creationId xmlns:a16="http://schemas.microsoft.com/office/drawing/2014/main" id="{0DF2C8BB-B72C-D600-F36E-A60681D27BAF}"/>
              </a:ext>
            </a:extLst>
          </p:cNvPr>
          <p:cNvCxnSpPr>
            <a:cxnSpLocks/>
            <a:endCxn id="82" idx="1"/>
          </p:cNvCxnSpPr>
          <p:nvPr/>
        </p:nvCxnSpPr>
        <p:spPr>
          <a:xfrm rot="16200000" flipH="1">
            <a:off x="6634738" y="3247667"/>
            <a:ext cx="347420" cy="725673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连接符: 肘形 83">
            <a:extLst>
              <a:ext uri="{FF2B5EF4-FFF2-40B4-BE49-F238E27FC236}">
                <a16:creationId xmlns:a16="http://schemas.microsoft.com/office/drawing/2014/main" id="{3D780CF4-60FE-AF2F-58F5-0E0B53498B47}"/>
              </a:ext>
            </a:extLst>
          </p:cNvPr>
          <p:cNvCxnSpPr>
            <a:cxnSpLocks/>
            <a:endCxn id="82" idx="3"/>
          </p:cNvCxnSpPr>
          <p:nvPr/>
        </p:nvCxnSpPr>
        <p:spPr>
          <a:xfrm rot="5400000">
            <a:off x="10015624" y="3255600"/>
            <a:ext cx="416751" cy="640476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C798BF14-9D8E-5982-1950-996C9856F203}"/>
              </a:ext>
            </a:extLst>
          </p:cNvPr>
          <p:cNvCxnSpPr>
            <a:cxnSpLocks/>
          </p:cNvCxnSpPr>
          <p:nvPr/>
        </p:nvCxnSpPr>
        <p:spPr>
          <a:xfrm>
            <a:off x="8472076" y="3324078"/>
            <a:ext cx="3823" cy="20820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AF3B27CA-FF90-EC0F-BBC3-A3605B9B6D12}"/>
              </a:ext>
            </a:extLst>
          </p:cNvPr>
          <p:cNvCxnSpPr>
            <a:cxnSpLocks/>
          </p:cNvCxnSpPr>
          <p:nvPr/>
        </p:nvCxnSpPr>
        <p:spPr>
          <a:xfrm>
            <a:off x="8472075" y="4049954"/>
            <a:ext cx="0" cy="2482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 90">
            <a:extLst>
              <a:ext uri="{FF2B5EF4-FFF2-40B4-BE49-F238E27FC236}">
                <a16:creationId xmlns:a16="http://schemas.microsoft.com/office/drawing/2014/main" id="{A56D7719-5494-58F9-8338-981692FA466A}"/>
              </a:ext>
            </a:extLst>
          </p:cNvPr>
          <p:cNvSpPr/>
          <p:nvPr/>
        </p:nvSpPr>
        <p:spPr>
          <a:xfrm flipH="1">
            <a:off x="7668212" y="5258338"/>
            <a:ext cx="1607726" cy="390888"/>
          </a:xfrm>
          <a:prstGeom prst="rect">
            <a:avLst/>
          </a:prstGeom>
          <a:noFill/>
        </p:spPr>
        <p:txBody>
          <a:bodyPr wrap="square" lIns="77418" tIns="38709" rIns="77418" bIns="38709">
            <a:spAutoFit/>
          </a:bodyPr>
          <a:lstStyle/>
          <a:p>
            <a:pPr algn="ctr"/>
            <a:r>
              <a:rPr lang="zh-CN" altLang="en-US" sz="2032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联合黑名单</a:t>
            </a:r>
            <a:endParaRPr lang="zh-CN" altLang="en-US" sz="2032" b="1" dirty="0">
              <a:solidFill>
                <a:prstClr val="black"/>
              </a:solidFill>
              <a:latin typeface="+mn-ea"/>
              <a:cs typeface="Times New Roman" panose="02020603050405020304" pitchFamily="18" charset="0"/>
            </a:endParaRPr>
          </a:p>
        </p:txBody>
      </p: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F55669F8-8D3B-0197-F6E3-21810BBDBEF1}"/>
              </a:ext>
            </a:extLst>
          </p:cNvPr>
          <p:cNvGrpSpPr>
            <a:grpSpLocks noChangeAspect="1"/>
          </p:cNvGrpSpPr>
          <p:nvPr/>
        </p:nvGrpSpPr>
        <p:grpSpPr>
          <a:xfrm>
            <a:off x="659428" y="1835526"/>
            <a:ext cx="5025094" cy="4055972"/>
            <a:chOff x="8129937" y="1502612"/>
            <a:chExt cx="3544664" cy="2861054"/>
          </a:xfrm>
        </p:grpSpPr>
        <p:grpSp>
          <p:nvGrpSpPr>
            <p:cNvPr id="95" name="组合 94">
              <a:extLst>
                <a:ext uri="{FF2B5EF4-FFF2-40B4-BE49-F238E27FC236}">
                  <a16:creationId xmlns:a16="http://schemas.microsoft.com/office/drawing/2014/main" id="{CECBD8ED-3365-3572-1560-51B94E8A37D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355150" y="1605032"/>
              <a:ext cx="3066751" cy="1535649"/>
              <a:chOff x="3411532" y="2101518"/>
              <a:chExt cx="5089102" cy="257432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6" name="文本框 105">
                    <a:extLst>
                      <a:ext uri="{FF2B5EF4-FFF2-40B4-BE49-F238E27FC236}">
                        <a16:creationId xmlns:a16="http://schemas.microsoft.com/office/drawing/2014/main" id="{3C0CA23C-4F15-44FD-C9A5-3A10A8D417D5}"/>
                      </a:ext>
                    </a:extLst>
                  </p:cNvPr>
                  <p:cNvSpPr txBox="1"/>
                  <p:nvPr/>
                </p:nvSpPr>
                <p:spPr>
                  <a:xfrm>
                    <a:off x="3411532" y="2910558"/>
                    <a:ext cx="287777" cy="46435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>
              <p:sp>
                <p:nvSpPr>
                  <p:cNvPr id="106" name="文本框 105">
                    <a:extLst>
                      <a:ext uri="{FF2B5EF4-FFF2-40B4-BE49-F238E27FC236}">
                        <a16:creationId xmlns:a16="http://schemas.microsoft.com/office/drawing/2014/main" id="{3C0CA23C-4F15-44FD-C9A5-3A10A8D417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1532" y="2910558"/>
                    <a:ext cx="287777" cy="4643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32500" r="-2000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9" name="文本框 108">
                    <a:extLst>
                      <a:ext uri="{FF2B5EF4-FFF2-40B4-BE49-F238E27FC236}">
                        <a16:creationId xmlns:a16="http://schemas.microsoft.com/office/drawing/2014/main" id="{A0CE4BCA-05C2-F8F1-3A17-7D220060A9EE}"/>
                      </a:ext>
                    </a:extLst>
                  </p:cNvPr>
                  <p:cNvSpPr txBox="1"/>
                  <p:nvPr/>
                </p:nvSpPr>
                <p:spPr>
                  <a:xfrm>
                    <a:off x="5595728" y="2967598"/>
                    <a:ext cx="521804" cy="46435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>
              <p:sp>
                <p:nvSpPr>
                  <p:cNvPr id="109" name="文本框 108">
                    <a:extLst>
                      <a:ext uri="{FF2B5EF4-FFF2-40B4-BE49-F238E27FC236}">
                        <a16:creationId xmlns:a16="http://schemas.microsoft.com/office/drawing/2014/main" id="{A0CE4BCA-05C2-F8F1-3A17-7D220060A9E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95728" y="2967598"/>
                    <a:ext cx="521804" cy="46435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0" name="文本框 109">
                    <a:extLst>
                      <a:ext uri="{FF2B5EF4-FFF2-40B4-BE49-F238E27FC236}">
                        <a16:creationId xmlns:a16="http://schemas.microsoft.com/office/drawing/2014/main" id="{33C56B86-33C8-CA66-59D3-EF89B22FECF5}"/>
                      </a:ext>
                    </a:extLst>
                  </p:cNvPr>
                  <p:cNvSpPr txBox="1"/>
                  <p:nvPr/>
                </p:nvSpPr>
                <p:spPr>
                  <a:xfrm>
                    <a:off x="8263388" y="2986380"/>
                    <a:ext cx="237246" cy="46435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>
              <p:sp>
                <p:nvSpPr>
                  <p:cNvPr id="110" name="文本框 109">
                    <a:extLst>
                      <a:ext uri="{FF2B5EF4-FFF2-40B4-BE49-F238E27FC236}">
                        <a16:creationId xmlns:a16="http://schemas.microsoft.com/office/drawing/2014/main" id="{33C56B86-33C8-CA66-59D3-EF89B22FECF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263388" y="2986380"/>
                    <a:ext cx="237246" cy="46435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38235" r="-4117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11" name="图片 110">
                <a:extLst>
                  <a:ext uri="{FF2B5EF4-FFF2-40B4-BE49-F238E27FC236}">
                    <a16:creationId xmlns:a16="http://schemas.microsoft.com/office/drawing/2014/main" id="{5941B35C-2584-9F04-0B79-DEBAC8843C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745020" y="2101518"/>
                <a:ext cx="687987" cy="631181"/>
              </a:xfrm>
              <a:prstGeom prst="rect">
                <a:avLst/>
              </a:prstGeom>
            </p:spPr>
          </p:pic>
          <p:cxnSp>
            <p:nvCxnSpPr>
              <p:cNvPr id="112" name="直接连接符 111">
                <a:extLst>
                  <a:ext uri="{FF2B5EF4-FFF2-40B4-BE49-F238E27FC236}">
                    <a16:creationId xmlns:a16="http://schemas.microsoft.com/office/drawing/2014/main" id="{1715D143-9F24-3460-56E2-2E8F8748B52E}"/>
                  </a:ext>
                </a:extLst>
              </p:cNvPr>
              <p:cNvCxnSpPr>
                <a:cxnSpLocks/>
                <a:stCxn id="111" idx="1"/>
              </p:cNvCxnSpPr>
              <p:nvPr/>
            </p:nvCxnSpPr>
            <p:spPr>
              <a:xfrm flipH="1">
                <a:off x="6137664" y="2417109"/>
                <a:ext cx="607356" cy="401324"/>
              </a:xfrm>
              <a:prstGeom prst="line">
                <a:avLst/>
              </a:prstGeom>
              <a:ln w="1270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113" name="直接箭头连接符 112">
                <a:extLst>
                  <a:ext uri="{FF2B5EF4-FFF2-40B4-BE49-F238E27FC236}">
                    <a16:creationId xmlns:a16="http://schemas.microsoft.com/office/drawing/2014/main" id="{EB63A97B-1DD9-EB35-29D0-C31BC9796982}"/>
                  </a:ext>
                </a:extLst>
              </p:cNvPr>
              <p:cNvCxnSpPr>
                <a:cxnSpLocks/>
                <a:stCxn id="111" idx="3"/>
              </p:cNvCxnSpPr>
              <p:nvPr/>
            </p:nvCxnSpPr>
            <p:spPr>
              <a:xfrm>
                <a:off x="7433007" y="2417109"/>
                <a:ext cx="539780" cy="361738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4" name="矩形 113">
                <a:extLst>
                  <a:ext uri="{FF2B5EF4-FFF2-40B4-BE49-F238E27FC236}">
                    <a16:creationId xmlns:a16="http://schemas.microsoft.com/office/drawing/2014/main" id="{E3744EE0-5B6C-F298-70AD-5B6961D33524}"/>
                  </a:ext>
                </a:extLst>
              </p:cNvPr>
              <p:cNvSpPr/>
              <p:nvPr/>
            </p:nvSpPr>
            <p:spPr>
              <a:xfrm>
                <a:off x="4405985" y="3607379"/>
                <a:ext cx="2706200" cy="517923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MPSU</a:t>
                </a:r>
                <a:endParaRPr lang="zh-CN" altLang="en-US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15" name="连接符: 肘形 114">
                <a:extLst>
                  <a:ext uri="{FF2B5EF4-FFF2-40B4-BE49-F238E27FC236}">
                    <a16:creationId xmlns:a16="http://schemas.microsoft.com/office/drawing/2014/main" id="{CA89E994-254E-EE21-3A8A-32A05DA3D923}"/>
                  </a:ext>
                </a:extLst>
              </p:cNvPr>
              <p:cNvCxnSpPr>
                <a:cxnSpLocks/>
                <a:stCxn id="106" idx="2"/>
                <a:endCxn id="114" idx="1"/>
              </p:cNvCxnSpPr>
              <p:nvPr/>
            </p:nvCxnSpPr>
            <p:spPr>
              <a:xfrm rot="16200000" flipH="1">
                <a:off x="3734988" y="3195343"/>
                <a:ext cx="491429" cy="850565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连接符: 肘形 116">
                <a:extLst>
                  <a:ext uri="{FF2B5EF4-FFF2-40B4-BE49-F238E27FC236}">
                    <a16:creationId xmlns:a16="http://schemas.microsoft.com/office/drawing/2014/main" id="{6812329D-AAD8-6DB3-2F10-12720AE8A985}"/>
                  </a:ext>
                </a:extLst>
              </p:cNvPr>
              <p:cNvCxnSpPr>
                <a:cxnSpLocks noChangeAspect="1"/>
                <a:stCxn id="110" idx="2"/>
                <a:endCxn id="114" idx="3"/>
              </p:cNvCxnSpPr>
              <p:nvPr/>
            </p:nvCxnSpPr>
            <p:spPr>
              <a:xfrm rot="5400000">
                <a:off x="7539295" y="3023625"/>
                <a:ext cx="415607" cy="1269828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直接箭头连接符 117">
                <a:extLst>
                  <a:ext uri="{FF2B5EF4-FFF2-40B4-BE49-F238E27FC236}">
                    <a16:creationId xmlns:a16="http://schemas.microsoft.com/office/drawing/2014/main" id="{F5AF26DE-A87A-9F4E-B9BF-67AE6A0CD92A}"/>
                  </a:ext>
                </a:extLst>
              </p:cNvPr>
              <p:cNvCxnSpPr>
                <a:cxnSpLocks/>
                <a:endCxn id="114" idx="0"/>
              </p:cNvCxnSpPr>
              <p:nvPr/>
            </p:nvCxnSpPr>
            <p:spPr>
              <a:xfrm>
                <a:off x="5755300" y="3399071"/>
                <a:ext cx="3786" cy="20830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直接箭头连接符 118">
                <a:extLst>
                  <a:ext uri="{FF2B5EF4-FFF2-40B4-BE49-F238E27FC236}">
                    <a16:creationId xmlns:a16="http://schemas.microsoft.com/office/drawing/2014/main" id="{347D6B13-501F-7DBE-643B-521B9AEF0D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55299" y="4125302"/>
                <a:ext cx="0" cy="248394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0" name="文本框 119">
                    <a:extLst>
                      <a:ext uri="{FF2B5EF4-FFF2-40B4-BE49-F238E27FC236}">
                        <a16:creationId xmlns:a16="http://schemas.microsoft.com/office/drawing/2014/main" id="{71DC1CC4-3069-3F28-6D00-B52C4421AE14}"/>
                      </a:ext>
                    </a:extLst>
                  </p:cNvPr>
                  <p:cNvSpPr txBox="1"/>
                  <p:nvPr/>
                </p:nvSpPr>
                <p:spPr>
                  <a:xfrm>
                    <a:off x="4896737" y="4331775"/>
                    <a:ext cx="1944156" cy="34406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∪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∪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>
              <p:sp>
                <p:nvSpPr>
                  <p:cNvPr id="120" name="文本框 119">
                    <a:extLst>
                      <a:ext uri="{FF2B5EF4-FFF2-40B4-BE49-F238E27FC236}">
                        <a16:creationId xmlns:a16="http://schemas.microsoft.com/office/drawing/2014/main" id="{71DC1CC4-3069-3F28-6D00-B52C4421AE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96737" y="4331775"/>
                    <a:ext cx="1944156" cy="34406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041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96" name="图片 95">
              <a:extLst>
                <a:ext uri="{FF2B5EF4-FFF2-40B4-BE49-F238E27FC236}">
                  <a16:creationId xmlns:a16="http://schemas.microsoft.com/office/drawing/2014/main" id="{A1B39380-56DF-B7E7-2519-09DF1E374FB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29937" y="1502612"/>
              <a:ext cx="662590" cy="662590"/>
            </a:xfrm>
            <a:prstGeom prst="rect">
              <a:avLst/>
            </a:prstGeom>
          </p:spPr>
        </p:pic>
        <p:pic>
          <p:nvPicPr>
            <p:cNvPr id="97" name="图片 96">
              <a:extLst>
                <a:ext uri="{FF2B5EF4-FFF2-40B4-BE49-F238E27FC236}">
                  <a16:creationId xmlns:a16="http://schemas.microsoft.com/office/drawing/2014/main" id="{6A912367-60FA-90B3-AEC1-92EAE19AB3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37466" y="1546829"/>
              <a:ext cx="660134" cy="660134"/>
            </a:xfrm>
            <a:prstGeom prst="rect">
              <a:avLst/>
            </a:prstGeom>
          </p:spPr>
        </p:pic>
        <p:pic>
          <p:nvPicPr>
            <p:cNvPr id="99" name="图片 98">
              <a:extLst>
                <a:ext uri="{FF2B5EF4-FFF2-40B4-BE49-F238E27FC236}">
                  <a16:creationId xmlns:a16="http://schemas.microsoft.com/office/drawing/2014/main" id="{DE744EA0-1649-5DBA-8040-A53FBF33D7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14467" y="1548835"/>
              <a:ext cx="660134" cy="660134"/>
            </a:xfrm>
            <a:prstGeom prst="rect">
              <a:avLst/>
            </a:prstGeom>
          </p:spPr>
        </p:pic>
        <p:pic>
          <p:nvPicPr>
            <p:cNvPr id="102" name="图片 101">
              <a:extLst>
                <a:ext uri="{FF2B5EF4-FFF2-40B4-BE49-F238E27FC236}">
                  <a16:creationId xmlns:a16="http://schemas.microsoft.com/office/drawing/2014/main" id="{FF464937-2E53-BC80-A96C-D2A7F6A411C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50059" y="3196500"/>
              <a:ext cx="2157069" cy="1167166"/>
            </a:xfrm>
            <a:prstGeom prst="rect">
              <a:avLst/>
            </a:prstGeom>
          </p:spPr>
        </p:pic>
      </p:grpSp>
      <p:grpSp>
        <p:nvGrpSpPr>
          <p:cNvPr id="141" name="组合 140">
            <a:extLst>
              <a:ext uri="{FF2B5EF4-FFF2-40B4-BE49-F238E27FC236}">
                <a16:creationId xmlns:a16="http://schemas.microsoft.com/office/drawing/2014/main" id="{7580E062-6CB1-73F7-A69D-911A8ED5859B}"/>
              </a:ext>
            </a:extLst>
          </p:cNvPr>
          <p:cNvGrpSpPr/>
          <p:nvPr/>
        </p:nvGrpSpPr>
        <p:grpSpPr>
          <a:xfrm>
            <a:off x="36867" y="5853059"/>
            <a:ext cx="12096205" cy="1070373"/>
            <a:chOff x="-288152" y="899791"/>
            <a:chExt cx="8913628" cy="1070373"/>
          </a:xfrm>
        </p:grpSpPr>
        <p:sp>
          <p:nvSpPr>
            <p:cNvPr id="142" name="圆角矩形 1">
              <a:extLst>
                <a:ext uri="{FF2B5EF4-FFF2-40B4-BE49-F238E27FC236}">
                  <a16:creationId xmlns:a16="http://schemas.microsoft.com/office/drawing/2014/main" id="{9E03CDBC-5B03-C61A-697D-A9665529312C}"/>
                </a:ext>
              </a:extLst>
            </p:cNvPr>
            <p:cNvSpPr/>
            <p:nvPr/>
          </p:nvSpPr>
          <p:spPr>
            <a:xfrm>
              <a:off x="-164716" y="1078306"/>
              <a:ext cx="8704332" cy="720000"/>
            </a:xfrm>
            <a:prstGeom prst="roundRect">
              <a:avLst>
                <a:gd name="adj" fmla="val 15752"/>
              </a:avLst>
            </a:prstGeom>
            <a:solidFill>
              <a:srgbClr val="8F0F16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30000"/>
                </a:lnSpc>
                <a:defRPr/>
              </a:pPr>
              <a:endParaRPr lang="zh-CN" altLang="en-US" sz="2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3" name="圆角矩形 1">
              <a:extLst>
                <a:ext uri="{FF2B5EF4-FFF2-40B4-BE49-F238E27FC236}">
                  <a16:creationId xmlns:a16="http://schemas.microsoft.com/office/drawing/2014/main" id="{3255D1E1-4F18-BDD8-E731-751D34FC3754}"/>
                </a:ext>
              </a:extLst>
            </p:cNvPr>
            <p:cNvSpPr/>
            <p:nvPr/>
          </p:nvSpPr>
          <p:spPr>
            <a:xfrm>
              <a:off x="-288152" y="899791"/>
              <a:ext cx="8913628" cy="1070373"/>
            </a:xfrm>
            <a:prstGeom prst="roundRect">
              <a:avLst>
                <a:gd name="adj" fmla="val 4708"/>
              </a:avLst>
            </a:prstGeom>
            <a:no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  <a:defRPr/>
              </a:pPr>
              <a:r>
                <a:rPr lang="en-US" altLang="zh-CN" sz="2800" b="1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IP </a:t>
              </a:r>
              <a:r>
                <a:rPr lang="zh-CN" altLang="en-US" sz="2800" b="1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黑名单和漏洞数据聚合、联合图计算、全连接的隐私数据库、</a:t>
              </a:r>
              <a:r>
                <a:rPr lang="en-US" altLang="zh-CN" sz="2800" b="1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Private ID</a:t>
              </a:r>
              <a:endParaRPr kumimoji="1" lang="zh-CN" altLang="en-US" sz="2800" b="1" dirty="0">
                <a:solidFill>
                  <a:srgbClr val="FFFF00"/>
                </a:solidFill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990399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DE9AA-8380-300F-2C11-ACAF8BA68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4">
            <a:extLst>
              <a:ext uri="{FF2B5EF4-FFF2-40B4-BE49-F238E27FC236}">
                <a16:creationId xmlns:a16="http://schemas.microsoft.com/office/drawing/2014/main" id="{0C00BC61-6C12-7D90-7437-07B295F0C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29" y="144205"/>
            <a:ext cx="9144000" cy="623628"/>
          </a:xfrm>
        </p:spPr>
        <p:txBody>
          <a:bodyPr>
            <a:normAutofit/>
          </a:bodyPr>
          <a:lstStyle/>
          <a:p>
            <a:pPr eaLnBrk="0" fontAlgn="base" hangingPunct="0">
              <a:spcAft>
                <a:spcPct val="0"/>
              </a:spcAft>
              <a:buClr>
                <a:srgbClr val="002060"/>
              </a:buClr>
              <a:defRPr/>
            </a:pPr>
            <a:r>
              <a:rPr kumimoji="1" lang="zh-CN" altLang="en-US" sz="3600" b="1" dirty="0">
                <a:solidFill>
                  <a:srgbClr val="8F0F16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更复杂的应用场景</a:t>
            </a:r>
          </a:p>
        </p:txBody>
      </p:sp>
      <p:cxnSp>
        <p:nvCxnSpPr>
          <p:cNvPr id="2" name="Straight Connector 18">
            <a:extLst>
              <a:ext uri="{FF2B5EF4-FFF2-40B4-BE49-F238E27FC236}">
                <a16:creationId xmlns:a16="http://schemas.microsoft.com/office/drawing/2014/main" id="{879ACD9C-4101-7143-1F5F-FC8235824874}"/>
              </a:ext>
            </a:extLst>
          </p:cNvPr>
          <p:cNvCxnSpPr>
            <a:cxnSpLocks/>
          </p:cNvCxnSpPr>
          <p:nvPr/>
        </p:nvCxnSpPr>
        <p:spPr>
          <a:xfrm flipV="1">
            <a:off x="0" y="699703"/>
            <a:ext cx="12192000" cy="42632"/>
          </a:xfrm>
          <a:prstGeom prst="line">
            <a:avLst/>
          </a:prstGeom>
          <a:ln w="38100">
            <a:solidFill>
              <a:srgbClr val="8F0F1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4" name="组合 73">
            <a:extLst>
              <a:ext uri="{FF2B5EF4-FFF2-40B4-BE49-F238E27FC236}">
                <a16:creationId xmlns:a16="http://schemas.microsoft.com/office/drawing/2014/main" id="{4E081762-40CE-3485-5A97-C48BC13C1B60}"/>
              </a:ext>
            </a:extLst>
          </p:cNvPr>
          <p:cNvGrpSpPr>
            <a:grpSpLocks noChangeAspect="1"/>
          </p:cNvGrpSpPr>
          <p:nvPr/>
        </p:nvGrpSpPr>
        <p:grpSpPr>
          <a:xfrm>
            <a:off x="238124" y="1035777"/>
            <a:ext cx="5936939" cy="4191791"/>
            <a:chOff x="152230" y="1036074"/>
            <a:chExt cx="7711698" cy="5241648"/>
          </a:xfrm>
        </p:grpSpPr>
        <p:pic>
          <p:nvPicPr>
            <p:cNvPr id="75" name="图片 74">
              <a:extLst>
                <a:ext uri="{FF2B5EF4-FFF2-40B4-BE49-F238E27FC236}">
                  <a16:creationId xmlns:a16="http://schemas.microsoft.com/office/drawing/2014/main" id="{C06A0651-0DCC-D41A-C815-1C8EF2B917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9716" r="37359"/>
            <a:stretch>
              <a:fillRect/>
            </a:stretch>
          </p:blipFill>
          <p:spPr>
            <a:xfrm>
              <a:off x="2297208" y="2627496"/>
              <a:ext cx="2539093" cy="3650226"/>
            </a:xfrm>
            <a:prstGeom prst="rect">
              <a:avLst/>
            </a:prstGeom>
          </p:spPr>
        </p:pic>
        <p:cxnSp>
          <p:nvCxnSpPr>
            <p:cNvPr id="76" name="连接符: 肘形 75">
              <a:extLst>
                <a:ext uri="{FF2B5EF4-FFF2-40B4-BE49-F238E27FC236}">
                  <a16:creationId xmlns:a16="http://schemas.microsoft.com/office/drawing/2014/main" id="{91F39E7F-402D-2ED5-147A-DDE73D51F7F0}"/>
                </a:ext>
              </a:extLst>
            </p:cNvPr>
            <p:cNvCxnSpPr>
              <a:cxnSpLocks/>
              <a:endCxn id="88" idx="1"/>
            </p:cNvCxnSpPr>
            <p:nvPr/>
          </p:nvCxnSpPr>
          <p:spPr>
            <a:xfrm>
              <a:off x="865414" y="2886331"/>
              <a:ext cx="1857633" cy="12700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连接符: 肘形 79">
              <a:extLst>
                <a:ext uri="{FF2B5EF4-FFF2-40B4-BE49-F238E27FC236}">
                  <a16:creationId xmlns:a16="http://schemas.microsoft.com/office/drawing/2014/main" id="{07E45CA8-CA5D-04A9-965A-277D12CD6A28}"/>
                </a:ext>
              </a:extLst>
            </p:cNvPr>
            <p:cNvCxnSpPr>
              <a:cxnSpLocks/>
              <a:endCxn id="88" idx="3"/>
            </p:cNvCxnSpPr>
            <p:nvPr/>
          </p:nvCxnSpPr>
          <p:spPr>
            <a:xfrm rot="10800000">
              <a:off x="4394721" y="2886331"/>
              <a:ext cx="1329057" cy="1007074"/>
            </a:xfrm>
            <a:prstGeom prst="bentConnector3">
              <a:avLst>
                <a:gd name="adj1" fmla="val 73343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87" name="图片 86">
              <a:extLst>
                <a:ext uri="{FF2B5EF4-FFF2-40B4-BE49-F238E27FC236}">
                  <a16:creationId xmlns:a16="http://schemas.microsoft.com/office/drawing/2014/main" id="{80F33559-BD6F-E26F-F737-56374CA4F8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72186"/>
            <a:stretch>
              <a:fillRect/>
            </a:stretch>
          </p:blipFill>
          <p:spPr>
            <a:xfrm>
              <a:off x="152230" y="1036074"/>
              <a:ext cx="2144978" cy="3650226"/>
            </a:xfrm>
            <a:prstGeom prst="rect">
              <a:avLst/>
            </a:prstGeom>
          </p:spPr>
        </p:pic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BE248D11-0163-7F56-F0A2-1D304DE1AD57}"/>
                </a:ext>
              </a:extLst>
            </p:cNvPr>
            <p:cNvSpPr/>
            <p:nvPr/>
          </p:nvSpPr>
          <p:spPr>
            <a:xfrm>
              <a:off x="2723047" y="2627496"/>
              <a:ext cx="1671673" cy="517670"/>
            </a:xfrm>
            <a:prstGeom prst="rect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MPSO</a:t>
              </a:r>
              <a:endPara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89" name="连接符: 肘形 88">
              <a:extLst>
                <a:ext uri="{FF2B5EF4-FFF2-40B4-BE49-F238E27FC236}">
                  <a16:creationId xmlns:a16="http://schemas.microsoft.com/office/drawing/2014/main" id="{9C8C56EE-3A95-E62B-6AD9-CC3AD0844384}"/>
                </a:ext>
              </a:extLst>
            </p:cNvPr>
            <p:cNvCxnSpPr>
              <a:cxnSpLocks/>
              <a:endCxn id="88" idx="0"/>
            </p:cNvCxnSpPr>
            <p:nvPr/>
          </p:nvCxnSpPr>
          <p:spPr>
            <a:xfrm rot="10800000" flipV="1">
              <a:off x="3558885" y="2264472"/>
              <a:ext cx="1968337" cy="363023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直接箭头连接符 89">
              <a:extLst>
                <a:ext uri="{FF2B5EF4-FFF2-40B4-BE49-F238E27FC236}">
                  <a16:creationId xmlns:a16="http://schemas.microsoft.com/office/drawing/2014/main" id="{73D98CE2-BB0E-D671-C1AD-0009AF0A97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56972" y="3137627"/>
              <a:ext cx="5711" cy="65339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2" name="图片 91">
              <a:extLst>
                <a:ext uri="{FF2B5EF4-FFF2-40B4-BE49-F238E27FC236}">
                  <a16:creationId xmlns:a16="http://schemas.microsoft.com/office/drawing/2014/main" id="{838B5933-FB6D-D53F-FE26-3A76B027A42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3247"/>
            <a:stretch>
              <a:fillRect/>
            </a:stretch>
          </p:blipFill>
          <p:spPr>
            <a:xfrm>
              <a:off x="5029683" y="1036074"/>
              <a:ext cx="2834245" cy="3650226"/>
            </a:xfrm>
            <a:prstGeom prst="rect">
              <a:avLst/>
            </a:prstGeom>
          </p:spPr>
        </p:pic>
      </p:grpSp>
      <p:grpSp>
        <p:nvGrpSpPr>
          <p:cNvPr id="93" name="组合 92">
            <a:extLst>
              <a:ext uri="{FF2B5EF4-FFF2-40B4-BE49-F238E27FC236}">
                <a16:creationId xmlns:a16="http://schemas.microsoft.com/office/drawing/2014/main" id="{215EE224-8B11-6A6F-C099-F8429F8E3CE0}"/>
              </a:ext>
            </a:extLst>
          </p:cNvPr>
          <p:cNvGrpSpPr>
            <a:grpSpLocks noChangeAspect="1"/>
          </p:cNvGrpSpPr>
          <p:nvPr/>
        </p:nvGrpSpPr>
        <p:grpSpPr>
          <a:xfrm>
            <a:off x="6175063" y="1035777"/>
            <a:ext cx="5936939" cy="2919117"/>
            <a:chOff x="152230" y="1036074"/>
            <a:chExt cx="7711698" cy="3650226"/>
          </a:xfrm>
        </p:grpSpPr>
        <p:cxnSp>
          <p:nvCxnSpPr>
            <p:cNvPr id="95" name="连接符: 肘形 94">
              <a:extLst>
                <a:ext uri="{FF2B5EF4-FFF2-40B4-BE49-F238E27FC236}">
                  <a16:creationId xmlns:a16="http://schemas.microsoft.com/office/drawing/2014/main" id="{46F82A0B-FC18-3DE7-C55B-23A624BB7FE1}"/>
                </a:ext>
              </a:extLst>
            </p:cNvPr>
            <p:cNvCxnSpPr>
              <a:cxnSpLocks/>
              <a:endCxn id="98" idx="1"/>
            </p:cNvCxnSpPr>
            <p:nvPr/>
          </p:nvCxnSpPr>
          <p:spPr>
            <a:xfrm>
              <a:off x="865414" y="2886331"/>
              <a:ext cx="1857633" cy="12700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连接符: 肘形 95">
              <a:extLst>
                <a:ext uri="{FF2B5EF4-FFF2-40B4-BE49-F238E27FC236}">
                  <a16:creationId xmlns:a16="http://schemas.microsoft.com/office/drawing/2014/main" id="{13146C0F-AF55-C343-561C-EC021F33327E}"/>
                </a:ext>
              </a:extLst>
            </p:cNvPr>
            <p:cNvCxnSpPr>
              <a:cxnSpLocks/>
              <a:endCxn id="98" idx="3"/>
            </p:cNvCxnSpPr>
            <p:nvPr/>
          </p:nvCxnSpPr>
          <p:spPr>
            <a:xfrm rot="10800000">
              <a:off x="4394721" y="2886331"/>
              <a:ext cx="1329057" cy="1007074"/>
            </a:xfrm>
            <a:prstGeom prst="bentConnector3">
              <a:avLst>
                <a:gd name="adj1" fmla="val 73343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7" name="图片 96">
              <a:extLst>
                <a:ext uri="{FF2B5EF4-FFF2-40B4-BE49-F238E27FC236}">
                  <a16:creationId xmlns:a16="http://schemas.microsoft.com/office/drawing/2014/main" id="{391A77B5-470D-0A53-4921-6EDD26E8503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72186"/>
            <a:stretch>
              <a:fillRect/>
            </a:stretch>
          </p:blipFill>
          <p:spPr>
            <a:xfrm>
              <a:off x="152230" y="1036074"/>
              <a:ext cx="2144978" cy="3650226"/>
            </a:xfrm>
            <a:prstGeom prst="rect">
              <a:avLst/>
            </a:prstGeom>
          </p:spPr>
        </p:pic>
        <p:sp>
          <p:nvSpPr>
            <p:cNvPr id="98" name="矩形 97">
              <a:extLst>
                <a:ext uri="{FF2B5EF4-FFF2-40B4-BE49-F238E27FC236}">
                  <a16:creationId xmlns:a16="http://schemas.microsoft.com/office/drawing/2014/main" id="{9AD5979E-5F29-70A9-23FC-B0BCAD0C9E1F}"/>
                </a:ext>
              </a:extLst>
            </p:cNvPr>
            <p:cNvSpPr/>
            <p:nvPr/>
          </p:nvSpPr>
          <p:spPr>
            <a:xfrm>
              <a:off x="2723047" y="2627496"/>
              <a:ext cx="1671673" cy="517670"/>
            </a:xfrm>
            <a:prstGeom prst="rect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MPSO</a:t>
              </a:r>
              <a:endPara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99" name="连接符: 肘形 98">
              <a:extLst>
                <a:ext uri="{FF2B5EF4-FFF2-40B4-BE49-F238E27FC236}">
                  <a16:creationId xmlns:a16="http://schemas.microsoft.com/office/drawing/2014/main" id="{7453C6BD-4AD1-0CB9-CFC3-0048CA587497}"/>
                </a:ext>
              </a:extLst>
            </p:cNvPr>
            <p:cNvCxnSpPr>
              <a:cxnSpLocks/>
              <a:endCxn id="98" idx="0"/>
            </p:cNvCxnSpPr>
            <p:nvPr/>
          </p:nvCxnSpPr>
          <p:spPr>
            <a:xfrm rot="10800000" flipV="1">
              <a:off x="3558885" y="2264472"/>
              <a:ext cx="1968337" cy="363023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接箭头连接符 99">
              <a:extLst>
                <a:ext uri="{FF2B5EF4-FFF2-40B4-BE49-F238E27FC236}">
                  <a16:creationId xmlns:a16="http://schemas.microsoft.com/office/drawing/2014/main" id="{E9ABB136-6A11-4D45-DC07-6DB161A8A0F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56972" y="3137627"/>
              <a:ext cx="5711" cy="65339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1" name="图片 100">
              <a:extLst>
                <a:ext uri="{FF2B5EF4-FFF2-40B4-BE49-F238E27FC236}">
                  <a16:creationId xmlns:a16="http://schemas.microsoft.com/office/drawing/2014/main" id="{ACF1D880-FF72-2CB7-2A4F-49BBB79B02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3247"/>
            <a:stretch>
              <a:fillRect/>
            </a:stretch>
          </p:blipFill>
          <p:spPr>
            <a:xfrm>
              <a:off x="5029683" y="1036074"/>
              <a:ext cx="2834245" cy="3650226"/>
            </a:xfrm>
            <a:prstGeom prst="rect">
              <a:avLst/>
            </a:prstGeom>
          </p:spPr>
        </p:pic>
      </p:grpSp>
      <p:pic>
        <p:nvPicPr>
          <p:cNvPr id="103" name="图片 102">
            <a:extLst>
              <a:ext uri="{FF2B5EF4-FFF2-40B4-BE49-F238E27FC236}">
                <a16:creationId xmlns:a16="http://schemas.microsoft.com/office/drawing/2014/main" id="{6C85F568-1D9E-5AAE-1785-B32C6A53F4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2682" y="3343174"/>
            <a:ext cx="2005304" cy="1462873"/>
          </a:xfrm>
          <a:prstGeom prst="rect">
            <a:avLst/>
          </a:prstGeom>
        </p:spPr>
      </p:pic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1CA17B80-DB1E-91F6-491C-CC7C356E0900}"/>
              </a:ext>
            </a:extLst>
          </p:cNvPr>
          <p:cNvCxnSpPr>
            <a:cxnSpLocks/>
          </p:cNvCxnSpPr>
          <p:nvPr/>
        </p:nvCxnSpPr>
        <p:spPr>
          <a:xfrm>
            <a:off x="6175063" y="721019"/>
            <a:ext cx="0" cy="4154334"/>
          </a:xfrm>
          <a:prstGeom prst="line">
            <a:avLst/>
          </a:prstGeom>
          <a:ln w="28575">
            <a:solidFill>
              <a:srgbClr val="8F0F1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8">
            <a:extLst>
              <a:ext uri="{FF2B5EF4-FFF2-40B4-BE49-F238E27FC236}">
                <a16:creationId xmlns:a16="http://schemas.microsoft.com/office/drawing/2014/main" id="{5F3F044E-322C-3037-D08E-4263961D50A3}"/>
              </a:ext>
            </a:extLst>
          </p:cNvPr>
          <p:cNvCxnSpPr>
            <a:cxnSpLocks/>
          </p:cNvCxnSpPr>
          <p:nvPr/>
        </p:nvCxnSpPr>
        <p:spPr>
          <a:xfrm flipV="1">
            <a:off x="0" y="4840111"/>
            <a:ext cx="12192000" cy="42632"/>
          </a:xfrm>
          <a:prstGeom prst="line">
            <a:avLst/>
          </a:prstGeom>
          <a:ln w="28575">
            <a:solidFill>
              <a:srgbClr val="8F0F1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8008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78B47-CB00-3D03-A99D-8E0206621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1902ABF5-8B0A-0F83-D910-93346F85706F}"/>
              </a:ext>
            </a:extLst>
          </p:cNvPr>
          <p:cNvSpPr/>
          <p:nvPr/>
        </p:nvSpPr>
        <p:spPr>
          <a:xfrm>
            <a:off x="6583254" y="1451489"/>
            <a:ext cx="3878615" cy="584775"/>
          </a:xfrm>
          <a:prstGeom prst="round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研究背景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C2D8A59A-AE16-B987-BEDE-DAFE323800E4}"/>
              </a:ext>
            </a:extLst>
          </p:cNvPr>
          <p:cNvSpPr/>
          <p:nvPr/>
        </p:nvSpPr>
        <p:spPr>
          <a:xfrm>
            <a:off x="5472387" y="1451489"/>
            <a:ext cx="583200" cy="584775"/>
          </a:xfrm>
          <a:prstGeom prst="roundRect">
            <a:avLst/>
          </a:prstGeom>
          <a:solidFill>
            <a:srgbClr val="8F0F16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1</a:t>
            </a:r>
            <a:endParaRPr lang="zh-CN" altLang="en-US" sz="32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C7DFBE80-71FC-DF67-0BFE-7EDD5E3263CC}"/>
              </a:ext>
            </a:extLst>
          </p:cNvPr>
          <p:cNvSpPr/>
          <p:nvPr/>
        </p:nvSpPr>
        <p:spPr>
          <a:xfrm>
            <a:off x="6583254" y="2562677"/>
            <a:ext cx="3878615" cy="584775"/>
          </a:xfrm>
          <a:prstGeom prst="round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研究现状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FF9C19FA-F939-E025-D490-D2D60AFBDE67}"/>
              </a:ext>
            </a:extLst>
          </p:cNvPr>
          <p:cNvSpPr/>
          <p:nvPr/>
        </p:nvSpPr>
        <p:spPr>
          <a:xfrm>
            <a:off x="5472387" y="2562677"/>
            <a:ext cx="583200" cy="584775"/>
          </a:xfrm>
          <a:prstGeom prst="roundRect">
            <a:avLst/>
          </a:prstGeom>
          <a:solidFill>
            <a:srgbClr val="8F0F16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2</a:t>
            </a:r>
            <a:endParaRPr lang="zh-CN" altLang="en-US" sz="32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C8A924BD-1B1C-02F1-2ACC-C1F0465446E6}"/>
              </a:ext>
            </a:extLst>
          </p:cNvPr>
          <p:cNvSpPr/>
          <p:nvPr/>
        </p:nvSpPr>
        <p:spPr>
          <a:xfrm>
            <a:off x="6583254" y="3673865"/>
            <a:ext cx="3878615" cy="584775"/>
          </a:xfrm>
          <a:prstGeom prst="round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研究成果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EDE9F9C8-7B37-3FC2-3F93-1E3E76551996}"/>
              </a:ext>
            </a:extLst>
          </p:cNvPr>
          <p:cNvSpPr/>
          <p:nvPr/>
        </p:nvSpPr>
        <p:spPr>
          <a:xfrm>
            <a:off x="5472387" y="3673865"/>
            <a:ext cx="583200" cy="584775"/>
          </a:xfrm>
          <a:prstGeom prst="roundRect">
            <a:avLst/>
          </a:prstGeom>
          <a:solidFill>
            <a:srgbClr val="8F0F16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3</a:t>
            </a:r>
            <a:endParaRPr lang="zh-CN" altLang="en-US" sz="32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73004291-DE9E-9CD8-C2CF-3C207FB6E65E}"/>
              </a:ext>
            </a:extLst>
          </p:cNvPr>
          <p:cNvSpPr/>
          <p:nvPr/>
        </p:nvSpPr>
        <p:spPr>
          <a:xfrm>
            <a:off x="6583254" y="4785053"/>
            <a:ext cx="3878615" cy="584775"/>
          </a:xfrm>
          <a:prstGeom prst="round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总结与展望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3A4548B1-5EB0-1158-8D76-BFCEC4A27E9B}"/>
              </a:ext>
            </a:extLst>
          </p:cNvPr>
          <p:cNvSpPr/>
          <p:nvPr/>
        </p:nvSpPr>
        <p:spPr>
          <a:xfrm>
            <a:off x="5472387" y="4785053"/>
            <a:ext cx="583200" cy="584775"/>
          </a:xfrm>
          <a:prstGeom prst="roundRect">
            <a:avLst/>
          </a:prstGeom>
          <a:solidFill>
            <a:srgbClr val="8F0F16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4</a:t>
            </a:r>
            <a:endParaRPr lang="zh-CN" altLang="en-US" sz="32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DC8A7DF-E7B1-96C4-50FB-85883AA86C76}"/>
              </a:ext>
            </a:extLst>
          </p:cNvPr>
          <p:cNvSpPr/>
          <p:nvPr/>
        </p:nvSpPr>
        <p:spPr>
          <a:xfrm>
            <a:off x="0" y="1"/>
            <a:ext cx="3752850" cy="6857999"/>
          </a:xfrm>
          <a:prstGeom prst="rect">
            <a:avLst/>
          </a:prstGeom>
          <a:solidFill>
            <a:srgbClr val="8F0F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>
              <a:solidFill>
                <a:srgbClr val="8F0F16"/>
              </a:solidFill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2B06DAA-E297-3483-6238-EE25F17AD481}"/>
              </a:ext>
            </a:extLst>
          </p:cNvPr>
          <p:cNvSpPr/>
          <p:nvPr/>
        </p:nvSpPr>
        <p:spPr>
          <a:xfrm>
            <a:off x="1366395" y="2192893"/>
            <a:ext cx="1383712" cy="230832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7200" b="1" dirty="0">
                <a:ln w="3175">
                  <a:noFill/>
                </a:ln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</a:t>
            </a:r>
            <a:endParaRPr lang="en-US" altLang="zh-CN" sz="7200" b="1" dirty="0">
              <a:ln w="3175">
                <a:noFill/>
              </a:ln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7200" b="1" dirty="0">
                <a:ln w="3175">
                  <a:noFill/>
                </a:ln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录 </a:t>
            </a:r>
            <a:endParaRPr lang="zh-CN" altLang="en-US" sz="7200" dirty="0">
              <a:solidFill>
                <a:schemeClr val="bg1"/>
              </a:solidFill>
            </a:endParaRP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18A7AD87-C13A-26D3-1875-73F3B8FAE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269" y="162841"/>
            <a:ext cx="1358312" cy="1293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67054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4.3|1.9|1.4|4.7|1.4|1.8|1.8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4.3|1.9|1.4|4.7|1.4|1.8|1.8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1251</Words>
  <Application>Microsoft Office PowerPoint</Application>
  <PresentationFormat>宽屏</PresentationFormat>
  <Paragraphs>168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8" baseType="lpstr">
      <vt:lpstr>等线</vt:lpstr>
      <vt:lpstr>等线</vt:lpstr>
      <vt:lpstr>等线 Light</vt:lpstr>
      <vt:lpstr>微软雅黑</vt:lpstr>
      <vt:lpstr>Arial</vt:lpstr>
      <vt:lpstr>Cambria Math</vt:lpstr>
      <vt:lpstr>Times New Roman</vt:lpstr>
      <vt:lpstr>Office 主题​​</vt:lpstr>
      <vt:lpstr>PowerPoint 演示文稿</vt:lpstr>
      <vt:lpstr>PowerPoint 演示文稿</vt:lpstr>
      <vt:lpstr>PowerPoint 演示文稿</vt:lpstr>
      <vt:lpstr>研究背景</vt:lpstr>
      <vt:lpstr>安全多方计算</vt:lpstr>
      <vt:lpstr> 隐私集合运算</vt:lpstr>
      <vt:lpstr>典型功能及其应用场景</vt:lpstr>
      <vt:lpstr>典型功能及其应用场景</vt:lpstr>
      <vt:lpstr>更复杂的应用场景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明朗 董</dc:creator>
  <cp:lastModifiedBy>明朗 董</cp:lastModifiedBy>
  <cp:revision>12</cp:revision>
  <dcterms:created xsi:type="dcterms:W3CDTF">2026-03-05T12:33:41Z</dcterms:created>
  <dcterms:modified xsi:type="dcterms:W3CDTF">2026-03-05T16:00:26Z</dcterms:modified>
</cp:coreProperties>
</file>