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49.jpg" ContentType="image/pn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53" r:id="rId2"/>
    <p:sldId id="2125" r:id="rId3"/>
    <p:sldId id="2126" r:id="rId4"/>
    <p:sldId id="608" r:id="rId5"/>
    <p:sldId id="593" r:id="rId6"/>
    <p:sldId id="280" r:id="rId7"/>
    <p:sldId id="2131" r:id="rId8"/>
    <p:sldId id="2128" r:id="rId9"/>
    <p:sldId id="2140" r:id="rId10"/>
    <p:sldId id="2129" r:id="rId11"/>
    <p:sldId id="2130" r:id="rId12"/>
    <p:sldId id="2133" r:id="rId13"/>
    <p:sldId id="2135" r:id="rId14"/>
    <p:sldId id="2134" r:id="rId15"/>
    <p:sldId id="2136" r:id="rId16"/>
    <p:sldId id="2070" r:id="rId17"/>
    <p:sldId id="2071" r:id="rId18"/>
    <p:sldId id="2137" r:id="rId19"/>
    <p:sldId id="2138" r:id="rId20"/>
    <p:sldId id="2141" r:id="rId21"/>
    <p:sldId id="2143" r:id="rId22"/>
    <p:sldId id="2146" r:id="rId23"/>
    <p:sldId id="2147" r:id="rId24"/>
    <p:sldId id="2148" r:id="rId25"/>
    <p:sldId id="2083" r:id="rId26"/>
    <p:sldId id="2144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5A4"/>
    <a:srgbClr val="1E6AAD"/>
    <a:srgbClr val="C00000"/>
    <a:srgbClr val="548235"/>
    <a:srgbClr val="8F0F16"/>
    <a:srgbClr val="7F7F7F"/>
    <a:srgbClr val="EB7C30"/>
    <a:srgbClr val="167345"/>
    <a:srgbClr val="5A857C"/>
    <a:srgbClr val="639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4" autoAdjust="0"/>
    <p:restoredTop sz="83860" autoAdjust="0"/>
  </p:normalViewPr>
  <p:slideViewPr>
    <p:cSldViewPr snapToGrid="0">
      <p:cViewPr varScale="1">
        <p:scale>
          <a:sx n="113" d="100"/>
          <a:sy n="113" d="100"/>
        </p:scale>
        <p:origin x="2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35120173685508"/>
          <c:y val="0.15760276211672719"/>
          <c:w val="0.59635418751239622"/>
          <c:h val="0.8006908277244629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dPt>
            <c:idx val="0"/>
            <c:bubble3D val="0"/>
            <c:spPr>
              <a:solidFill>
                <a:srgbClr val="1E6BAF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1E2-4BB7-BEB0-AA30F07A368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1E2-4BB7-BEB0-AA30F07A3684}"/>
              </c:ext>
            </c:extLst>
          </c:dPt>
          <c:dPt>
            <c:idx val="2"/>
            <c:bubble3D val="0"/>
            <c:spPr>
              <a:solidFill>
                <a:srgbClr val="639489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1E2-4BB7-BEB0-AA30F07A3684}"/>
              </c:ext>
            </c:extLst>
          </c:dPt>
          <c:dPt>
            <c:idx val="3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1E2-4BB7-BEB0-AA30F07A368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1E2-4BB7-BEB0-AA30F07A368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51E2-4BB7-BEB0-AA30F07A3684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MPSI</c:v>
                </c:pt>
                <c:pt idx="1">
                  <c:v>MPSU</c:v>
                </c:pt>
                <c:pt idx="2">
                  <c:v>MPCSI</c:v>
                </c:pt>
                <c:pt idx="3">
                  <c:v>通用MPSO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</c:v>
                </c:pt>
                <c:pt idx="2">
                  <c:v>0.5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1E2-4BB7-BEB0-AA30F07A36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51E2-4BB7-BEB0-AA30F07A368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51E2-4BB7-BEB0-AA30F07A36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51E2-4BB7-BEB0-AA30F07A368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51E2-4BB7-BEB0-AA30F07A36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MPSI</c:v>
                </c:pt>
                <c:pt idx="1">
                  <c:v>MPSU</c:v>
                </c:pt>
                <c:pt idx="2">
                  <c:v>MPCSI</c:v>
                </c:pt>
                <c:pt idx="3">
                  <c:v>通用MPSO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51E2-4BB7-BEB0-AA30F07A36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51E2-4BB7-BEB0-AA30F07A368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51E2-4BB7-BEB0-AA30F07A36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51E2-4BB7-BEB0-AA30F07A368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51E2-4BB7-BEB0-AA30F07A36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MPSI</c:v>
                </c:pt>
                <c:pt idx="1">
                  <c:v>MPSU</c:v>
                </c:pt>
                <c:pt idx="2">
                  <c:v>MPCSI</c:v>
                </c:pt>
                <c:pt idx="3">
                  <c:v>通用MPSO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1E2-4BB7-BEB0-AA30F07A3684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15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9999955529110206E-2"/>
          <c:y val="4.9289393824047907E-2"/>
          <c:w val="0.89999986658733055"/>
          <c:h val="9.31474009622030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B7A5-E5AD-4EDC-8907-B89457FF10C4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79050-9075-45DC-A50A-B3D80013B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23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各位老师同学下午好，我是，导师是，我答辩的题目是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53FC6-A270-4373-94FA-B548CA471F5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24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3102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6A43-DC86-9A8E-EA86-90836111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5CE82-5CD6-27C3-1297-3EEAC298F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122E4-2523-6196-41C3-5DD12E502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61A37-EAC3-4977-C416-4A1CEBAB4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88668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数字经济时代，数据是重要的生产要素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数据的互联互通在创造巨大数据价值的同时，也面临前所未有的安全挑战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数据安全是</a:t>
            </a:r>
            <a:r>
              <a:rPr lang="zh-CN" altLang="en-US" sz="1200" b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数字经济腾飞的安全底座</a:t>
            </a:r>
            <a:endParaRPr lang="zh-CN" altLang="en-US" sz="12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7F86E-74BA-1B42-8FEC-518C8228BDC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73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安全多方计算允许多个参与方以最小隐私泄漏完成联合计算任务，是隐私计算的最优技术解</a:t>
            </a:r>
            <a:r>
              <a:rPr kumimoji="1"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。</a:t>
            </a:r>
            <a:endParaRPr kumimoji="1" lang="en-US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endParaRPr kumimoji="1" lang="en-US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其功能强大，可计算任意函数；可证安全，实际使用占比高，</a:t>
            </a:r>
            <a:endParaRPr kumimoji="1" lang="en-US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如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联合国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发布隐私技术指南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涵盖</a:t>
            </a: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18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个全球典型案例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，其中应用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MPC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技术的案例占了</a:t>
            </a: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11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个。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联合国发布的隐私技术指南将安全多方计算列为</a:t>
            </a:r>
            <a:r>
              <a:rPr lang="zh-CN" altLang="en-US" sz="1200" b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保障隐私计算的</a:t>
            </a:r>
            <a:r>
              <a:rPr lang="zh-CN" altLang="en-US" sz="12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最高等级</a:t>
            </a:r>
            <a:r>
              <a:rPr lang="zh-CN" altLang="en-US" sz="1200" b="0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密码技术</a:t>
            </a:r>
            <a:r>
              <a:rPr lang="zh-CN" altLang="en-US" sz="1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07F86E-74BA-1B42-8FEC-518C8228BDC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ngXian"/>
                <a:ea typeface="DengXian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engXian"/>
              <a:ea typeface="DengXia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02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66563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087DB-3986-2FD8-2E93-52031F7E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BA567-0ED4-F28E-42F7-158000A82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AE5C9-6F31-77F8-1A32-B7E7167D4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115BA-A1D3-472B-BFE6-81463590D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2597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8900-9CFC-E3E7-97CC-72FF7763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0842E-B321-CB99-C2BD-5B4CFB0B2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C4634-1050-2336-F89E-30A396F8E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0AAE2-FF8D-DD2C-E4A1-53B0B114C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8760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9BB0-3CED-87BC-097C-6F4444F2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E6172-13C7-461E-DBBF-F16D8A626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F91FD-B305-B38A-3B70-76113910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3610B-9180-7B12-62CD-69E2F4D52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3384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01156-1523-D5CF-DFCD-C0E10303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7A7E-4D4E-FA44-DEEC-6091E188E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E0CA-455E-7FB1-B976-05EC4F3D2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8FBA2-AE71-3EF9-0DDE-7AF54DD6F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8368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2E0D1-BB70-7E27-11B3-19218578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5E52C-BACC-297B-65C2-BA98B6DB4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1A67E-E4AF-8067-314D-C331CE511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3872E-8C90-8765-ABBA-0A1E00F84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7143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67E0-8B72-A20A-ACC0-A883A0EA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C64B2-8376-2FD8-EC30-2311546A9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ED353-E3F8-8F27-EFA8-61B17E420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9F41-1C27-94CF-1F39-1D1C0BD75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40051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00F2-CD77-9F10-F658-B9508955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0099C-AE4C-9233-804C-E31C7A86E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216E2-1C2B-4DF3-13C8-29E47C939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首先是我的个人基本情况介绍。我是</a:t>
            </a:r>
            <a:r>
              <a:rPr lang="en-US" altLang="zh-CN" dirty="0"/>
              <a:t>2021</a:t>
            </a:r>
            <a:r>
              <a:rPr lang="zh-CN" altLang="en-US" dirty="0"/>
              <a:t>级的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硕博连读生，预计明年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月份毕业。我也是一名中共党员。在刚结束的学期综测排名中，我在班级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人中排名第一。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我的研究方向是安全多方计算，具体聚焦于安全多方计算中的专用协议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隐私集合运算，包括两方和多方隐私集合运算，允许两个或者多个持有集合的参与方协同完成各种集合操作，并且不泄露任何额外信息。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A6993-1644-BDB5-BD68-C75F992BF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3681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1493-5E22-F8D9-0AEE-98338DED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5F6BA-2AD7-BE74-A02F-323AD57FD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CBC25-0C20-2FE5-8D40-44DEA9095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23514-FB52-B21A-6373-F7CEF597D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2539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208B5-EA76-3E54-7427-1882B41E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97FB4-5D99-22E4-9570-71C55B54B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A3728-C649-1A9F-1648-181B17E39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3E9D1-ED93-91EF-7A3B-FABBE3520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6591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b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协议安全性低、渐进复杂度高的瓶颈，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3.9~ 10.0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1.2 ~ 7.8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3.0~ 36.5</m:t>
                    </m:r>
                  </m:oMath>
                </a14:m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倍，创下了现有方案的最小通信开销记录，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协议安全性低、渐进复杂度高的难题，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𝟑.𝟗~ 𝟏𝟎.𝟎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𝟏.𝟐 ~ 𝟕.𝟖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𝟑.𝟎~ 𝟑𝟔.𝟓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倍，创下了现存协议中最小的通信开销记录，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1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9449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ctr" latinLnBrk="0" hangingPunct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我的第二个代表性工作是 研究</a:t>
            </a:r>
            <a:r>
              <a:rPr kumimoji="1" lang="zh-CN" altLang="en-US" sz="12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全功能</a:t>
            </a:r>
            <a:r>
              <a:rPr kumimoji="1" lang="en-US" altLang="zh-CN" sz="12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+</a:t>
            </a:r>
            <a:r>
              <a:rPr kumimoji="1" lang="zh-CN" altLang="en-US" sz="1200" b="0" dirty="0">
                <a:latin typeface="Times New Roman" panose="02020603050405020304" pitchFamily="18" charset="0"/>
                <a:ea typeface="微软雅黑" panose="020B0503020204020204" pitchFamily="34" charset="-122"/>
              </a:rPr>
              <a:t>高性能的多方隐私集合运算框架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200" b="0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现有的多方隐私集合运算协议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功能单一</a:t>
            </a:r>
            <a:r>
              <a:rPr lang="en-US" altLang="zh-CN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无法</a:t>
            </a: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满足现实应用的需求。</a:t>
            </a:r>
            <a:endParaRPr lang="en-US" altLang="zh-CN" sz="1200" b="0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rtl="0" eaLnBrk="1" fontAlgn="ctr" latinLnBrk="0" hangingPunct="1"/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通过深入分析这些单一功能的协议，我们</a:t>
            </a: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凝练出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核心底层组件</a:t>
            </a:r>
            <a:r>
              <a:rPr lang="en-US" altLang="zh-CN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谓词零分享，</a:t>
            </a:r>
            <a:endParaRPr lang="en-US" altLang="zh-CN" sz="1200" b="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rtl="0" eaLnBrk="1" fontAlgn="ctr" latinLnBrk="0" hangingPunct="1"/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并基于该组件设计出首个实现全功能的高效的多方隐私集合运算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统一构造框架，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实现了从单一功能到通用功能的跨越。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该框架下实例化的各种具体</a:t>
            </a:r>
            <a:r>
              <a:rPr lang="zh-CN" altLang="en-US" sz="1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协议，包括</a:t>
            </a:r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多方隐私集合求交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多方隐私交集计算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多方隐私集合求并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协议，</a:t>
            </a:r>
            <a:r>
              <a:rPr lang="zh-CN" altLang="en-US" sz="1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均实现了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最优的渐进复杂度</a:t>
            </a: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高效可用的实际性能，打破了现有方案性能低下的困境。</a:t>
            </a:r>
            <a:endParaRPr lang="en-US" altLang="zh-CN" sz="1200" b="0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rtl="0" eaLnBrk="1" fontAlgn="ctr" latinLnBrk="0" hangingPunct="1"/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该</a:t>
            </a:r>
            <a:r>
              <a:rPr lang="zh-CN" altLang="en-US" sz="1200" b="0" dirty="0">
                <a:solidFill>
                  <a:srgbClr val="FFFF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研究成果可以看作</a:t>
            </a:r>
            <a:r>
              <a:rPr lang="zh-CN" altLang="en-US" sz="1200" b="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该领域的封顶工作</a:t>
            </a:r>
            <a:r>
              <a:rPr lang="zh-CN" altLang="en-US" sz="1200" b="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b="0" dirty="0">
                <a:solidFill>
                  <a:srgbClr val="FFFF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已发表于</a:t>
            </a:r>
            <a:r>
              <a:rPr lang="en-US" altLang="zh-CN" sz="1200" b="0" dirty="0">
                <a:solidFill>
                  <a:srgbClr val="FFFF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CCS 2025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6893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79050-9075-45DC-A50A-B3D80013BA2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1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2668-6359-1597-8DC1-E2240956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09EB2-D689-45A5-49BD-EFF6139E0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1628C59-1D61-0CEE-11D6-0656F75346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b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协议安全性低、渐进复杂度高的瓶颈，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3.9~ 10.0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1.2 ~ 7.8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3.0~ 36.5</m:t>
                    </m:r>
                  </m:oMath>
                </a14:m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倍，创下了现有方案的最小通信开销记录，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协议安全性低、渐进复杂度高的难题，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𝟑.𝟗~ 𝟏𝟎.𝟎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𝟏.𝟐 ~ 𝟕.𝟖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𝟑.𝟎~ 𝟑𝟔.𝟓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倍，创下了现存协议中最小的通信开销记录，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1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414E0-E57F-4268-C451-72B6F5074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0169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A9C3-5DFD-57DC-12F7-7C149328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279C0-2477-55AF-37F3-2A7303456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678A4A4-27BB-DFA7-17C3-4472DC250E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b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协议安全性低、渐进复杂度高的瓶颈，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3.9~ 10.0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1.2 ~ 7.8</m:t>
                    </m:r>
                  </m:oMath>
                </a14:m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0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0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3.0~ 36.5</m:t>
                    </m:r>
                  </m:oMath>
                </a14:m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倍，创下了现有方案的最小通信开销记录，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0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我的第一项代表性工作是</a:t>
                </a:r>
                <a:r>
                  <a:rPr lang="zh-CN" altLang="en-US" sz="120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研究安全高效的多方隐私集合求并协议。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面对现有的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多方隐私集合求并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协议安全性低、渐进复杂度高的难题，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我提出了两个方案：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方案一基于不经意传输技术和私钥操作，是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标准半诚实安全模型下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不经意传输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的多方隐私集合求并协议。该协议将之前最先进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𝟑.𝟗~ 𝟏𝟎.𝟎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</a:t>
                </a:r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整体性能提升了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𝟏.𝟐 ~ 𝟕.𝟖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倍，目前仍是最高效的多方隐私集合求并协议；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方案二</a:t>
                </a:r>
                <a:r>
                  <a:rPr lang="zh-CN" altLang="en-US" sz="1200" b="1" kern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基于公钥操作，是首个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实现了</a:t>
                </a:r>
                <a:r>
                  <a:rPr lang="zh-CN" altLang="en-US" sz="12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线性复杂度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多方隐私集合求并协议。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Microsoft YaHei" panose="020B0503020204020204" pitchFamily="34" charset="-122"/>
                    <a:cs typeface="Times New Roman" panose="02020603050405020304" pitchFamily="18" charset="0"/>
                  </a:rPr>
                  <a:t>该协议将之前最先进</a:t>
                </a:r>
                <a:r>
                  <a:rPr lang="zh-CN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协议的整体通信降低了</a:t>
                </a:r>
                <a:r>
                  <a:rPr lang="en-US" altLang="zh-CN" b="1" i="0" dirty="0">
                    <a:latin typeface="Cambria Math" panose="02040503050406030204" pitchFamily="18" charset="0"/>
                  </a:rPr>
                  <a:t>𝟑.𝟎~ 𝟑𝟔.𝟓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倍，创下了现存协议中最小的通信开销记录，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极其适合带宽受限的网络环境</a:t>
                </a:r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。</a:t>
                </a:r>
                <a:endParaRPr kumimoji="1" lang="en-US" altLang="zh-CN" sz="1200" b="1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该研究成果已经发表在</a:t>
                </a:r>
                <a:r>
                  <a:rPr kumimoji="1" lang="en-US" altLang="zh-CN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USENIX Security 2025</a:t>
                </a:r>
                <a:r>
                  <a:rPr kumimoji="1" lang="zh-CN" altLang="en-US" sz="12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58442-A39A-7888-FFE1-399059CE6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D4979-8992-6747-9797-B7BCAD3F2FE1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59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79050-9075-45DC-A50A-B3D80013BA2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56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C1BCB-4420-68E7-4BD4-8297715CA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6082BF-88A7-3713-1D76-E870D956B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7545E-D4D5-5D38-57AB-B5000996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CAA203-7F0F-8E4F-1F00-9B448813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CEA84-E6E3-27E7-AC79-5F465CD3E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56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7C269-A051-38C0-3016-4F4B3406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B223B-A270-C981-74F4-FFEB7553B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2BCB4-180C-0288-A4D1-0BD13151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0CF4E-2421-B8CF-9631-D15A6503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1CAB6-C2B9-59A8-C3F5-53649B35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96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D0735-5F19-08AE-6A69-2859ADA2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018124-8053-A27A-CDFE-1C525EC3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C881F-C607-D14E-CF9E-B39633E6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7C5684-7736-831B-2989-4162605B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EB03B-927E-DBD6-6914-2D608437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6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7968D-AF49-D9E2-A35C-4A7105D0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0DC871-7FE2-0EEF-3ED1-202A4EA4A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129904-BE1A-DED5-EA23-635C1D487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E4EB57-02CF-2C03-4BCE-1BCB0DD5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05571B-298E-4636-8BB5-99135346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3003A-D857-6179-E6BB-EF825253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10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7324B-D1F5-537F-53A2-CFA58F49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C67C90-E529-B4D2-75D6-82E645FF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23B9E3-4DA9-A6BC-906B-CF31DAC7A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659921-3E9D-705B-B0B3-5FA1395BA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064D97-4A3A-4B2A-6D74-B391DD09A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BFCAC5-CC28-0DB7-AC0C-813D1083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AAB515-B72C-8BAD-49A4-9A88750B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5DFC16-21A7-F879-BD68-70DFEA53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75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77475-6BAD-149D-F08A-4D81F896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BFE402-3A05-D4EF-E5FD-AD99A1C2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09FE05-8E50-0B19-A615-22B35A8A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14DE4A-908A-F3BA-3D83-58B5BC1E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74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BF4B5-C4A1-9A47-A9D9-E7709765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47926D-5A66-00DC-F599-2A06C360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267D51-6EA3-9842-B5DA-6B7602A5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94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08263-95A5-B280-CA59-B607867A2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6AB17-62B4-1CDB-8B5A-4987D01B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F392F-1EE5-5E5A-2B10-85B77FA8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DC4A2-23AD-F0CE-93A3-CE328DA9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38C448-312D-AC2C-054D-7012F5B0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5D0D74-0FA0-428F-63FE-A58D6830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59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F90D2-56B3-2601-2F38-4A03DA06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C0B59D-6ECE-493C-8AC0-EF501A12A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B3AC24-6963-D101-04C0-2F982FF8B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8F4AB-6C14-5D77-AD50-93FD1901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6BA416-B444-502D-F3F3-31BE62AC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8936D4-53DD-89E0-52D1-EEDC5B6B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1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7C241-4472-B849-627C-EDF186D4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CB8374-BE3D-7B90-8322-EA65326E1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B46AF-BCF7-EAF9-042D-A05AA507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3C203-2266-3D23-603A-E6209ACA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BB9AA-FCE7-6DB7-AC41-08EA1C51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98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DDF90A-F13F-D43D-18C0-F59358F62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B988AB-3970-C3B6-094F-80698A45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40FA1-D44F-CD4F-5E33-5B578820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35988-09C6-2024-7639-74827075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1EE63-9AD7-EBCE-16F3-A1BBA54B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23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40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C399C9-512E-6CFF-7F07-E9B323B6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603328-4B5A-9C7D-B8C3-72223A492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CEDC47-D7AD-7C48-B7D4-6D3047219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304A0-755E-484D-9484-797055DAECE8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CE046-4E15-88F5-475F-7812357A2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DFD26-403A-E348-1EB4-F20FC142F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0720A-0398-4F0D-87AC-9237FBA32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40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.png"/><Relationship Id="rId1" Type="http://schemas.openxmlformats.org/officeDocument/2006/relationships/tags" Target="../tags/tag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48.jpe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0.png"/><Relationship Id="rId11" Type="http://schemas.openxmlformats.org/officeDocument/2006/relationships/image" Target="../media/image42.png"/><Relationship Id="rId5" Type="http://schemas.openxmlformats.org/officeDocument/2006/relationships/image" Target="../media/image49.png"/><Relationship Id="rId10" Type="http://schemas.openxmlformats.org/officeDocument/2006/relationships/image" Target="../media/image35.png"/><Relationship Id="rId4" Type="http://schemas.openxmlformats.org/officeDocument/2006/relationships/image" Target="../media/image48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9.jp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42.png"/><Relationship Id="rId5" Type="http://schemas.openxmlformats.org/officeDocument/2006/relationships/image" Target="../media/image55.png"/><Relationship Id="rId10" Type="http://schemas.openxmlformats.org/officeDocument/2006/relationships/image" Target="../media/image35.png"/><Relationship Id="rId4" Type="http://schemas.openxmlformats.org/officeDocument/2006/relationships/image" Target="../media/image54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48.jpe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42.png"/><Relationship Id="rId5" Type="http://schemas.openxmlformats.org/officeDocument/2006/relationships/image" Target="NULL"/><Relationship Id="rId10" Type="http://schemas.openxmlformats.org/officeDocument/2006/relationships/image" Target="../media/image35.png"/><Relationship Id="rId4" Type="http://schemas.openxmlformats.org/officeDocument/2006/relationships/image" Target="NULL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34.png"/><Relationship Id="rId5" Type="http://schemas.openxmlformats.org/officeDocument/2006/relationships/image" Target="../media/image39.png"/><Relationship Id="rId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9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67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Relationship Id="rId9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8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77.png"/><Relationship Id="rId12" Type="http://schemas.openxmlformats.org/officeDocument/2006/relationships/image" Target="../media/image8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76.png"/><Relationship Id="rId11" Type="http://schemas.openxmlformats.org/officeDocument/2006/relationships/image" Target="../media/image80.png"/><Relationship Id="rId5" Type="http://schemas.openxmlformats.org/officeDocument/2006/relationships/image" Target="../media/image69.png"/><Relationship Id="rId10" Type="http://schemas.openxmlformats.org/officeDocument/2006/relationships/image" Target="../media/image79.png"/><Relationship Id="rId4" Type="http://schemas.openxmlformats.org/officeDocument/2006/relationships/image" Target="../media/image750.png"/><Relationship Id="rId9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3.png"/><Relationship Id="rId7" Type="http://schemas.openxmlformats.org/officeDocument/2006/relationships/image" Target="../media/image66.sv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4FE982F-70B5-49E7-B1C1-BACE09A382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3443"/>
            <a:ext cx="12191999" cy="168587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FE4019EC-DD5B-4966-AE34-E483114571E5}"/>
              </a:ext>
            </a:extLst>
          </p:cNvPr>
          <p:cNvSpPr/>
          <p:nvPr/>
        </p:nvSpPr>
        <p:spPr>
          <a:xfrm>
            <a:off x="3" y="5183444"/>
            <a:ext cx="12191999" cy="16858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2000">
                <a:srgbClr val="FFFFFF">
                  <a:alpha val="80000"/>
                </a:srgb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12192000" cy="1406137"/>
          </a:xfrm>
          <a:prstGeom prst="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200" y="26098"/>
            <a:ext cx="1421598" cy="13539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1328818-607E-414E-B2A8-41E31D0D7034}"/>
              </a:ext>
            </a:extLst>
          </p:cNvPr>
          <p:cNvSpPr txBox="1"/>
          <p:nvPr/>
        </p:nvSpPr>
        <p:spPr>
          <a:xfrm>
            <a:off x="-4" y="2971682"/>
            <a:ext cx="12192001" cy="7078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zh-CN" altLang="en-US" sz="4000" b="1" spc="600" dirty="0">
                <a:solidFill>
                  <a:srgbClr val="8F0F16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安全多方计算中的多方隐私集合运算研究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AE263A-91EF-4058-99B7-F523B89A24AF}"/>
              </a:ext>
            </a:extLst>
          </p:cNvPr>
          <p:cNvSpPr txBox="1"/>
          <p:nvPr/>
        </p:nvSpPr>
        <p:spPr>
          <a:xfrm>
            <a:off x="4659399" y="4239227"/>
            <a:ext cx="2873197" cy="121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</a:t>
            </a: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辩</a:t>
            </a: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人：董明朗</a:t>
            </a:r>
            <a:endParaRPr lang="en-US" altLang="zh-CN" sz="2000" b="1" dirty="0">
              <a:ln w="3175">
                <a:noFill/>
              </a:ln>
              <a:solidFill>
                <a:srgbClr val="8F0F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指导教师：陈宇教授</a:t>
            </a:r>
            <a:r>
              <a:rPr lang="en-US" altLang="zh-CN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答辩日期：</a:t>
            </a:r>
            <a:r>
              <a:rPr lang="en-US" altLang="zh-CN" sz="2000" b="1" dirty="0">
                <a:ln w="3175">
                  <a:noFill/>
                </a:ln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2026.05.28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C8C465-62B1-49AF-A822-E147B32D192C}"/>
              </a:ext>
            </a:extLst>
          </p:cNvPr>
          <p:cNvSpPr txBox="1"/>
          <p:nvPr/>
        </p:nvSpPr>
        <p:spPr>
          <a:xfrm>
            <a:off x="-106540" y="1939699"/>
            <a:ext cx="12191999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Aft>
                <a:spcPts val="2400"/>
              </a:spcAft>
            </a:pPr>
            <a:r>
              <a:rPr lang="en-US" altLang="zh-CN" sz="3600" b="1" spc="600" dirty="0"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3600" b="1" spc="600" dirty="0"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年博士毕业论文答辩</a:t>
            </a:r>
            <a:endParaRPr lang="en-US" altLang="zh-CN" sz="3600" b="1" spc="600" dirty="0">
              <a:solidFill>
                <a:srgbClr val="8F0F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389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E3B32EA-1D73-4E8D-9F56-1488D7C17A71}"/>
              </a:ext>
            </a:extLst>
          </p:cNvPr>
          <p:cNvSpPr/>
          <p:nvPr/>
        </p:nvSpPr>
        <p:spPr>
          <a:xfrm>
            <a:off x="6583254" y="1451489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FF121D5-E6E6-47B4-8822-3F01D6910779}"/>
              </a:ext>
            </a:extLst>
          </p:cNvPr>
          <p:cNvSpPr/>
          <p:nvPr/>
        </p:nvSpPr>
        <p:spPr>
          <a:xfrm>
            <a:off x="5472387" y="1451489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E6BC288-4D44-4B99-85E5-4EAA3B514CD4}"/>
              </a:ext>
            </a:extLst>
          </p:cNvPr>
          <p:cNvSpPr/>
          <p:nvPr/>
        </p:nvSpPr>
        <p:spPr>
          <a:xfrm>
            <a:off x="6583254" y="2562677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842B3A0-492F-4EB0-8FB0-6071E6AEAEF2}"/>
              </a:ext>
            </a:extLst>
          </p:cNvPr>
          <p:cNvSpPr/>
          <p:nvPr/>
        </p:nvSpPr>
        <p:spPr>
          <a:xfrm>
            <a:off x="5472387" y="2562677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8F19284-4C90-4314-B431-E8CCDB9A45CE}"/>
              </a:ext>
            </a:extLst>
          </p:cNvPr>
          <p:cNvSpPr/>
          <p:nvPr/>
        </p:nvSpPr>
        <p:spPr>
          <a:xfrm>
            <a:off x="6583254" y="3673865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B82870-2F35-418D-B0DE-D679A25F0B68}"/>
              </a:ext>
            </a:extLst>
          </p:cNvPr>
          <p:cNvSpPr/>
          <p:nvPr/>
        </p:nvSpPr>
        <p:spPr>
          <a:xfrm>
            <a:off x="5472387" y="3673865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548D230-36CD-46E8-A3C0-7218B72972E3}"/>
              </a:ext>
            </a:extLst>
          </p:cNvPr>
          <p:cNvSpPr/>
          <p:nvPr/>
        </p:nvSpPr>
        <p:spPr>
          <a:xfrm>
            <a:off x="6583254" y="4785053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FFB5D65-F18C-4F57-A60B-593ED50C2EC3}"/>
              </a:ext>
            </a:extLst>
          </p:cNvPr>
          <p:cNvSpPr/>
          <p:nvPr/>
        </p:nvSpPr>
        <p:spPr>
          <a:xfrm>
            <a:off x="5472387" y="4785053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F5EFAD-C179-4F67-AF90-E0C0384A53E2}"/>
              </a:ext>
            </a:extLst>
          </p:cNvPr>
          <p:cNvSpPr/>
          <p:nvPr/>
        </p:nvSpPr>
        <p:spPr>
          <a:xfrm>
            <a:off x="0" y="1"/>
            <a:ext cx="3752850" cy="6857999"/>
          </a:xfrm>
          <a:prstGeom prst="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8F0F16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A13EDB2-62A3-4FB5-9AB5-39B37547FF74}"/>
              </a:ext>
            </a:extLst>
          </p:cNvPr>
          <p:cNvSpPr/>
          <p:nvPr/>
        </p:nvSpPr>
        <p:spPr>
          <a:xfrm>
            <a:off x="1366395" y="2192893"/>
            <a:ext cx="138371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7200" b="1" dirty="0">
              <a:ln w="3175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 </a:t>
            </a:r>
            <a:endParaRPr lang="zh-CN" altLang="en-US" sz="7200" dirty="0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EBFFAC4-47D5-4C96-AF1D-125DA37FD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69" y="162841"/>
            <a:ext cx="1358312" cy="12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9AE3-3679-34C3-8F87-90346950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A691F98-C3E0-7210-D6A9-BD121A75A06F}"/>
              </a:ext>
            </a:extLst>
          </p:cNvPr>
          <p:cNvSpPr/>
          <p:nvPr/>
        </p:nvSpPr>
        <p:spPr>
          <a:xfrm>
            <a:off x="6583254" y="1451489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F55FC26-394C-0BD1-8C46-2BB77E1D176C}"/>
              </a:ext>
            </a:extLst>
          </p:cNvPr>
          <p:cNvSpPr/>
          <p:nvPr/>
        </p:nvSpPr>
        <p:spPr>
          <a:xfrm>
            <a:off x="5472387" y="1451489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8FE809-D3D9-81AD-FDA5-0BC6D0D8BF5F}"/>
              </a:ext>
            </a:extLst>
          </p:cNvPr>
          <p:cNvSpPr/>
          <p:nvPr/>
        </p:nvSpPr>
        <p:spPr>
          <a:xfrm>
            <a:off x="6583254" y="2562677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298E96-DE2C-71E6-AE2A-0915918E6EF8}"/>
              </a:ext>
            </a:extLst>
          </p:cNvPr>
          <p:cNvSpPr/>
          <p:nvPr/>
        </p:nvSpPr>
        <p:spPr>
          <a:xfrm>
            <a:off x="5472387" y="2562677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894ECE-7C91-874E-1EB8-258A55638C20}"/>
              </a:ext>
            </a:extLst>
          </p:cNvPr>
          <p:cNvSpPr/>
          <p:nvPr/>
        </p:nvSpPr>
        <p:spPr>
          <a:xfrm>
            <a:off x="6583254" y="3673865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92FEF4F-2B60-F72E-556C-AFC9AD712F4D}"/>
              </a:ext>
            </a:extLst>
          </p:cNvPr>
          <p:cNvSpPr/>
          <p:nvPr/>
        </p:nvSpPr>
        <p:spPr>
          <a:xfrm>
            <a:off x="5472387" y="3673865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EADE2F0-6FBB-BB27-FF02-3FB4C943F3C1}"/>
              </a:ext>
            </a:extLst>
          </p:cNvPr>
          <p:cNvSpPr/>
          <p:nvPr/>
        </p:nvSpPr>
        <p:spPr>
          <a:xfrm>
            <a:off x="6583254" y="4785053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8927E63-9839-EF5D-6A1D-2E02ACA152EC}"/>
              </a:ext>
            </a:extLst>
          </p:cNvPr>
          <p:cNvSpPr/>
          <p:nvPr/>
        </p:nvSpPr>
        <p:spPr>
          <a:xfrm>
            <a:off x="5472387" y="4785053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596F5F-FAB6-39E0-6DBC-23BC4BB8E972}"/>
              </a:ext>
            </a:extLst>
          </p:cNvPr>
          <p:cNvSpPr/>
          <p:nvPr/>
        </p:nvSpPr>
        <p:spPr>
          <a:xfrm>
            <a:off x="0" y="1"/>
            <a:ext cx="3752850" cy="6857999"/>
          </a:xfrm>
          <a:prstGeom prst="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8F0F16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01ADFB9-C656-F661-F444-B60F93B5BEAD}"/>
              </a:ext>
            </a:extLst>
          </p:cNvPr>
          <p:cNvSpPr/>
          <p:nvPr/>
        </p:nvSpPr>
        <p:spPr>
          <a:xfrm>
            <a:off x="1366395" y="2192893"/>
            <a:ext cx="138371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7200" b="1" dirty="0">
              <a:ln w="3175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 </a:t>
            </a:r>
            <a:endParaRPr lang="zh-CN" altLang="en-US" sz="7200" dirty="0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E88E0B9-A29E-457B-0FE4-9EA52FA1C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69" y="162841"/>
            <a:ext cx="1358312" cy="12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7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95794" y="64295"/>
            <a:ext cx="2429197" cy="884238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416D557-32EA-B0F7-A8B6-B5BAED14841E}"/>
              </a:ext>
            </a:extLst>
          </p:cNvPr>
          <p:cNvGrpSpPr>
            <a:grpSpLocks noChangeAspect="1"/>
          </p:cNvGrpSpPr>
          <p:nvPr/>
        </p:nvGrpSpPr>
        <p:grpSpPr>
          <a:xfrm>
            <a:off x="337129" y="948533"/>
            <a:ext cx="5512631" cy="3290689"/>
            <a:chOff x="120867" y="2137015"/>
            <a:chExt cx="5776531" cy="3448220"/>
          </a:xfrm>
        </p:grpSpPr>
        <p:sp>
          <p:nvSpPr>
            <p:cNvPr id="44" name="矩形: 圆角 42"/>
            <p:cNvSpPr/>
            <p:nvPr/>
          </p:nvSpPr>
          <p:spPr>
            <a:xfrm>
              <a:off x="190343" y="2137015"/>
              <a:ext cx="5664068" cy="694090"/>
            </a:xfrm>
            <a:prstGeom prst="roundRect">
              <a:avLst>
                <a:gd name="adj" fmla="val 9097"/>
              </a:avLst>
            </a:prstGeom>
            <a:solidFill>
              <a:srgbClr val="1E6B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数据安全事件频发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343" y="2923144"/>
              <a:ext cx="1752909" cy="1295585"/>
            </a:xfrm>
            <a:prstGeom prst="rect">
              <a:avLst/>
            </a:prstGeom>
            <a:noFill/>
            <a:ln w="9525">
              <a:solidFill>
                <a:srgbClr val="001F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46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222" y="2912187"/>
              <a:ext cx="2070506" cy="1296381"/>
            </a:xfrm>
            <a:prstGeom prst="rect">
              <a:avLst/>
            </a:prstGeom>
            <a:noFill/>
            <a:ln w="9525">
              <a:solidFill>
                <a:srgbClr val="001F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729" y="2895178"/>
              <a:ext cx="1783013" cy="1313389"/>
            </a:xfrm>
            <a:prstGeom prst="rect">
              <a:avLst/>
            </a:prstGeom>
            <a:noFill/>
            <a:ln w="9525">
              <a:solidFill>
                <a:srgbClr val="001F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867" y="4289650"/>
              <a:ext cx="2877609" cy="1295585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19789" y="4261561"/>
              <a:ext cx="2877609" cy="1295585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65940C7-A9B6-A56D-1BDE-42A00BC41F6E}"/>
              </a:ext>
            </a:extLst>
          </p:cNvPr>
          <p:cNvGrpSpPr>
            <a:grpSpLocks noChangeAspect="1"/>
          </p:cNvGrpSpPr>
          <p:nvPr/>
        </p:nvGrpSpPr>
        <p:grpSpPr>
          <a:xfrm>
            <a:off x="6241520" y="948533"/>
            <a:ext cx="5650433" cy="3178621"/>
            <a:chOff x="6306174" y="2145665"/>
            <a:chExt cx="5694740" cy="3203546"/>
          </a:xfrm>
        </p:grpSpPr>
        <p:sp>
          <p:nvSpPr>
            <p:cNvPr id="49" name="矩形: 圆角 42"/>
            <p:cNvSpPr/>
            <p:nvPr/>
          </p:nvSpPr>
          <p:spPr>
            <a:xfrm>
              <a:off x="6336846" y="2145665"/>
              <a:ext cx="5664068" cy="708900"/>
            </a:xfrm>
            <a:prstGeom prst="roundRect">
              <a:avLst>
                <a:gd name="adj" fmla="val 9097"/>
              </a:avLst>
            </a:prstGeom>
            <a:solidFill>
              <a:srgbClr val="1E6B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多项法律法规发布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2E00E3A-4BA0-3DBF-8704-B4B8E244C30D}"/>
                </a:ext>
              </a:extLst>
            </p:cNvPr>
            <p:cNvGrpSpPr/>
            <p:nvPr/>
          </p:nvGrpSpPr>
          <p:grpSpPr>
            <a:xfrm>
              <a:off x="6306174" y="2962000"/>
              <a:ext cx="5657367" cy="2387211"/>
              <a:chOff x="6336846" y="3146370"/>
              <a:chExt cx="5657367" cy="2387211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B43145D5-F4EC-4404-ACAB-CC5500CDF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57336" y="3159188"/>
                <a:ext cx="1736877" cy="2361573"/>
              </a:xfrm>
              <a:prstGeom prst="rect">
                <a:avLst/>
              </a:prstGeom>
            </p:spPr>
          </p:pic>
          <p:pic>
            <p:nvPicPr>
              <p:cNvPr id="24" name="Picture 4" descr="下载中心-豪符密码检测技术（成都）有限责任公司"/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485" r="31689"/>
              <a:stretch/>
            </p:blipFill>
            <p:spPr bwMode="auto">
              <a:xfrm>
                <a:off x="8345421" y="3165221"/>
                <a:ext cx="1729309" cy="23597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07869BC3-A1E5-4B4C-9F8C-C17160225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36846" y="3146370"/>
                <a:ext cx="1817768" cy="2387211"/>
              </a:xfrm>
              <a:prstGeom prst="rect">
                <a:avLst/>
              </a:prstGeom>
            </p:spPr>
          </p:pic>
        </p:grpSp>
      </p:grpSp>
      <p:cxnSp>
        <p:nvCxnSpPr>
          <p:cNvPr id="30" name="Straight Connector 18">
            <a:extLst>
              <a:ext uri="{FF2B5EF4-FFF2-40B4-BE49-F238E27FC236}">
                <a16:creationId xmlns:a16="http://schemas.microsoft.com/office/drawing/2014/main" id="{7D8DE2AB-06D1-7F3C-909C-D883E969CC7A}"/>
              </a:ext>
            </a:extLst>
          </p:cNvPr>
          <p:cNvCxnSpPr>
            <a:cxnSpLocks/>
          </p:cNvCxnSpPr>
          <p:nvPr/>
        </p:nvCxnSpPr>
        <p:spPr>
          <a:xfrm flipV="1">
            <a:off x="0" y="779988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灯片编号占位符 3">
            <a:extLst>
              <a:ext uri="{FF2B5EF4-FFF2-40B4-BE49-F238E27FC236}">
                <a16:creationId xmlns:a16="http://schemas.microsoft.com/office/drawing/2014/main" id="{465BE1B9-ED12-4929-9707-360751DF73E8}"/>
              </a:ext>
            </a:extLst>
          </p:cNvPr>
          <p:cNvSpPr txBox="1">
            <a:spLocks/>
          </p:cNvSpPr>
          <p:nvPr/>
        </p:nvSpPr>
        <p:spPr>
          <a:xfrm>
            <a:off x="11771950" y="6529327"/>
            <a:ext cx="383183" cy="269575"/>
          </a:xfrm>
          <a:prstGeom prst="rect">
            <a:avLst/>
          </a:prstGeom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B6C5489-EB38-4FFA-9020-2A9E4124124F}" type="slidenum">
              <a:rPr lang="en-US" altLang="zh-CN" sz="2000" b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r">
                <a:defRPr/>
              </a:pPr>
              <a:t>4</a:t>
            </a:fld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A1B7B8FF-08A4-132C-F656-1952208D8428}"/>
              </a:ext>
            </a:extLst>
          </p:cNvPr>
          <p:cNvSpPr txBox="1"/>
          <p:nvPr/>
        </p:nvSpPr>
        <p:spPr>
          <a:xfrm>
            <a:off x="355700" y="3587197"/>
            <a:ext cx="11499170" cy="632866"/>
          </a:xfrm>
          <a:prstGeom prst="rect">
            <a:avLst/>
          </a:prstGeom>
          <a:solidFill>
            <a:srgbClr val="8F0F16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数字经济时代：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成为经济增长的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关键生产要素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145E174-C2B6-FAB6-2C13-88438D35F493}"/>
              </a:ext>
            </a:extLst>
          </p:cNvPr>
          <p:cNvGrpSpPr/>
          <p:nvPr/>
        </p:nvGrpSpPr>
        <p:grpSpPr>
          <a:xfrm>
            <a:off x="6123067" y="4300250"/>
            <a:ext cx="5754256" cy="2478792"/>
            <a:chOff x="6123067" y="4298438"/>
            <a:chExt cx="5791483" cy="2614477"/>
          </a:xfrm>
        </p:grpSpPr>
        <p:sp>
          <p:nvSpPr>
            <p:cNvPr id="17" name="矩形: 圆角 42">
              <a:extLst>
                <a:ext uri="{FF2B5EF4-FFF2-40B4-BE49-F238E27FC236}">
                  <a16:creationId xmlns:a16="http://schemas.microsoft.com/office/drawing/2014/main" id="{BB1DBAD0-913C-D669-11BD-9DCED65CE7E7}"/>
                </a:ext>
              </a:extLst>
            </p:cNvPr>
            <p:cNvSpPr/>
            <p:nvPr/>
          </p:nvSpPr>
          <p:spPr>
            <a:xfrm>
              <a:off x="6227884" y="4298438"/>
              <a:ext cx="5664068" cy="656687"/>
            </a:xfrm>
            <a:prstGeom prst="roundRect">
              <a:avLst>
                <a:gd name="adj" fmla="val 9097"/>
              </a:avLst>
            </a:prstGeom>
            <a:solidFill>
              <a:srgbClr val="1E6BA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国家各种政策积极支持隐私计算发展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0DDB6745-CA66-D7AD-2973-55BF58D5A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23067" y="4997729"/>
              <a:ext cx="3196023" cy="56193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E544D9D-7AC0-1F05-F663-1B25F3734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240630" y="5605117"/>
              <a:ext cx="5651322" cy="394114"/>
            </a:xfrm>
            <a:prstGeom prst="rect">
              <a:avLst/>
            </a:prstGeom>
            <a:ln w="12700">
              <a:solidFill>
                <a:srgbClr val="C00000"/>
              </a:solidFill>
            </a:ln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EE64061-E04B-9F86-EC44-86DE0B4EF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50482" y="6077478"/>
              <a:ext cx="5664068" cy="533623"/>
            </a:xfrm>
            <a:prstGeom prst="rect">
              <a:avLst/>
            </a:prstGeom>
            <a:ln w="12700">
              <a:solidFill>
                <a:srgbClr val="C00000"/>
              </a:solidFill>
            </a:ln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C3490BC-0673-7C86-F44C-26B033B37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74259" y="5052844"/>
              <a:ext cx="2300111" cy="474027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36572B7-45B5-081D-53A3-D2841D297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698082" y="6689347"/>
              <a:ext cx="4827046" cy="223568"/>
            </a:xfrm>
            <a:prstGeom prst="rect">
              <a:avLst/>
            </a:prstGeom>
            <a:ln w="12700">
              <a:solidFill>
                <a:srgbClr val="C00000"/>
              </a:solidFill>
            </a:ln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9183E5E-20A4-BF2E-6772-BBB4AE179EBD}"/>
              </a:ext>
            </a:extLst>
          </p:cNvPr>
          <p:cNvGrpSpPr/>
          <p:nvPr/>
        </p:nvGrpSpPr>
        <p:grpSpPr>
          <a:xfrm>
            <a:off x="378152" y="4300251"/>
            <a:ext cx="5471608" cy="2459687"/>
            <a:chOff x="337129" y="4293514"/>
            <a:chExt cx="5664068" cy="2602220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D5C2DADD-6EEC-0D1B-041E-F40F6F8AB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37129" y="5052134"/>
              <a:ext cx="3321511" cy="1843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FBD71EAE-F649-61CE-7234-AC7F662D0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696912" y="5052134"/>
              <a:ext cx="2300111" cy="1843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9" name="矩形: 圆角 42">
              <a:extLst>
                <a:ext uri="{FF2B5EF4-FFF2-40B4-BE49-F238E27FC236}">
                  <a16:creationId xmlns:a16="http://schemas.microsoft.com/office/drawing/2014/main" id="{67DA9008-05A1-DD2D-0180-CA72A33A364E}"/>
                </a:ext>
              </a:extLst>
            </p:cNvPr>
            <p:cNvSpPr/>
            <p:nvPr/>
          </p:nvSpPr>
          <p:spPr>
            <a:xfrm>
              <a:off x="337129" y="4293514"/>
              <a:ext cx="5664068" cy="659420"/>
            </a:xfrm>
            <a:prstGeom prst="roundRect">
              <a:avLst>
                <a:gd name="adj" fmla="val 9097"/>
              </a:avLst>
            </a:prstGeom>
            <a:solidFill>
              <a:srgbClr val="1E6BA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隐私计算应用产品数量逐年递增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TextBox 2">
            <a:extLst>
              <a:ext uri="{FF2B5EF4-FFF2-40B4-BE49-F238E27FC236}">
                <a16:creationId xmlns:a16="http://schemas.microsoft.com/office/drawing/2014/main" id="{CBF9F421-1AE7-12E2-B291-C8ABC79D817D}"/>
              </a:ext>
            </a:extLst>
          </p:cNvPr>
          <p:cNvSpPr txBox="1"/>
          <p:nvPr/>
        </p:nvSpPr>
        <p:spPr>
          <a:xfrm>
            <a:off x="378152" y="6201258"/>
            <a:ext cx="11517741" cy="632866"/>
          </a:xfrm>
          <a:prstGeom prst="rect">
            <a:avLst/>
          </a:prstGeom>
          <a:solidFill>
            <a:srgbClr val="8F0F16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隐私计算：保障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数据安全流通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打破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数据孤岛</a:t>
            </a:r>
            <a:r>
              <a:rPr lang="zh-CN" alt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、释放</a:t>
            </a:r>
            <a:r>
              <a:rPr lang="zh-CN" altLang="en-US" sz="32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数据价值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76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82"/>
    </mc:Choice>
    <mc:Fallback xmlns="">
      <p:transition spd="slow" advTm="20682"/>
    </mc:Fallback>
  </mc:AlternateContent>
  <p:extLst>
    <p:ext uri="{E180D4A7-C9FB-4DFB-919C-405C955672EB}">
      <p14:showEvtLst xmlns:p14="http://schemas.microsoft.com/office/powerpoint/2010/main">
        <p14:playEvt time="4" objId="8"/>
        <p14:stopEvt time="20682" objId="8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4294967295"/>
          </p:nvPr>
        </p:nvSpPr>
        <p:spPr>
          <a:xfrm>
            <a:off x="0" y="65088"/>
            <a:ext cx="3261946" cy="884237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b="1" dirty="0">
                <a:solidFill>
                  <a:srgbClr val="8F0F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安全多方计算</a:t>
            </a:r>
          </a:p>
        </p:txBody>
      </p:sp>
      <p:sp>
        <p:nvSpPr>
          <p:cNvPr id="10" name="矩形: 圆角 42"/>
          <p:cNvSpPr/>
          <p:nvPr/>
        </p:nvSpPr>
        <p:spPr>
          <a:xfrm>
            <a:off x="139740" y="1880008"/>
            <a:ext cx="5622576" cy="707435"/>
          </a:xfrm>
          <a:prstGeom prst="roundRect">
            <a:avLst>
              <a:gd name="adj" fmla="val 9097"/>
            </a:avLst>
          </a:prstGeom>
          <a:solidFill>
            <a:srgbClr val="1E6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功能强大，可计算任意函数</a:t>
            </a:r>
            <a:endParaRPr lang="zh-CN" altLang="en-US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下箭头 42"/>
          <p:cNvSpPr/>
          <p:nvPr/>
        </p:nvSpPr>
        <p:spPr>
          <a:xfrm rot="16200000">
            <a:off x="1564821" y="4819628"/>
            <a:ext cx="329550" cy="384950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944431" y="4832651"/>
            <a:ext cx="2502993" cy="39655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乱码电路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不经意传输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44431" y="5311967"/>
            <a:ext cx="2502993" cy="39655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b="1" kern="0" noProof="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秘密分享</a:t>
            </a:r>
            <a:r>
              <a:rPr kumimoji="1" lang="en-US" altLang="zh-CN" b="1" kern="0" noProof="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kumimoji="1" lang="zh-CN" altLang="en-US" b="1" kern="0" noProof="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不经意传输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下箭头 45"/>
          <p:cNvSpPr/>
          <p:nvPr/>
        </p:nvSpPr>
        <p:spPr>
          <a:xfrm rot="16200000">
            <a:off x="1564823" y="5344304"/>
            <a:ext cx="329550" cy="384952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kumimoji="1" lang="zh-CN" altLang="en-US" sz="1350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下箭头 46"/>
          <p:cNvSpPr/>
          <p:nvPr/>
        </p:nvSpPr>
        <p:spPr>
          <a:xfrm rot="16200000">
            <a:off x="4491586" y="5089829"/>
            <a:ext cx="329550" cy="339089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/>
            <a:endParaRPr kumimoji="1" lang="zh-CN" altLang="en-US" sz="1350" kern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" name="Straight Connector 18">
            <a:extLst>
              <a:ext uri="{FF2B5EF4-FFF2-40B4-BE49-F238E27FC236}">
                <a16:creationId xmlns:a16="http://schemas.microsoft.com/office/drawing/2014/main" id="{7D8DE2AB-06D1-7F3C-909C-D883E969CC7A}"/>
              </a:ext>
            </a:extLst>
          </p:cNvPr>
          <p:cNvCxnSpPr>
            <a:cxnSpLocks/>
          </p:cNvCxnSpPr>
          <p:nvPr/>
        </p:nvCxnSpPr>
        <p:spPr>
          <a:xfrm flipV="1">
            <a:off x="0" y="788191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42">
            <a:extLst>
              <a:ext uri="{FF2B5EF4-FFF2-40B4-BE49-F238E27FC236}">
                <a16:creationId xmlns:a16="http://schemas.microsoft.com/office/drawing/2014/main" id="{DC3F1C62-46F9-181C-D9B1-FB8F427D7008}"/>
              </a:ext>
            </a:extLst>
          </p:cNvPr>
          <p:cNvSpPr/>
          <p:nvPr/>
        </p:nvSpPr>
        <p:spPr>
          <a:xfrm>
            <a:off x="139740" y="4787968"/>
            <a:ext cx="1323507" cy="942245"/>
          </a:xfrm>
          <a:prstGeom prst="roundRect">
            <a:avLst>
              <a:gd name="adj" fmla="val 9097"/>
            </a:avLst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pc="3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任意函数</a:t>
            </a:r>
            <a:endParaRPr lang="en-US" altLang="zh-CN" b="1" spc="3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b="1" spc="3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电路转化</a:t>
            </a:r>
            <a:endParaRPr lang="zh-CN" altLang="en-US" b="1" spc="3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42">
            <a:extLst>
              <a:ext uri="{FF2B5EF4-FFF2-40B4-BE49-F238E27FC236}">
                <a16:creationId xmlns:a16="http://schemas.microsoft.com/office/drawing/2014/main" id="{1BA8299B-C280-1E2D-8021-429C36ED3221}"/>
              </a:ext>
            </a:extLst>
          </p:cNvPr>
          <p:cNvSpPr/>
          <p:nvPr/>
        </p:nvSpPr>
        <p:spPr>
          <a:xfrm>
            <a:off x="4853282" y="4847328"/>
            <a:ext cx="949956" cy="861195"/>
          </a:xfrm>
          <a:prstGeom prst="roundRect">
            <a:avLst>
              <a:gd name="adj" fmla="val 9097"/>
            </a:avLst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pc="3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计算</a:t>
            </a:r>
            <a:endParaRPr lang="en-US" altLang="zh-CN" b="1" spc="3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b="1" spc="3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结果</a:t>
            </a:r>
            <a:endParaRPr lang="en-US" altLang="zh-CN" b="1" spc="3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灯片编号占位符 3">
            <a:extLst>
              <a:ext uri="{FF2B5EF4-FFF2-40B4-BE49-F238E27FC236}">
                <a16:creationId xmlns:a16="http://schemas.microsoft.com/office/drawing/2014/main" id="{40495A12-2376-4F3D-9C26-842F5779A331}"/>
              </a:ext>
            </a:extLst>
          </p:cNvPr>
          <p:cNvSpPr txBox="1">
            <a:spLocks/>
          </p:cNvSpPr>
          <p:nvPr/>
        </p:nvSpPr>
        <p:spPr>
          <a:xfrm>
            <a:off x="11771950" y="6529327"/>
            <a:ext cx="383183" cy="269575"/>
          </a:xfrm>
          <a:prstGeom prst="rect">
            <a:avLst/>
          </a:prstGeom>
        </p:spPr>
        <p:txBody>
          <a:bodyPr lIns="0" tIns="0" rIns="0" bIns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B6C5489-EB38-4FFA-9020-2A9E4124124F}" type="slidenum">
              <a:rPr lang="en-US" altLang="zh-CN" sz="2000" b="1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algn="r">
                <a:defRPr/>
              </a:pPr>
              <a:t>5</a:t>
            </a:fld>
            <a:endParaRPr lang="en-US" altLang="zh-CN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: 圆角 42">
            <a:extLst>
              <a:ext uri="{FF2B5EF4-FFF2-40B4-BE49-F238E27FC236}">
                <a16:creationId xmlns:a16="http://schemas.microsoft.com/office/drawing/2014/main" id="{A18C405C-5A01-A55C-3C11-943E7F492E38}"/>
              </a:ext>
            </a:extLst>
          </p:cNvPr>
          <p:cNvSpPr/>
          <p:nvPr/>
        </p:nvSpPr>
        <p:spPr>
          <a:xfrm>
            <a:off x="6254626" y="1878397"/>
            <a:ext cx="5664068" cy="705916"/>
          </a:xfrm>
          <a:prstGeom prst="roundRect">
            <a:avLst>
              <a:gd name="adj" fmla="val 9097"/>
            </a:avLst>
          </a:prstGeom>
          <a:solidFill>
            <a:srgbClr val="1E6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可证明安全，实际使用占比高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0A3CC60-FB2F-A1A0-A1E8-1BD2604D0A43}"/>
              </a:ext>
            </a:extLst>
          </p:cNvPr>
          <p:cNvGrpSpPr/>
          <p:nvPr/>
        </p:nvGrpSpPr>
        <p:grpSpPr>
          <a:xfrm>
            <a:off x="204975" y="2643059"/>
            <a:ext cx="5598263" cy="2061517"/>
            <a:chOff x="255059" y="1763753"/>
            <a:chExt cx="5598263" cy="2061517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BE20856-28E9-274E-2A3E-37427E2BD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059" y="1763753"/>
              <a:ext cx="5598263" cy="199390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60629D8-5D53-0AD5-EB95-85A9BED5295E}"/>
                </a:ext>
              </a:extLst>
            </p:cNvPr>
            <p:cNvSpPr/>
            <p:nvPr/>
          </p:nvSpPr>
          <p:spPr>
            <a:xfrm>
              <a:off x="4940812" y="3367454"/>
              <a:ext cx="909034" cy="457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87F8090-5EE0-FFAE-D32B-0104A90CBED4}"/>
              </a:ext>
            </a:extLst>
          </p:cNvPr>
          <p:cNvGrpSpPr/>
          <p:nvPr/>
        </p:nvGrpSpPr>
        <p:grpSpPr>
          <a:xfrm>
            <a:off x="6254626" y="2649649"/>
            <a:ext cx="4220337" cy="1993902"/>
            <a:chOff x="6507645" y="1736857"/>
            <a:chExt cx="5455896" cy="2666001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96BF45DE-AB76-5E2B-8EE4-9B7A96CE2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7645" y="1736857"/>
              <a:ext cx="5367108" cy="2666001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9F3C1925-D4C7-11E5-A409-7C87F7D0F57C}"/>
                </a:ext>
              </a:extLst>
            </p:cNvPr>
            <p:cNvSpPr/>
            <p:nvPr/>
          </p:nvSpPr>
          <p:spPr>
            <a:xfrm>
              <a:off x="11054507" y="3912901"/>
              <a:ext cx="909034" cy="457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1671F4A2-084F-CEEF-0FE7-1376B9145E6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59" r="1601"/>
          <a:stretch/>
        </p:blipFill>
        <p:spPr>
          <a:xfrm>
            <a:off x="10431432" y="4362175"/>
            <a:ext cx="1469901" cy="150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F66E847-4492-1FD7-2193-2FCA59542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072" y="2710686"/>
            <a:ext cx="1504622" cy="150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2B251AE8-1450-A392-7139-D5A20FAE23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952" y="4724108"/>
            <a:ext cx="1666703" cy="1147328"/>
          </a:xfrm>
          <a:prstGeom prst="rect">
            <a:avLst/>
          </a:prstGeom>
          <a:ln>
            <a:noFill/>
          </a:ln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0E5CE96-72CE-CB3C-773B-F9765A363D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551" y="4724108"/>
            <a:ext cx="1664624" cy="1199548"/>
          </a:xfrm>
          <a:prstGeom prst="rect">
            <a:avLst/>
          </a:prstGeom>
          <a:ln>
            <a:noFill/>
          </a:ln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EB385287-B3EA-8D15-05AA-5DF89644D309}"/>
              </a:ext>
            </a:extLst>
          </p:cNvPr>
          <p:cNvGrpSpPr/>
          <p:nvPr/>
        </p:nvGrpSpPr>
        <p:grpSpPr>
          <a:xfrm>
            <a:off x="36867" y="5853059"/>
            <a:ext cx="12096205" cy="1070373"/>
            <a:chOff x="-288152" y="899791"/>
            <a:chExt cx="8913628" cy="1070373"/>
          </a:xfrm>
        </p:grpSpPr>
        <p:sp>
          <p:nvSpPr>
            <p:cNvPr id="51" name="圆角矩形 1">
              <a:extLst>
                <a:ext uri="{FF2B5EF4-FFF2-40B4-BE49-F238E27FC236}">
                  <a16:creationId xmlns:a16="http://schemas.microsoft.com/office/drawing/2014/main" id="{72596794-1BC1-50EC-AD05-D288651800FF}"/>
                </a:ext>
              </a:extLst>
            </p:cNvPr>
            <p:cNvSpPr/>
            <p:nvPr/>
          </p:nvSpPr>
          <p:spPr>
            <a:xfrm>
              <a:off x="-120678" y="1094918"/>
              <a:ext cx="8621867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圆角矩形 1">
              <a:extLst>
                <a:ext uri="{FF2B5EF4-FFF2-40B4-BE49-F238E27FC236}">
                  <a16:creationId xmlns:a16="http://schemas.microsoft.com/office/drawing/2014/main" id="{51C19761-7CCD-DAC7-9905-4233CA0C6C71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安全多方计算：隐私计算的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“最优技术解”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核心密码技术</a:t>
              </a:r>
            </a:p>
          </p:txBody>
        </p:sp>
      </p:grpSp>
      <p:sp>
        <p:nvSpPr>
          <p:cNvPr id="55" name="圆角矩形 1">
            <a:extLst>
              <a:ext uri="{FF2B5EF4-FFF2-40B4-BE49-F238E27FC236}">
                <a16:creationId xmlns:a16="http://schemas.microsoft.com/office/drawing/2014/main" id="{DCC537F5-6B88-4A08-B730-33649A171E2E}"/>
              </a:ext>
            </a:extLst>
          </p:cNvPr>
          <p:cNvSpPr/>
          <p:nvPr/>
        </p:nvSpPr>
        <p:spPr>
          <a:xfrm>
            <a:off x="139740" y="1057579"/>
            <a:ext cx="11880239" cy="664310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圆角矩形 1">
            <a:extLst>
              <a:ext uri="{FF2B5EF4-FFF2-40B4-BE49-F238E27FC236}">
                <a16:creationId xmlns:a16="http://schemas.microsoft.com/office/drawing/2014/main" id="{BF57A8F5-F936-FD82-0AB8-665A4527E901}"/>
              </a:ext>
            </a:extLst>
          </p:cNvPr>
          <p:cNvSpPr/>
          <p:nvPr/>
        </p:nvSpPr>
        <p:spPr>
          <a:xfrm>
            <a:off x="3012473" y="1092591"/>
            <a:ext cx="8827209" cy="650818"/>
          </a:xfrm>
          <a:prstGeom prst="roundRect">
            <a:avLst>
              <a:gd name="adj" fmla="val 470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just"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允许多个参与方以</a:t>
            </a:r>
            <a:r>
              <a:rPr kumimoji="1"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“最小隐私泄漏”</a:t>
            </a:r>
            <a:r>
              <a:rPr kumimoji="1"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完成联合计算任务</a:t>
            </a:r>
          </a:p>
        </p:txBody>
      </p:sp>
      <p:sp>
        <p:nvSpPr>
          <p:cNvPr id="57" name="矩形: 圆角 27">
            <a:extLst>
              <a:ext uri="{FF2B5EF4-FFF2-40B4-BE49-F238E27FC236}">
                <a16:creationId xmlns:a16="http://schemas.microsoft.com/office/drawing/2014/main" id="{1987EE6E-C4A1-C7E4-18BA-4B11CE339B7D}"/>
              </a:ext>
            </a:extLst>
          </p:cNvPr>
          <p:cNvSpPr/>
          <p:nvPr/>
        </p:nvSpPr>
        <p:spPr>
          <a:xfrm>
            <a:off x="139740" y="1058627"/>
            <a:ext cx="2668991" cy="666000"/>
          </a:xfrm>
          <a:prstGeom prst="roundRect">
            <a:avLst>
              <a:gd name="adj" fmla="val 8538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14000"/>
              </a:lnSpc>
              <a:spcBef>
                <a:spcPct val="0"/>
              </a:spcBef>
            </a:pPr>
            <a:r>
              <a:rPr lang="zh-CN" altLang="en-US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安全多方计算</a:t>
            </a:r>
            <a:endParaRPr lang="en-US" altLang="zh-CN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562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82"/>
    </mc:Choice>
    <mc:Fallback xmlns="">
      <p:transition spd="slow" advTm="20682"/>
    </mc:Fallback>
  </mc:AlternateContent>
  <p:extLst>
    <p:ext uri="{E180D4A7-C9FB-4DFB-919C-405C955672EB}">
      <p14:showEvtLst xmlns:p14="http://schemas.microsoft.com/office/powerpoint/2010/main">
        <p14:playEvt time="4" objId="8"/>
        <p14:stopEvt time="20682" objId="8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5761" name="组合 3145760">
            <a:extLst>
              <a:ext uri="{FF2B5EF4-FFF2-40B4-BE49-F238E27FC236}">
                <a16:creationId xmlns:a16="http://schemas.microsoft.com/office/drawing/2014/main" id="{64E9A085-AA19-6012-4696-D3450DBF3FDE}"/>
              </a:ext>
            </a:extLst>
          </p:cNvPr>
          <p:cNvGrpSpPr/>
          <p:nvPr/>
        </p:nvGrpSpPr>
        <p:grpSpPr>
          <a:xfrm>
            <a:off x="-1542204" y="585483"/>
            <a:ext cx="6503139" cy="3714133"/>
            <a:chOff x="-1776563" y="560034"/>
            <a:chExt cx="7095479" cy="3988122"/>
          </a:xfrm>
        </p:grpSpPr>
        <p:pic>
          <p:nvPicPr>
            <p:cNvPr id="3145757" name="图片 3145756">
              <a:extLst>
                <a:ext uri="{FF2B5EF4-FFF2-40B4-BE49-F238E27FC236}">
                  <a16:creationId xmlns:a16="http://schemas.microsoft.com/office/drawing/2014/main" id="{658BDF71-362D-719D-65F6-6F295C212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76563" y="560034"/>
              <a:ext cx="7095479" cy="3988122"/>
            </a:xfrm>
            <a:prstGeom prst="rect">
              <a:avLst/>
            </a:prstGeom>
          </p:spPr>
        </p:pic>
        <p:sp>
          <p:nvSpPr>
            <p:cNvPr id="3145760" name="矩形 3145759">
              <a:extLst>
                <a:ext uri="{FF2B5EF4-FFF2-40B4-BE49-F238E27FC236}">
                  <a16:creationId xmlns:a16="http://schemas.microsoft.com/office/drawing/2014/main" id="{F353871B-AFAD-6082-C332-54E760A1C8F6}"/>
                </a:ext>
              </a:extLst>
            </p:cNvPr>
            <p:cNvSpPr/>
            <p:nvPr/>
          </p:nvSpPr>
          <p:spPr>
            <a:xfrm>
              <a:off x="3930678" y="3931033"/>
              <a:ext cx="1342775" cy="5268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标题 4">
            <a:extLst>
              <a:ext uri="{FF2B5EF4-FFF2-40B4-BE49-F238E27FC236}">
                <a16:creationId xmlns:a16="http://schemas.microsoft.com/office/drawing/2014/main" id="{5050BDE8-6AA1-BE40-9B4B-EABE8AC1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隐私集合运算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7D8DE2AB-06D1-7F3C-909C-D883E969CC7A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1"/>
          <p:cNvGrpSpPr/>
          <p:nvPr/>
        </p:nvGrpSpPr>
        <p:grpSpPr>
          <a:xfrm>
            <a:off x="-9186" y="4400240"/>
            <a:ext cx="12305395" cy="1523283"/>
            <a:chOff x="1845052" y="4713594"/>
            <a:chExt cx="12305395" cy="1523283"/>
          </a:xfrm>
        </p:grpSpPr>
        <p:grpSp>
          <p:nvGrpSpPr>
            <p:cNvPr id="91" name="组合 38"/>
            <p:cNvGrpSpPr/>
            <p:nvPr/>
          </p:nvGrpSpPr>
          <p:grpSpPr>
            <a:xfrm>
              <a:off x="1845052" y="4713594"/>
              <a:ext cx="11543532" cy="1508745"/>
              <a:chOff x="1510084" y="1098774"/>
              <a:chExt cx="11543532" cy="1508745"/>
            </a:xfrm>
          </p:grpSpPr>
          <p:cxnSp>
            <p:nvCxnSpPr>
              <p:cNvPr id="3145728" name="Straight Arrow Connector 2"/>
              <p:cNvCxnSpPr>
                <a:cxnSpLocks/>
                <a:stCxn id="1048589" idx="2"/>
              </p:cNvCxnSpPr>
              <p:nvPr/>
            </p:nvCxnSpPr>
            <p:spPr>
              <a:xfrm>
                <a:off x="2088638" y="2120097"/>
                <a:ext cx="10964978" cy="49850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8589" name="Oval 9"/>
              <p:cNvSpPr/>
              <p:nvPr/>
            </p:nvSpPr>
            <p:spPr>
              <a:xfrm>
                <a:off x="2088638" y="2032770"/>
                <a:ext cx="164386" cy="17465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1048590" name="TextBox 10"/>
              <p:cNvSpPr txBox="1"/>
              <p:nvPr/>
            </p:nvSpPr>
            <p:spPr>
              <a:xfrm>
                <a:off x="1510084" y="1350139"/>
                <a:ext cx="163583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Freedman</a:t>
                </a:r>
                <a:r>
                  <a:rPr lang="zh-CN" altLang="en-US" sz="2000" b="1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等引入概念</a:t>
                </a:r>
              </a:p>
            </p:txBody>
          </p:sp>
          <p:sp>
            <p:nvSpPr>
              <p:cNvPr id="1048591" name="TextBox 11"/>
              <p:cNvSpPr txBox="1"/>
              <p:nvPr/>
            </p:nvSpPr>
            <p:spPr>
              <a:xfrm>
                <a:off x="1690957" y="2187869"/>
                <a:ext cx="9760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+mj-cs"/>
                  </a:rPr>
                  <a:t>2004</a:t>
                </a:r>
                <a:endParaRPr kumimoji="1" lang="en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j-cs"/>
                </a:endParaRPr>
              </a:p>
            </p:txBody>
          </p:sp>
          <p:sp>
            <p:nvSpPr>
              <p:cNvPr id="1048592" name="Oval 12"/>
              <p:cNvSpPr/>
              <p:nvPr/>
            </p:nvSpPr>
            <p:spPr>
              <a:xfrm>
                <a:off x="5097733" y="2042828"/>
                <a:ext cx="164386" cy="17465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1048593" name="TextBox 13"/>
              <p:cNvSpPr txBox="1"/>
              <p:nvPr/>
            </p:nvSpPr>
            <p:spPr>
              <a:xfrm>
                <a:off x="4283434" y="1098774"/>
                <a:ext cx="197318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Dong</a:t>
                </a:r>
                <a:r>
                  <a:rPr lang="zh-CN" altLang="en-US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等提出</a:t>
                </a:r>
                <a:endParaRPr lang="en-US" altLang="zh-CN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endParaRPr>
              </a:p>
              <a:p>
                <a:pPr algn="ctr"/>
                <a:r>
                  <a:rPr lang="zh-CN" altLang="en-US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基于</a:t>
                </a:r>
                <a:r>
                  <a:rPr lang="en-US" altLang="zh-CN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OT</a:t>
                </a:r>
                <a:r>
                  <a:rPr lang="zh-CN" altLang="en-US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的</a:t>
                </a:r>
                <a:endParaRPr lang="en-US" altLang="zh-CN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endParaRPr>
              </a:p>
              <a:p>
                <a:pPr algn="ctr"/>
                <a:r>
                  <a:rPr lang="zh-CN" altLang="en-US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高效两方</a:t>
                </a:r>
                <a:r>
                  <a:rPr lang="en-US" altLang="zh-CN" sz="2000" b="1" kern="0" dirty="0">
                    <a:latin typeface="Times New Roman" panose="02020503050405090304" pitchFamily="18" charset="0"/>
                    <a:ea typeface="微软雅黑" charset="-122"/>
                    <a:cs typeface="Times New Roman" panose="02020503050405090304" pitchFamily="18" charset="0"/>
                  </a:rPr>
                  <a:t>PSI</a:t>
                </a:r>
                <a:endPara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1048594" name="TextBox 14"/>
              <p:cNvSpPr txBox="1"/>
              <p:nvPr/>
            </p:nvSpPr>
            <p:spPr>
              <a:xfrm>
                <a:off x="4679277" y="2207409"/>
                <a:ext cx="9760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+mj-cs"/>
                  </a:rPr>
                  <a:t>2013</a:t>
                </a:r>
                <a:endParaRPr kumimoji="1" lang="en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j-cs"/>
                </a:endParaRPr>
              </a:p>
            </p:txBody>
          </p:sp>
        </p:grpSp>
        <p:sp>
          <p:nvSpPr>
            <p:cNvPr id="1048598" name="文本框 58"/>
            <p:cNvSpPr txBox="1"/>
            <p:nvPr/>
          </p:nvSpPr>
          <p:spPr>
            <a:xfrm>
              <a:off x="3055836" y="5379386"/>
              <a:ext cx="1856843" cy="699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zh-CN" altLang="en-US" b="1" dirty="0">
                  <a:solidFill>
                    <a:srgbClr val="C00000"/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基于公钥操作</a:t>
              </a:r>
              <a:endPara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endParaRPr>
            </a:p>
            <a:p>
              <a:pPr algn="ctr">
                <a:lnSpc>
                  <a:spcPct val="114000"/>
                </a:lnSpc>
              </a:pPr>
              <a:r>
                <a:rPr lang="zh-CN" altLang="en-US" b="1" dirty="0">
                  <a:solidFill>
                    <a:srgbClr val="C00000"/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效率低下</a:t>
              </a:r>
            </a:p>
          </p:txBody>
        </p:sp>
        <p:sp>
          <p:nvSpPr>
            <p:cNvPr id="1048599" name="TextBox 3"/>
            <p:cNvSpPr txBox="1"/>
            <p:nvPr/>
          </p:nvSpPr>
          <p:spPr>
            <a:xfrm>
              <a:off x="11919980" y="4909574"/>
              <a:ext cx="22304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j-cs"/>
                </a:rPr>
                <a:t>陈宇等</a:t>
              </a:r>
              <a:r>
                <a:rPr lang="zh-CN" altLang="en-US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提出</a:t>
              </a:r>
              <a:endPara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endParaRPr>
            </a:p>
            <a:p>
              <a:pPr algn="ctr"/>
              <a:r>
                <a:rPr lang="zh-CN" altLang="en-US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两方</a:t>
              </a:r>
              <a:r>
                <a:rPr lang="en-US" altLang="zh-CN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PSO</a:t>
              </a:r>
              <a:r>
                <a:rPr lang="zh-CN" altLang="en-US" sz="2000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框架</a:t>
              </a:r>
              <a:endPara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endParaRPr>
            </a:p>
          </p:txBody>
        </p:sp>
        <p:sp>
          <p:nvSpPr>
            <p:cNvPr id="1048601" name="TextBox 14"/>
            <p:cNvSpPr txBox="1"/>
            <p:nvPr/>
          </p:nvSpPr>
          <p:spPr>
            <a:xfrm>
              <a:off x="12110939" y="5836767"/>
              <a:ext cx="9760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j-cs"/>
                </a:rPr>
                <a:t>2024</a:t>
              </a:r>
              <a:endParaRPr kumimoji="1" lang="en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endParaRPr>
            </a:p>
          </p:txBody>
        </p:sp>
      </p:grpSp>
      <p:sp>
        <p:nvSpPr>
          <p:cNvPr id="93" name="矩形: 圆角 42">
            <a:extLst>
              <a:ext uri="{FF2B5EF4-FFF2-40B4-BE49-F238E27FC236}">
                <a16:creationId xmlns:a16="http://schemas.microsoft.com/office/drawing/2014/main" id="{9F558F2C-A772-EAD5-AC8C-132FF0769287}"/>
              </a:ext>
            </a:extLst>
          </p:cNvPr>
          <p:cNvSpPr/>
          <p:nvPr/>
        </p:nvSpPr>
        <p:spPr>
          <a:xfrm>
            <a:off x="7644775" y="841926"/>
            <a:ext cx="4197396" cy="700032"/>
          </a:xfrm>
          <a:prstGeom prst="roundRect">
            <a:avLst>
              <a:gd name="adj" fmla="val 9097"/>
            </a:avLst>
          </a:prstGeom>
          <a:solidFill>
            <a:srgbClr val="1E6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多方隐私集合运算</a:t>
            </a:r>
          </a:p>
        </p:txBody>
      </p:sp>
      <p:sp>
        <p:nvSpPr>
          <p:cNvPr id="94" name="矩形: 圆角 42">
            <a:extLst>
              <a:ext uri="{FF2B5EF4-FFF2-40B4-BE49-F238E27FC236}">
                <a16:creationId xmlns:a16="http://schemas.microsoft.com/office/drawing/2014/main" id="{9AD3F768-0B8E-746E-C1C3-51B79C9FABFC}"/>
              </a:ext>
            </a:extLst>
          </p:cNvPr>
          <p:cNvSpPr/>
          <p:nvPr/>
        </p:nvSpPr>
        <p:spPr>
          <a:xfrm>
            <a:off x="3206663" y="843443"/>
            <a:ext cx="4197395" cy="703384"/>
          </a:xfrm>
          <a:prstGeom prst="roundRect">
            <a:avLst>
              <a:gd name="adj" fmla="val 9097"/>
            </a:avLst>
          </a:prstGeom>
          <a:solidFill>
            <a:srgbClr val="1E6B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两方隐私集合运算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F7A6715-9FEE-15DB-8F9D-19A0C357E127}"/>
              </a:ext>
            </a:extLst>
          </p:cNvPr>
          <p:cNvGrpSpPr>
            <a:grpSpLocks noChangeAspect="1"/>
          </p:cNvGrpSpPr>
          <p:nvPr/>
        </p:nvGrpSpPr>
        <p:grpSpPr>
          <a:xfrm>
            <a:off x="2950649" y="1811917"/>
            <a:ext cx="6250500" cy="2503800"/>
            <a:chOff x="-2962" y="1793800"/>
            <a:chExt cx="6723560" cy="2764531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3FE25A54-BF09-7FD0-AE22-264BC57D6E54}"/>
                </a:ext>
              </a:extLst>
            </p:cNvPr>
            <p:cNvSpPr/>
            <p:nvPr/>
          </p:nvSpPr>
          <p:spPr>
            <a:xfrm>
              <a:off x="2131475" y="1793800"/>
              <a:ext cx="1196140" cy="34864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PSO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8" name="连接符: 肘形 97">
              <a:extLst>
                <a:ext uri="{FF2B5EF4-FFF2-40B4-BE49-F238E27FC236}">
                  <a16:creationId xmlns:a16="http://schemas.microsoft.com/office/drawing/2014/main" id="{E2D3C326-390F-EF26-7E7C-78FA4FE24B3D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 flipV="1">
              <a:off x="1641014" y="1968123"/>
              <a:ext cx="490461" cy="1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9215A8B8-13AB-FB24-D8A5-470EB5072FDC}"/>
                </a:ext>
              </a:extLst>
            </p:cNvPr>
            <p:cNvCxnSpPr>
              <a:cxnSpLocks/>
              <a:endCxn id="97" idx="3"/>
            </p:cNvCxnSpPr>
            <p:nvPr/>
          </p:nvCxnSpPr>
          <p:spPr>
            <a:xfrm rot="10800000">
              <a:off x="3327615" y="1968124"/>
              <a:ext cx="486010" cy="1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E094368-FC07-D3AB-6ADD-BFAE057D55FC}"/>
                    </a:ext>
                  </a:extLst>
                </p:cNvPr>
                <p:cNvSpPr txBox="1"/>
                <p:nvPr/>
              </p:nvSpPr>
              <p:spPr>
                <a:xfrm>
                  <a:off x="644710" y="2139325"/>
                  <a:ext cx="1670184" cy="6456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  <m:r>
                          <a:rPr lang="en-US" altLang="zh-CN" sz="16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,⋯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600" b="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,⋯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E094368-FC07-D3AB-6ADD-BFAE057D55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710" y="2139325"/>
                  <a:ext cx="1670184" cy="64567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00175E0F-8521-40E5-6FEC-3B611A28AEBE}"/>
                    </a:ext>
                  </a:extLst>
                </p:cNvPr>
                <p:cNvSpPr txBox="1"/>
                <p:nvPr/>
              </p:nvSpPr>
              <p:spPr>
                <a:xfrm>
                  <a:off x="3895915" y="2223589"/>
                  <a:ext cx="455229" cy="3058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00175E0F-8521-40E5-6FEC-3B611A28A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915" y="2223589"/>
                  <a:ext cx="455229" cy="305844"/>
                </a:xfrm>
                <a:prstGeom prst="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FB4B69A8-C3D1-FF1A-25D5-EB0FFEBDF797}"/>
                </a:ext>
              </a:extLst>
            </p:cNvPr>
            <p:cNvCxnSpPr>
              <a:cxnSpLocks/>
            </p:cNvCxnSpPr>
            <p:nvPr/>
          </p:nvCxnSpPr>
          <p:spPr>
            <a:xfrm>
              <a:off x="2704729" y="2142445"/>
              <a:ext cx="0" cy="1672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BCCFF2F5-C268-4102-465A-CD7C6C6AA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3777" y="2718045"/>
              <a:ext cx="1018086" cy="18402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EC37A498-D807-09E0-3AA6-65EA523FCD5A}"/>
                    </a:ext>
                  </a:extLst>
                </p:cNvPr>
                <p:cNvSpPr txBox="1"/>
                <p:nvPr/>
              </p:nvSpPr>
              <p:spPr>
                <a:xfrm>
                  <a:off x="-2962" y="2670551"/>
                  <a:ext cx="616704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PSI</m:t>
                        </m:r>
                        <m:r>
                          <a:rPr lang="en-US" altLang="zh-CN" sz="16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∩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EC37A498-D807-09E0-3AA6-65EA523FC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962" y="2670551"/>
                  <a:ext cx="6167042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8639524E-7F4B-6FB8-041C-ED7F16523914}"/>
                    </a:ext>
                  </a:extLst>
                </p:cNvPr>
                <p:cNvSpPr txBox="1"/>
                <p:nvPr/>
              </p:nvSpPr>
              <p:spPr>
                <a:xfrm>
                  <a:off x="54422" y="4151547"/>
                  <a:ext cx="6167042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PSU</m:t>
                        </m:r>
                        <m:r>
                          <a:rPr lang="en-US" altLang="zh-CN" sz="16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∪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8639524E-7F4B-6FB8-041C-ED7F165239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22" y="4151547"/>
                  <a:ext cx="6167042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C647EB36-8B05-D72D-8EFF-DBC4371ED5E3}"/>
                    </a:ext>
                  </a:extLst>
                </p:cNvPr>
                <p:cNvSpPr txBox="1"/>
                <p:nvPr/>
              </p:nvSpPr>
              <p:spPr>
                <a:xfrm>
                  <a:off x="553556" y="2889096"/>
                  <a:ext cx="6167042" cy="12611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</m:t>
                        </m:r>
                        <m:r>
                          <a:rPr lang="en-US" altLang="zh-CN" sz="160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|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𝑋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∩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𝑌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|</m:t>
                                </m:r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𝑋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∩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,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𝑥</m:t>
                                    </m:r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∈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𝑋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∩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𝑌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𝑓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𝑋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∩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𝑌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C647EB36-8B05-D72D-8EFF-DBC4371ED5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556" y="2889096"/>
                  <a:ext cx="6167042" cy="1261114"/>
                </a:xfrm>
                <a:prstGeom prst="rect">
                  <a:avLst/>
                </a:prstGeom>
                <a:blipFill>
                  <a:blip r:embed="rId10"/>
                  <a:stretch>
                    <a:fillRect b="-64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8633" name="组合 1048632">
            <a:extLst>
              <a:ext uri="{FF2B5EF4-FFF2-40B4-BE49-F238E27FC236}">
                <a16:creationId xmlns:a16="http://schemas.microsoft.com/office/drawing/2014/main" id="{DC8B131F-C8F8-B811-CD52-E462D374E2F7}"/>
              </a:ext>
            </a:extLst>
          </p:cNvPr>
          <p:cNvGrpSpPr/>
          <p:nvPr/>
        </p:nvGrpSpPr>
        <p:grpSpPr>
          <a:xfrm>
            <a:off x="36867" y="5853059"/>
            <a:ext cx="12096205" cy="1070373"/>
            <a:chOff x="-288152" y="899791"/>
            <a:chExt cx="8913628" cy="1070373"/>
          </a:xfrm>
        </p:grpSpPr>
        <p:sp>
          <p:nvSpPr>
            <p:cNvPr id="1048634" name="圆角矩形 1">
              <a:extLst>
                <a:ext uri="{FF2B5EF4-FFF2-40B4-BE49-F238E27FC236}">
                  <a16:creationId xmlns:a16="http://schemas.microsoft.com/office/drawing/2014/main" id="{AAA00AB5-B171-0CBC-BD3B-2B179D019687}"/>
                </a:ext>
              </a:extLst>
            </p:cNvPr>
            <p:cNvSpPr/>
            <p:nvPr/>
          </p:nvSpPr>
          <p:spPr>
            <a:xfrm>
              <a:off x="-120678" y="1094918"/>
              <a:ext cx="8621867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635" name="圆角矩形 1">
              <a:extLst>
                <a:ext uri="{FF2B5EF4-FFF2-40B4-BE49-F238E27FC236}">
                  <a16:creationId xmlns:a16="http://schemas.microsoft.com/office/drawing/2014/main" id="{CF146670-558B-1F2E-79AF-AECCC0AABAC3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多方隐私集合运算：相比于两方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功能复杂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kumimoji="1"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设计难度大</a:t>
              </a:r>
              <a:r>
                <a:rPr kumimoji="1"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、</a:t>
              </a:r>
              <a:r>
                <a:rPr kumimoji="1"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进展迟缓</a:t>
              </a:r>
            </a:p>
          </p:txBody>
        </p:sp>
      </p:grpSp>
      <p:sp>
        <p:nvSpPr>
          <p:cNvPr id="1048637" name="Oval 12">
            <a:extLst>
              <a:ext uri="{FF2B5EF4-FFF2-40B4-BE49-F238E27FC236}">
                <a16:creationId xmlns:a16="http://schemas.microsoft.com/office/drawing/2014/main" id="{39D087AB-ABCD-E108-6037-CFBBD68229B0}"/>
              </a:ext>
            </a:extLst>
          </p:cNvPr>
          <p:cNvSpPr/>
          <p:nvPr/>
        </p:nvSpPr>
        <p:spPr>
          <a:xfrm>
            <a:off x="10667131" y="5379320"/>
            <a:ext cx="164386" cy="1746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C00000"/>
              </a:solidFill>
            </a:endParaRPr>
          </a:p>
        </p:txBody>
      </p:sp>
      <p:sp>
        <p:nvSpPr>
          <p:cNvPr id="1048638" name="TextBox 11">
            <a:extLst>
              <a:ext uri="{FF2B5EF4-FFF2-40B4-BE49-F238E27FC236}">
                <a16:creationId xmlns:a16="http://schemas.microsoft.com/office/drawing/2014/main" id="{E72A46E1-6FD4-A5E6-FC89-EC9CE3FA6943}"/>
              </a:ext>
            </a:extLst>
          </p:cNvPr>
          <p:cNvSpPr txBox="1"/>
          <p:nvPr/>
        </p:nvSpPr>
        <p:spPr>
          <a:xfrm>
            <a:off x="4658153" y="4375095"/>
            <a:ext cx="1716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kern="0" dirty="0" err="1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Kolesniko</a:t>
            </a:r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等基于</a:t>
            </a:r>
            <a:r>
              <a: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OT</a:t>
            </a:r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的</a:t>
            </a:r>
            <a:endParaRPr lang="en-US" altLang="zh-CN" sz="2000" b="1" kern="0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高效两方</a:t>
            </a:r>
            <a:r>
              <a: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PSU</a:t>
            </a:r>
            <a:endParaRPr lang="zh-CN" altLang="en-US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1048639" name="Oval 25">
            <a:extLst>
              <a:ext uri="{FF2B5EF4-FFF2-40B4-BE49-F238E27FC236}">
                <a16:creationId xmlns:a16="http://schemas.microsoft.com/office/drawing/2014/main" id="{4D7096EE-F5E8-0FD7-832F-F84DE76655E0}"/>
              </a:ext>
            </a:extLst>
          </p:cNvPr>
          <p:cNvSpPr/>
          <p:nvPr/>
        </p:nvSpPr>
        <p:spPr>
          <a:xfrm flipH="1">
            <a:off x="5274293" y="5354821"/>
            <a:ext cx="162440" cy="1784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145729" name="TextBox 27">
            <a:extLst>
              <a:ext uri="{FF2B5EF4-FFF2-40B4-BE49-F238E27FC236}">
                <a16:creationId xmlns:a16="http://schemas.microsoft.com/office/drawing/2014/main" id="{BE6697F0-33A8-75A2-4C8C-BEDFC588C19E}"/>
              </a:ext>
            </a:extLst>
          </p:cNvPr>
          <p:cNvSpPr txBox="1"/>
          <p:nvPr/>
        </p:nvSpPr>
        <p:spPr>
          <a:xfrm>
            <a:off x="4856395" y="5514801"/>
            <a:ext cx="92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2019</a:t>
            </a:r>
            <a:endParaRPr kumimoji="1" lang="en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45730" name="Oval 26">
            <a:extLst>
              <a:ext uri="{FF2B5EF4-FFF2-40B4-BE49-F238E27FC236}">
                <a16:creationId xmlns:a16="http://schemas.microsoft.com/office/drawing/2014/main" id="{6F38FFA8-6FD5-E80E-9540-F4CAEEDDBA95}"/>
              </a:ext>
            </a:extLst>
          </p:cNvPr>
          <p:cNvSpPr/>
          <p:nvPr/>
        </p:nvSpPr>
        <p:spPr>
          <a:xfrm flipH="1">
            <a:off x="9609359" y="5359883"/>
            <a:ext cx="162440" cy="1784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45731" name="TextBox 28">
            <a:extLst>
              <a:ext uri="{FF2B5EF4-FFF2-40B4-BE49-F238E27FC236}">
                <a16:creationId xmlns:a16="http://schemas.microsoft.com/office/drawing/2014/main" id="{F82F01AB-120D-DDA3-2B14-A4A797EA475C}"/>
              </a:ext>
            </a:extLst>
          </p:cNvPr>
          <p:cNvSpPr txBox="1"/>
          <p:nvPr/>
        </p:nvSpPr>
        <p:spPr>
          <a:xfrm>
            <a:off x="9226532" y="5510719"/>
            <a:ext cx="92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2023</a:t>
            </a:r>
            <a:endParaRPr kumimoji="1" lang="en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45732" name="TextBox 11">
            <a:extLst>
              <a:ext uri="{FF2B5EF4-FFF2-40B4-BE49-F238E27FC236}">
                <a16:creationId xmlns:a16="http://schemas.microsoft.com/office/drawing/2014/main" id="{E4D75090-BD5B-CC13-D5C5-A3FE94318901}"/>
              </a:ext>
            </a:extLst>
          </p:cNvPr>
          <p:cNvSpPr txBox="1"/>
          <p:nvPr/>
        </p:nvSpPr>
        <p:spPr>
          <a:xfrm>
            <a:off x="8585368" y="4395104"/>
            <a:ext cx="1893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张聪等</a:t>
            </a:r>
            <a:endParaRPr lang="en-US" altLang="zh-CN" sz="2000" b="1" kern="0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提出首个线性两方</a:t>
            </a:r>
            <a:r>
              <a: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PSU</a:t>
            </a:r>
            <a:endParaRPr lang="en-CN" sz="2000" b="1" kern="0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3145733" name="Oval 26">
            <a:extLst>
              <a:ext uri="{FF2B5EF4-FFF2-40B4-BE49-F238E27FC236}">
                <a16:creationId xmlns:a16="http://schemas.microsoft.com/office/drawing/2014/main" id="{B4D2282F-D291-C9FA-AA81-A198369090BA}"/>
              </a:ext>
            </a:extLst>
          </p:cNvPr>
          <p:cNvSpPr/>
          <p:nvPr/>
        </p:nvSpPr>
        <p:spPr>
          <a:xfrm flipH="1">
            <a:off x="8178194" y="5371967"/>
            <a:ext cx="162440" cy="1784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45734" name="TextBox 28">
            <a:extLst>
              <a:ext uri="{FF2B5EF4-FFF2-40B4-BE49-F238E27FC236}">
                <a16:creationId xmlns:a16="http://schemas.microsoft.com/office/drawing/2014/main" id="{32916265-7042-20CE-53BD-763D321B0F7B}"/>
              </a:ext>
            </a:extLst>
          </p:cNvPr>
          <p:cNvSpPr txBox="1"/>
          <p:nvPr/>
        </p:nvSpPr>
        <p:spPr>
          <a:xfrm>
            <a:off x="7844715" y="5508875"/>
            <a:ext cx="92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2022</a:t>
            </a:r>
            <a:endParaRPr kumimoji="1" lang="en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145735" name="TextBox 11">
            <a:extLst>
              <a:ext uri="{FF2B5EF4-FFF2-40B4-BE49-F238E27FC236}">
                <a16:creationId xmlns:a16="http://schemas.microsoft.com/office/drawing/2014/main" id="{6DBF8471-622F-3CCA-61B4-134A10355463}"/>
              </a:ext>
            </a:extLst>
          </p:cNvPr>
          <p:cNvSpPr txBox="1"/>
          <p:nvPr/>
        </p:nvSpPr>
        <p:spPr>
          <a:xfrm>
            <a:off x="6317809" y="4367717"/>
            <a:ext cx="2387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Raghuraman</a:t>
            </a:r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等</a:t>
            </a:r>
            <a:endParaRPr lang="en-US" altLang="zh-CN" sz="2000" b="1" kern="0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提出与朴素方案性能相当的两方</a:t>
            </a:r>
            <a:r>
              <a:rPr lang="en-US" altLang="zh-CN" sz="2000" b="1" kern="0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PSI</a:t>
            </a:r>
            <a:endParaRPr lang="en-CN" sz="2000" b="1" kern="0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3145737" name="文本框 58">
            <a:extLst>
              <a:ext uri="{FF2B5EF4-FFF2-40B4-BE49-F238E27FC236}">
                <a16:creationId xmlns:a16="http://schemas.microsoft.com/office/drawing/2014/main" id="{7DC3AA02-799D-296F-9AF5-AA1F19CE3EF6}"/>
              </a:ext>
            </a:extLst>
          </p:cNvPr>
          <p:cNvSpPr txBox="1"/>
          <p:nvPr/>
        </p:nvSpPr>
        <p:spPr>
          <a:xfrm>
            <a:off x="5516394" y="5508552"/>
            <a:ext cx="2683311" cy="383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两方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PSO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技术飞速发展</a:t>
            </a:r>
          </a:p>
        </p:txBody>
      </p:sp>
      <p:grpSp>
        <p:nvGrpSpPr>
          <p:cNvPr id="3145758" name="组合 3145757">
            <a:extLst>
              <a:ext uri="{FF2B5EF4-FFF2-40B4-BE49-F238E27FC236}">
                <a16:creationId xmlns:a16="http://schemas.microsoft.com/office/drawing/2014/main" id="{DA4FD60C-AE3D-F42F-7655-F2572A129B06}"/>
              </a:ext>
            </a:extLst>
          </p:cNvPr>
          <p:cNvGrpSpPr/>
          <p:nvPr/>
        </p:nvGrpSpPr>
        <p:grpSpPr>
          <a:xfrm>
            <a:off x="958338" y="2659384"/>
            <a:ext cx="1837033" cy="1885162"/>
            <a:chOff x="420136" y="1862565"/>
            <a:chExt cx="2690788" cy="2434146"/>
          </a:xfrm>
        </p:grpSpPr>
        <p:sp>
          <p:nvSpPr>
            <p:cNvPr id="3145741" name="矩形 3145740">
              <a:extLst>
                <a:ext uri="{FF2B5EF4-FFF2-40B4-BE49-F238E27FC236}">
                  <a16:creationId xmlns:a16="http://schemas.microsoft.com/office/drawing/2014/main" id="{8EA5BE67-D023-4941-BA4D-F048D9897B2E}"/>
                </a:ext>
              </a:extLst>
            </p:cNvPr>
            <p:cNvSpPr/>
            <p:nvPr/>
          </p:nvSpPr>
          <p:spPr>
            <a:xfrm>
              <a:off x="460500" y="3614455"/>
              <a:ext cx="2389925" cy="68225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p:sp>
          <p:nvSpPr>
            <p:cNvPr id="3145742" name="矩形 3145741">
              <a:extLst>
                <a:ext uri="{FF2B5EF4-FFF2-40B4-BE49-F238E27FC236}">
                  <a16:creationId xmlns:a16="http://schemas.microsoft.com/office/drawing/2014/main" id="{3144C016-9D17-4B5B-92C4-2799AA452E27}"/>
                </a:ext>
              </a:extLst>
            </p:cNvPr>
            <p:cNvSpPr/>
            <p:nvPr/>
          </p:nvSpPr>
          <p:spPr>
            <a:xfrm>
              <a:off x="436272" y="2737281"/>
              <a:ext cx="2196765" cy="68225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p:sp>
          <p:nvSpPr>
            <p:cNvPr id="3145743" name="矩形 3145742">
              <a:extLst>
                <a:ext uri="{FF2B5EF4-FFF2-40B4-BE49-F238E27FC236}">
                  <a16:creationId xmlns:a16="http://schemas.microsoft.com/office/drawing/2014/main" id="{34A8F579-8C37-45B8-9F2C-629FAB432004}"/>
                </a:ext>
              </a:extLst>
            </p:cNvPr>
            <p:cNvSpPr/>
            <p:nvPr/>
          </p:nvSpPr>
          <p:spPr>
            <a:xfrm>
              <a:off x="420136" y="1862565"/>
              <a:ext cx="2196765" cy="68225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b="1" dirty="0"/>
            </a:p>
          </p:txBody>
        </p:sp>
        <p:sp>
          <p:nvSpPr>
            <p:cNvPr id="3145744" name="矩形 3145743">
              <a:extLst>
                <a:ext uri="{FF2B5EF4-FFF2-40B4-BE49-F238E27FC236}">
                  <a16:creationId xmlns:a16="http://schemas.microsoft.com/office/drawing/2014/main" id="{B804BBBB-39B2-471E-8F67-74C023BD1A68}"/>
                </a:ext>
              </a:extLst>
            </p:cNvPr>
            <p:cNvSpPr/>
            <p:nvPr/>
          </p:nvSpPr>
          <p:spPr>
            <a:xfrm>
              <a:off x="1081294" y="1954743"/>
              <a:ext cx="1470373" cy="461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高频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145745" name="矩形 3145744">
              <a:extLst>
                <a:ext uri="{FF2B5EF4-FFF2-40B4-BE49-F238E27FC236}">
                  <a16:creationId xmlns:a16="http://schemas.microsoft.com/office/drawing/2014/main" id="{054098E3-6AAB-433C-BF72-7B2986F7ED69}"/>
                </a:ext>
              </a:extLst>
            </p:cNvPr>
            <p:cNvSpPr/>
            <p:nvPr/>
          </p:nvSpPr>
          <p:spPr>
            <a:xfrm>
              <a:off x="1089417" y="2804518"/>
              <a:ext cx="1622817" cy="596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高价值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145746" name="矩形 3145745">
              <a:extLst>
                <a:ext uri="{FF2B5EF4-FFF2-40B4-BE49-F238E27FC236}">
                  <a16:creationId xmlns:a16="http://schemas.microsoft.com/office/drawing/2014/main" id="{EB087BEF-DC43-46DD-B1B6-818178574C55}"/>
                </a:ext>
              </a:extLst>
            </p:cNvPr>
            <p:cNvSpPr/>
            <p:nvPr/>
          </p:nvSpPr>
          <p:spPr>
            <a:xfrm>
              <a:off x="896234" y="3677099"/>
              <a:ext cx="2214690" cy="596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专用协议</a:t>
              </a:r>
            </a:p>
          </p:txBody>
        </p:sp>
        <p:pic>
          <p:nvPicPr>
            <p:cNvPr id="3145747" name="图片 3145746">
              <a:extLst>
                <a:ext uri="{FF2B5EF4-FFF2-40B4-BE49-F238E27FC236}">
                  <a16:creationId xmlns:a16="http://schemas.microsoft.com/office/drawing/2014/main" id="{82C9C3EB-5577-44D6-BD50-ACFBF623B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57" y="1887564"/>
              <a:ext cx="598389" cy="598389"/>
            </a:xfrm>
            <a:prstGeom prst="rect">
              <a:avLst/>
            </a:prstGeom>
          </p:spPr>
        </p:pic>
        <p:pic>
          <p:nvPicPr>
            <p:cNvPr id="3145748" name="图片 3145747">
              <a:extLst>
                <a:ext uri="{FF2B5EF4-FFF2-40B4-BE49-F238E27FC236}">
                  <a16:creationId xmlns:a16="http://schemas.microsoft.com/office/drawing/2014/main" id="{E5454D47-FB70-4A34-9359-601A1A5FC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049" y="2839693"/>
              <a:ext cx="546179" cy="464834"/>
            </a:xfrm>
            <a:prstGeom prst="rect">
              <a:avLst/>
            </a:prstGeom>
          </p:spPr>
        </p:pic>
        <p:pic>
          <p:nvPicPr>
            <p:cNvPr id="3145749" name="图片 3145748">
              <a:extLst>
                <a:ext uri="{FF2B5EF4-FFF2-40B4-BE49-F238E27FC236}">
                  <a16:creationId xmlns:a16="http://schemas.microsoft.com/office/drawing/2014/main" id="{27F7503C-6E3D-4DAB-A1D0-8A0EA0887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049" y="3679455"/>
              <a:ext cx="532175" cy="532175"/>
            </a:xfrm>
            <a:prstGeom prst="rect">
              <a:avLst/>
            </a:prstGeom>
          </p:spPr>
        </p:pic>
      </p:grpSp>
      <p:pic>
        <p:nvPicPr>
          <p:cNvPr id="3145763" name="图片 3145762">
            <a:extLst>
              <a:ext uri="{FF2B5EF4-FFF2-40B4-BE49-F238E27FC236}">
                <a16:creationId xmlns:a16="http://schemas.microsoft.com/office/drawing/2014/main" id="{1A083BC8-C756-EBE2-DEF6-3EB523E12A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404" y="1541169"/>
            <a:ext cx="662590" cy="662590"/>
          </a:xfrm>
          <a:prstGeom prst="rect">
            <a:avLst/>
          </a:prstGeom>
        </p:spPr>
      </p:pic>
      <p:pic>
        <p:nvPicPr>
          <p:cNvPr id="3145765" name="图片 3145764">
            <a:extLst>
              <a:ext uri="{FF2B5EF4-FFF2-40B4-BE49-F238E27FC236}">
                <a16:creationId xmlns:a16="http://schemas.microsoft.com/office/drawing/2014/main" id="{FC4B9CE5-5BA2-04F6-56AD-F5E7ADBEA8E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83" y="1582833"/>
            <a:ext cx="660134" cy="660134"/>
          </a:xfrm>
          <a:prstGeom prst="rect">
            <a:avLst/>
          </a:prstGeom>
        </p:spPr>
      </p:pic>
      <p:grpSp>
        <p:nvGrpSpPr>
          <p:cNvPr id="3145785" name="组合 3145784">
            <a:extLst>
              <a:ext uri="{FF2B5EF4-FFF2-40B4-BE49-F238E27FC236}">
                <a16:creationId xmlns:a16="http://schemas.microsoft.com/office/drawing/2014/main" id="{9D6AF5C4-AFB1-3D4D-76DF-2AC256852C0D}"/>
              </a:ext>
            </a:extLst>
          </p:cNvPr>
          <p:cNvGrpSpPr/>
          <p:nvPr/>
        </p:nvGrpSpPr>
        <p:grpSpPr>
          <a:xfrm>
            <a:off x="7473458" y="1532325"/>
            <a:ext cx="4738555" cy="2604418"/>
            <a:chOff x="7473458" y="1532325"/>
            <a:chExt cx="4738555" cy="2604418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D852DC5-9E1C-58E4-7F44-C0FDD152ACD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39335" y="1605032"/>
              <a:ext cx="3674626" cy="1946272"/>
              <a:chOff x="2887452" y="2101518"/>
              <a:chExt cx="6097835" cy="32626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10BF3112-DF37-48FC-AFB6-4AA32CEE6C7D}"/>
                      </a:ext>
                    </a:extLst>
                  </p:cNvPr>
                  <p:cNvSpPr txBox="1"/>
                  <p:nvPr/>
                </p:nvSpPr>
                <p:spPr>
                  <a:xfrm>
                    <a:off x="3046059" y="2979443"/>
                    <a:ext cx="287777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10BF3112-DF37-48FC-AFB6-4AA32CEE6C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6059" y="2979443"/>
                    <a:ext cx="287777" cy="4643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44828" r="-62069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5176ADCE-C119-8155-D3ED-0221E0BC8172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5176ADCE-C119-8155-D3ED-0221E0BC81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5686" r="-588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ECAE0478-CCD1-0759-3C57-7563AD51E566}"/>
                      </a:ext>
                    </a:extLst>
                  </p:cNvPr>
                  <p:cNvSpPr txBox="1"/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ECAE0478-CCD1-0759-3C57-7563AD51E5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54167" r="-100000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8BE3C0F2-A963-4556-0BCF-0CA01CC32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45020" y="2101518"/>
                <a:ext cx="687987" cy="631181"/>
              </a:xfrm>
              <a:prstGeom prst="rect">
                <a:avLst/>
              </a:prstGeom>
            </p:spPr>
          </p:pic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68FAABF-E784-ADFC-6FB2-C31B4F76C1AE}"/>
                  </a:ext>
                </a:extLst>
              </p:cNvPr>
              <p:cNvCxnSpPr>
                <a:cxnSpLocks/>
                <a:stCxn id="13" idx="1"/>
              </p:cNvCxnSpPr>
              <p:nvPr/>
            </p:nvCxnSpPr>
            <p:spPr>
              <a:xfrm flipH="1">
                <a:off x="6137664" y="2417109"/>
                <a:ext cx="607356" cy="401324"/>
              </a:xfrm>
              <a:prstGeom prst="line">
                <a:avLst/>
              </a:prstGeom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9F7E4FD7-9EC2-8FC9-628E-F236EC650F17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7433007" y="2417109"/>
                <a:ext cx="539780" cy="36173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E96AA8-4192-3D95-FAE6-C47847EDC341}"/>
                  </a:ext>
                </a:extLst>
              </p:cNvPr>
              <p:cNvSpPr/>
              <p:nvPr/>
            </p:nvSpPr>
            <p:spPr>
              <a:xfrm>
                <a:off x="4405985" y="3607379"/>
                <a:ext cx="2706200" cy="517923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MPSO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7" name="连接符: 肘形 16">
                <a:extLst>
                  <a:ext uri="{FF2B5EF4-FFF2-40B4-BE49-F238E27FC236}">
                    <a16:creationId xmlns:a16="http://schemas.microsoft.com/office/drawing/2014/main" id="{31AA4DD2-06EF-1E95-06FB-8CF2BB2A8C4F}"/>
                  </a:ext>
                </a:extLst>
              </p:cNvPr>
              <p:cNvCxnSpPr>
                <a:cxnSpLocks/>
                <a:stCxn id="8" idx="2"/>
                <a:endCxn id="16" idx="1"/>
              </p:cNvCxnSpPr>
              <p:nvPr/>
            </p:nvCxnSpPr>
            <p:spPr>
              <a:xfrm rot="16200000" flipH="1">
                <a:off x="3586694" y="3047051"/>
                <a:ext cx="422544" cy="121603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连接符: 肘形 17">
                <a:extLst>
                  <a:ext uri="{FF2B5EF4-FFF2-40B4-BE49-F238E27FC236}">
                    <a16:creationId xmlns:a16="http://schemas.microsoft.com/office/drawing/2014/main" id="{BD3823B1-98CD-4F36-FF4A-E9727B031E97}"/>
                  </a:ext>
                </a:extLst>
              </p:cNvPr>
              <p:cNvCxnSpPr>
                <a:cxnSpLocks/>
                <a:stCxn id="12" idx="2"/>
                <a:endCxn id="16" idx="3"/>
              </p:cNvCxnSpPr>
              <p:nvPr/>
            </p:nvCxnSpPr>
            <p:spPr>
              <a:xfrm rot="5400000">
                <a:off x="7539295" y="3023625"/>
                <a:ext cx="415607" cy="126982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13A447DA-FBF0-DB26-5CCF-41D91B89B7EF}"/>
                  </a:ext>
                </a:extLst>
              </p:cNvPr>
              <p:cNvCxnSpPr>
                <a:cxnSpLocks/>
                <a:endCxn id="16" idx="0"/>
              </p:cNvCxnSpPr>
              <p:nvPr/>
            </p:nvCxnSpPr>
            <p:spPr>
              <a:xfrm>
                <a:off x="5755300" y="3399071"/>
                <a:ext cx="3786" cy="20830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5F8AF838-B942-2028-7187-CB504C9B2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5299" y="4125302"/>
                <a:ext cx="0" cy="24839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6E1E6780-2C79-D251-099A-A8DEE998511B}"/>
                      </a:ext>
                    </a:extLst>
                  </p:cNvPr>
                  <p:cNvSpPr txBox="1"/>
                  <p:nvPr/>
                </p:nvSpPr>
                <p:spPr>
                  <a:xfrm>
                    <a:off x="5117359" y="4331774"/>
                    <a:ext cx="2149781" cy="4643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oMath>
                      </m:oMathPara>
                    </a14:m>
                    <a:endParaRPr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6E1E6780-2C79-D251-099A-A8DEE99851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7359" y="4331774"/>
                    <a:ext cx="2149781" cy="46435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5164" t="-2222" r="-5634" b="-3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D5D9BBC6-BBA2-A37E-F648-13896F62FF88}"/>
                      </a:ext>
                    </a:extLst>
                  </p:cNvPr>
                  <p:cNvSpPr txBox="1"/>
                  <p:nvPr/>
                </p:nvSpPr>
                <p:spPr>
                  <a:xfrm>
                    <a:off x="2887452" y="4821358"/>
                    <a:ext cx="6097835" cy="5428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14:m>
                      <m:oMath xmlns:m="http://schemas.openxmlformats.org/officeDocument/2006/math">
                        <m:r>
                          <a:rPr lang="en-US" altLang="zh-CN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</m:oMath>
                    </a14:m>
                    <a:r>
                      <a: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可以是</a:t>
                    </a:r>
                    <a:r>
                      <a:rPr lang="zh-CN" altLang="en-US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任意</a:t>
                    </a:r>
                    <a:r>
                      <a: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集合公式</a:t>
                    </a:r>
                    <a:endPara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D5D9BBC6-BBA2-A37E-F648-13896F62F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7452" y="4821358"/>
                    <a:ext cx="6097835" cy="54284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t="-11111" b="-3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3145768" name="图片 3145767">
              <a:extLst>
                <a:ext uri="{FF2B5EF4-FFF2-40B4-BE49-F238E27FC236}">
                  <a16:creationId xmlns:a16="http://schemas.microsoft.com/office/drawing/2014/main" id="{9284A41A-51BC-BDA5-DC6C-37BED5D5C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2337" y="1532325"/>
              <a:ext cx="662590" cy="662590"/>
            </a:xfrm>
            <a:prstGeom prst="rect">
              <a:avLst/>
            </a:prstGeom>
          </p:spPr>
        </p:pic>
        <p:pic>
          <p:nvPicPr>
            <p:cNvPr id="3145769" name="图片 3145768">
              <a:extLst>
                <a:ext uri="{FF2B5EF4-FFF2-40B4-BE49-F238E27FC236}">
                  <a16:creationId xmlns:a16="http://schemas.microsoft.com/office/drawing/2014/main" id="{F93515AB-EE28-3A89-761E-49771EB03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7466" y="1546829"/>
              <a:ext cx="660134" cy="660134"/>
            </a:xfrm>
            <a:prstGeom prst="rect">
              <a:avLst/>
            </a:prstGeom>
          </p:spPr>
        </p:pic>
        <p:pic>
          <p:nvPicPr>
            <p:cNvPr id="3145773" name="图片 3145772">
              <a:extLst>
                <a:ext uri="{FF2B5EF4-FFF2-40B4-BE49-F238E27FC236}">
                  <a16:creationId xmlns:a16="http://schemas.microsoft.com/office/drawing/2014/main" id="{7A96CA40-E567-6FA8-3BC0-3F59B46F6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4467" y="1548835"/>
              <a:ext cx="660134" cy="660134"/>
            </a:xfrm>
            <a:prstGeom prst="rect">
              <a:avLst/>
            </a:prstGeom>
          </p:spPr>
        </p:pic>
        <p:pic>
          <p:nvPicPr>
            <p:cNvPr id="3145775" name="图片 3145774">
              <a:extLst>
                <a:ext uri="{FF2B5EF4-FFF2-40B4-BE49-F238E27FC236}">
                  <a16:creationId xmlns:a16="http://schemas.microsoft.com/office/drawing/2014/main" id="{03E7B76A-8E7D-E94C-3406-9F8475330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3458" y="3632695"/>
              <a:ext cx="926774" cy="499643"/>
            </a:xfrm>
            <a:prstGeom prst="rect">
              <a:avLst/>
            </a:prstGeom>
          </p:spPr>
        </p:pic>
        <p:pic>
          <p:nvPicPr>
            <p:cNvPr id="3145777" name="图片 3145776">
              <a:extLst>
                <a:ext uri="{FF2B5EF4-FFF2-40B4-BE49-F238E27FC236}">
                  <a16:creationId xmlns:a16="http://schemas.microsoft.com/office/drawing/2014/main" id="{E3E2DE84-CBF0-38FA-DC5D-7D71E47BC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309" y="3635276"/>
              <a:ext cx="926774" cy="501467"/>
            </a:xfrm>
            <a:prstGeom prst="rect">
              <a:avLst/>
            </a:prstGeom>
          </p:spPr>
        </p:pic>
        <p:pic>
          <p:nvPicPr>
            <p:cNvPr id="3145779" name="图片 3145778">
              <a:extLst>
                <a:ext uri="{FF2B5EF4-FFF2-40B4-BE49-F238E27FC236}">
                  <a16:creationId xmlns:a16="http://schemas.microsoft.com/office/drawing/2014/main" id="{B5A2E97F-BDDE-0D0F-A2B4-D69C4A50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3333" y="3634163"/>
              <a:ext cx="924853" cy="498175"/>
            </a:xfrm>
            <a:prstGeom prst="rect">
              <a:avLst/>
            </a:prstGeom>
          </p:spPr>
        </p:pic>
        <p:pic>
          <p:nvPicPr>
            <p:cNvPr id="3145781" name="图片 3145780">
              <a:extLst>
                <a:ext uri="{FF2B5EF4-FFF2-40B4-BE49-F238E27FC236}">
                  <a16:creationId xmlns:a16="http://schemas.microsoft.com/office/drawing/2014/main" id="{73F12B06-02EC-E618-CEC3-E535C52D2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5436" y="3629142"/>
              <a:ext cx="920392" cy="498176"/>
            </a:xfrm>
            <a:prstGeom prst="rect">
              <a:avLst/>
            </a:prstGeom>
          </p:spPr>
        </p:pic>
        <p:pic>
          <p:nvPicPr>
            <p:cNvPr id="3145783" name="图片 3145782">
              <a:extLst>
                <a:ext uri="{FF2B5EF4-FFF2-40B4-BE49-F238E27FC236}">
                  <a16:creationId xmlns:a16="http://schemas.microsoft.com/office/drawing/2014/main" id="{EDCE9A1A-FB08-448F-8971-D9BB27DBB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85239" y="3614434"/>
              <a:ext cx="926774" cy="499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1431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12D77F0-A383-3160-E2B0-28A4452AB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DFB3B46D-3ACE-E52D-EC70-C6EBA452D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典型功能及其应用场景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7A6A8353-6456-B6BC-83D0-4BFAF8A7C599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1">
            <a:extLst>
              <a:ext uri="{FF2B5EF4-FFF2-40B4-BE49-F238E27FC236}">
                <a16:creationId xmlns:a16="http://schemas.microsoft.com/office/drawing/2014/main" id="{A6AA36B0-9876-0C3C-01CB-03749AE9EE26}"/>
              </a:ext>
            </a:extLst>
          </p:cNvPr>
          <p:cNvSpPr/>
          <p:nvPr/>
        </p:nvSpPr>
        <p:spPr>
          <a:xfrm>
            <a:off x="1437367" y="1084821"/>
            <a:ext cx="10594460" cy="664310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允许多个参与方在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不泄露输入集合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的前提下联合计算交集</a:t>
            </a:r>
          </a:p>
        </p:txBody>
      </p:sp>
      <p:sp>
        <p:nvSpPr>
          <p:cNvPr id="54" name="矩形: 圆角 27">
            <a:extLst>
              <a:ext uri="{FF2B5EF4-FFF2-40B4-BE49-F238E27FC236}">
                <a16:creationId xmlns:a16="http://schemas.microsoft.com/office/drawing/2014/main" id="{EDEB3786-900C-B3A8-F690-6609D40E0A30}"/>
              </a:ext>
            </a:extLst>
          </p:cNvPr>
          <p:cNvSpPr/>
          <p:nvPr/>
        </p:nvSpPr>
        <p:spPr>
          <a:xfrm>
            <a:off x="613379" y="1077446"/>
            <a:ext cx="3179682" cy="666000"/>
          </a:xfrm>
          <a:prstGeom prst="roundRect">
            <a:avLst>
              <a:gd name="adj" fmla="val 8538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14000"/>
              </a:lnSpc>
              <a:spcBef>
                <a:spcPct val="0"/>
              </a:spcBef>
            </a:pPr>
            <a:r>
              <a:rPr lang="zh-CN" altLang="en-US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多方隐私集合求交</a:t>
            </a:r>
            <a:endParaRPr lang="en-US" altLang="zh-CN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C2B9367-C7AE-F096-2491-9DFDE83497F7}"/>
              </a:ext>
            </a:extLst>
          </p:cNvPr>
          <p:cNvGrpSpPr>
            <a:grpSpLocks noChangeAspect="1"/>
          </p:cNvGrpSpPr>
          <p:nvPr/>
        </p:nvGrpSpPr>
        <p:grpSpPr>
          <a:xfrm>
            <a:off x="545710" y="1824020"/>
            <a:ext cx="5397890" cy="4029907"/>
            <a:chOff x="7902337" y="1532325"/>
            <a:chExt cx="3772264" cy="2816262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B820457-5B07-E21A-9DEC-FE9FC1F7CC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134913" y="1605032"/>
              <a:ext cx="3286990" cy="1607195"/>
              <a:chOff x="3046059" y="2101518"/>
              <a:chExt cx="5454575" cy="26942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61E31CC6-4AB0-2B26-EBCF-B628A3089FA9}"/>
                      </a:ext>
                    </a:extLst>
                  </p:cNvPr>
                  <p:cNvSpPr txBox="1"/>
                  <p:nvPr/>
                </p:nvSpPr>
                <p:spPr>
                  <a:xfrm>
                    <a:off x="3046059" y="2979443"/>
                    <a:ext cx="287777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61E31CC6-4AB0-2B26-EBCF-B628A3089F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6059" y="2979443"/>
                    <a:ext cx="287777" cy="4643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68" r="-170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590996DB-C095-1BAA-02AC-A9CBD5CE4472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590996DB-C095-1BAA-02AC-A9CBD5CE44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20AD5AD-F47A-77BD-61F0-2597A3B723D9}"/>
                      </a:ext>
                    </a:extLst>
                  </p:cNvPr>
                  <p:cNvSpPr txBox="1"/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020AD5AD-F47A-77BD-61F0-2597A3B723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8235" r="-411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2" name="图片 71">
                <a:extLst>
                  <a:ext uri="{FF2B5EF4-FFF2-40B4-BE49-F238E27FC236}">
                    <a16:creationId xmlns:a16="http://schemas.microsoft.com/office/drawing/2014/main" id="{0104D40C-5D56-1281-09E3-4713DC4AD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45020" y="2101518"/>
                <a:ext cx="687987" cy="631181"/>
              </a:xfrm>
              <a:prstGeom prst="rect">
                <a:avLst/>
              </a:prstGeom>
            </p:spPr>
          </p:pic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6B830114-162B-55FF-D93B-E7719FF6EB4E}"/>
                  </a:ext>
                </a:extLst>
              </p:cNvPr>
              <p:cNvCxnSpPr>
                <a:cxnSpLocks/>
                <a:stCxn id="72" idx="1"/>
              </p:cNvCxnSpPr>
              <p:nvPr/>
            </p:nvCxnSpPr>
            <p:spPr>
              <a:xfrm flipH="1">
                <a:off x="6137664" y="2417109"/>
                <a:ext cx="607356" cy="401324"/>
              </a:xfrm>
              <a:prstGeom prst="line">
                <a:avLst/>
              </a:prstGeom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1FE4BDC4-A02F-0720-76F5-F0E71E310DB1}"/>
                  </a:ext>
                </a:extLst>
              </p:cNvPr>
              <p:cNvCxnSpPr>
                <a:cxnSpLocks/>
                <a:stCxn id="72" idx="3"/>
              </p:cNvCxnSpPr>
              <p:nvPr/>
            </p:nvCxnSpPr>
            <p:spPr>
              <a:xfrm>
                <a:off x="7433007" y="2417109"/>
                <a:ext cx="539780" cy="36173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332AC8A2-8909-6608-D190-6B35EF3FC1C8}"/>
                  </a:ext>
                </a:extLst>
              </p:cNvPr>
              <p:cNvSpPr/>
              <p:nvPr/>
            </p:nvSpPr>
            <p:spPr>
              <a:xfrm>
                <a:off x="4405985" y="3607379"/>
                <a:ext cx="2706200" cy="517923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MPSI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6" name="连接符: 肘形 75">
                <a:extLst>
                  <a:ext uri="{FF2B5EF4-FFF2-40B4-BE49-F238E27FC236}">
                    <a16:creationId xmlns:a16="http://schemas.microsoft.com/office/drawing/2014/main" id="{A2F6800C-50D8-A48E-66F3-6F03C9F1A680}"/>
                  </a:ext>
                </a:extLst>
              </p:cNvPr>
              <p:cNvCxnSpPr>
                <a:cxnSpLocks/>
                <a:stCxn id="69" idx="2"/>
                <a:endCxn id="75" idx="1"/>
              </p:cNvCxnSpPr>
              <p:nvPr/>
            </p:nvCxnSpPr>
            <p:spPr>
              <a:xfrm rot="16200000" flipH="1">
                <a:off x="3586694" y="3047051"/>
                <a:ext cx="422544" cy="121603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连接符: 肘形 76">
                <a:extLst>
                  <a:ext uri="{FF2B5EF4-FFF2-40B4-BE49-F238E27FC236}">
                    <a16:creationId xmlns:a16="http://schemas.microsoft.com/office/drawing/2014/main" id="{D6976574-1E64-CD83-68C5-3259CD2C58C4}"/>
                  </a:ext>
                </a:extLst>
              </p:cNvPr>
              <p:cNvCxnSpPr>
                <a:cxnSpLocks/>
                <a:stCxn id="71" idx="2"/>
                <a:endCxn id="75" idx="3"/>
              </p:cNvCxnSpPr>
              <p:nvPr/>
            </p:nvCxnSpPr>
            <p:spPr>
              <a:xfrm rot="5400000">
                <a:off x="7539295" y="3023625"/>
                <a:ext cx="415607" cy="126982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AB93511C-3BD2-473E-B257-32970512DC1E}"/>
                  </a:ext>
                </a:extLst>
              </p:cNvPr>
              <p:cNvCxnSpPr>
                <a:cxnSpLocks/>
                <a:endCxn id="75" idx="0"/>
              </p:cNvCxnSpPr>
              <p:nvPr/>
            </p:nvCxnSpPr>
            <p:spPr>
              <a:xfrm>
                <a:off x="5755300" y="3399071"/>
                <a:ext cx="3786" cy="20830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BAC512F9-858A-C52A-59FC-6EA7451607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5299" y="4125302"/>
                <a:ext cx="0" cy="24839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DBC11941-2ACD-C6FF-9A6B-0FE1D655803C}"/>
                      </a:ext>
                    </a:extLst>
                  </p:cNvPr>
                  <p:cNvSpPr txBox="1"/>
                  <p:nvPr/>
                </p:nvSpPr>
                <p:spPr>
                  <a:xfrm>
                    <a:off x="4754293" y="4331427"/>
                    <a:ext cx="2189681" cy="46435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DBC11941-2ACD-C6FF-9A6B-0FE1D65580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4293" y="4331427"/>
                    <a:ext cx="2189681" cy="46435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1461B38F-AA18-6FD7-CD53-1918430A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2337" y="1532325"/>
              <a:ext cx="662590" cy="662590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EAE09136-FE43-D2B4-5D34-DB5DD349F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7466" y="1546829"/>
              <a:ext cx="660134" cy="660134"/>
            </a:xfrm>
            <a:prstGeom prst="rect">
              <a:avLst/>
            </a:prstGeom>
          </p:spPr>
        </p:pic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2103F6EE-AE6A-ACAB-E2DA-D0F8AB3AD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4467" y="1548835"/>
              <a:ext cx="660134" cy="660134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DA0F9B41-F1AD-FDD4-775B-BE3860FC5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382" y="3230288"/>
              <a:ext cx="2074301" cy="1118299"/>
            </a:xfrm>
            <a:prstGeom prst="rect">
              <a:avLst/>
            </a:prstGeom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1F720E8-604B-03CB-80C3-DBD8B8B8F05F}"/>
              </a:ext>
            </a:extLst>
          </p:cNvPr>
          <p:cNvGrpSpPr/>
          <p:nvPr/>
        </p:nvGrpSpPr>
        <p:grpSpPr>
          <a:xfrm>
            <a:off x="36867" y="5853059"/>
            <a:ext cx="12096205" cy="1070373"/>
            <a:chOff x="-288152" y="899791"/>
            <a:chExt cx="8913628" cy="1070373"/>
          </a:xfrm>
        </p:grpSpPr>
        <p:sp>
          <p:nvSpPr>
            <p:cNvPr id="83" name="圆角矩形 1">
              <a:extLst>
                <a:ext uri="{FF2B5EF4-FFF2-40B4-BE49-F238E27FC236}">
                  <a16:creationId xmlns:a16="http://schemas.microsoft.com/office/drawing/2014/main" id="{580AF15B-CB47-48FE-F096-E0F199FB1E9F}"/>
                </a:ext>
              </a:extLst>
            </p:cNvPr>
            <p:cNvSpPr/>
            <p:nvPr/>
          </p:nvSpPr>
          <p:spPr>
            <a:xfrm>
              <a:off x="-120678" y="1094918"/>
              <a:ext cx="8621867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圆角矩形 1">
              <a:extLst>
                <a:ext uri="{FF2B5EF4-FFF2-40B4-BE49-F238E27FC236}">
                  <a16:creationId xmlns:a16="http://schemas.microsoft.com/office/drawing/2014/main" id="{9BB590A8-F903-D033-5FC3-95E456D75943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隐私保护下的位置信息共享 、公共联系人发现、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DNA 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检测和模式匹配</a:t>
              </a:r>
              <a:endPara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5122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4AD5D7A0-ABA7-3593-F8E1-35F1F3E8DD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5931099" y="2032692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矩形 84">
            <a:extLst>
              <a:ext uri="{FF2B5EF4-FFF2-40B4-BE49-F238E27FC236}">
                <a16:creationId xmlns:a16="http://schemas.microsoft.com/office/drawing/2014/main" id="{217C643D-4AB1-9FF8-966D-66267E52AAA2}"/>
              </a:ext>
            </a:extLst>
          </p:cNvPr>
          <p:cNvSpPr/>
          <p:nvPr/>
        </p:nvSpPr>
        <p:spPr>
          <a:xfrm>
            <a:off x="7263522" y="4087160"/>
            <a:ext cx="2732476" cy="51767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MPSI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25AD9B3E-D06B-B0B0-B08C-4FC8757294B4}"/>
              </a:ext>
            </a:extLst>
          </p:cNvPr>
          <p:cNvCxnSpPr>
            <a:cxnSpLocks/>
            <a:endCxn id="85" idx="1"/>
          </p:cNvCxnSpPr>
          <p:nvPr/>
        </p:nvCxnSpPr>
        <p:spPr>
          <a:xfrm rot="16200000" flipH="1">
            <a:off x="6726975" y="3809448"/>
            <a:ext cx="347420" cy="7256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FA6BB954-6F5B-CB51-97BF-749DEA04F3ED}"/>
              </a:ext>
            </a:extLst>
          </p:cNvPr>
          <p:cNvCxnSpPr>
            <a:cxnSpLocks/>
            <a:endCxn id="85" idx="3"/>
          </p:cNvCxnSpPr>
          <p:nvPr/>
        </p:nvCxnSpPr>
        <p:spPr>
          <a:xfrm rot="5400000">
            <a:off x="10107861" y="3817381"/>
            <a:ext cx="416751" cy="64047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2A4F1A8-EC56-DEF3-57E1-A3B3E831D7B3}"/>
              </a:ext>
            </a:extLst>
          </p:cNvPr>
          <p:cNvCxnSpPr>
            <a:cxnSpLocks/>
          </p:cNvCxnSpPr>
          <p:nvPr/>
        </p:nvCxnSpPr>
        <p:spPr>
          <a:xfrm>
            <a:off x="8564313" y="3885859"/>
            <a:ext cx="3823" cy="208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7737CCC-310A-649B-4D06-74BEF0DD34CE}"/>
              </a:ext>
            </a:extLst>
          </p:cNvPr>
          <p:cNvCxnSpPr>
            <a:cxnSpLocks/>
          </p:cNvCxnSpPr>
          <p:nvPr/>
        </p:nvCxnSpPr>
        <p:spPr>
          <a:xfrm>
            <a:off x="8564312" y="4611735"/>
            <a:ext cx="0" cy="248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EC68D10-0DE8-3975-46A9-03AC29B29DCE}"/>
              </a:ext>
            </a:extLst>
          </p:cNvPr>
          <p:cNvSpPr txBox="1"/>
          <p:nvPr/>
        </p:nvSpPr>
        <p:spPr>
          <a:xfrm>
            <a:off x="3759270" y="1772443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6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6A3B98F4-E45C-F9FE-DD4D-C574E0B917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7866757" y="2032691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63AEF8E8-F1A9-B002-0D48-9FE79135923E}"/>
              </a:ext>
            </a:extLst>
          </p:cNvPr>
          <p:cNvSpPr txBox="1"/>
          <p:nvPr/>
        </p:nvSpPr>
        <p:spPr>
          <a:xfrm>
            <a:off x="5544157" y="1805870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8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AD899184-1BBA-5318-0BC6-F4A8EB3CB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9876080" y="2032690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52694D24-2FDD-A714-7A14-3B510C2B568F}"/>
              </a:ext>
            </a:extLst>
          </p:cNvPr>
          <p:cNvSpPr txBox="1"/>
          <p:nvPr/>
        </p:nvSpPr>
        <p:spPr>
          <a:xfrm>
            <a:off x="8564312" y="1789157"/>
            <a:ext cx="403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CD84444-AC10-A107-5BDE-A9A9425EB99C}"/>
              </a:ext>
            </a:extLst>
          </p:cNvPr>
          <p:cNvGrpSpPr/>
          <p:nvPr/>
        </p:nvGrpSpPr>
        <p:grpSpPr>
          <a:xfrm>
            <a:off x="3687003" y="2997360"/>
            <a:ext cx="6123060" cy="931101"/>
            <a:chOff x="3687003" y="2997360"/>
            <a:chExt cx="6123060" cy="931101"/>
          </a:xfrm>
        </p:grpSpPr>
        <p:sp>
          <p:nvSpPr>
            <p:cNvPr id="10" name="卷形: 垂直 9">
              <a:extLst>
                <a:ext uri="{FF2B5EF4-FFF2-40B4-BE49-F238E27FC236}">
                  <a16:creationId xmlns:a16="http://schemas.microsoft.com/office/drawing/2014/main" id="{F6E1EDDF-BA1C-BD96-E303-6852B8FDF713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B4B293E-833B-51EE-0EBB-5324D2D1E3C6}"/>
                </a:ext>
              </a:extLst>
            </p:cNvPr>
            <p:cNvSpPr txBox="1"/>
            <p:nvPr/>
          </p:nvSpPr>
          <p:spPr>
            <a:xfrm>
              <a:off x="3687003" y="3192489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F8E4A6-7BBD-2B74-F7E0-F2F83EFCBE98}"/>
              </a:ext>
            </a:extLst>
          </p:cNvPr>
          <p:cNvGrpSpPr/>
          <p:nvPr/>
        </p:nvGrpSpPr>
        <p:grpSpPr>
          <a:xfrm>
            <a:off x="5686515" y="2967818"/>
            <a:ext cx="6123060" cy="931101"/>
            <a:chOff x="3687003" y="2997360"/>
            <a:chExt cx="6123060" cy="931101"/>
          </a:xfrm>
        </p:grpSpPr>
        <p:sp>
          <p:nvSpPr>
            <p:cNvPr id="13" name="卷形: 垂直 12">
              <a:extLst>
                <a:ext uri="{FF2B5EF4-FFF2-40B4-BE49-F238E27FC236}">
                  <a16:creationId xmlns:a16="http://schemas.microsoft.com/office/drawing/2014/main" id="{239908D8-E0CE-63A8-4040-1D36506FFA2D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4693F64-B8B4-0F30-0580-66414CE5FC4A}"/>
                </a:ext>
              </a:extLst>
            </p:cNvPr>
            <p:cNvSpPr txBox="1"/>
            <p:nvPr/>
          </p:nvSpPr>
          <p:spPr>
            <a:xfrm>
              <a:off x="3687003" y="3192489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4AE0138-75C7-70D9-ECCB-A07E247338C3}"/>
              </a:ext>
            </a:extLst>
          </p:cNvPr>
          <p:cNvGrpSpPr/>
          <p:nvPr/>
        </p:nvGrpSpPr>
        <p:grpSpPr>
          <a:xfrm>
            <a:off x="7741218" y="2938159"/>
            <a:ext cx="6123060" cy="931101"/>
            <a:chOff x="3687003" y="2997360"/>
            <a:chExt cx="6123060" cy="931101"/>
          </a:xfrm>
        </p:grpSpPr>
        <p:sp>
          <p:nvSpPr>
            <p:cNvPr id="16" name="卷形: 垂直 15">
              <a:extLst>
                <a:ext uri="{FF2B5EF4-FFF2-40B4-BE49-F238E27FC236}">
                  <a16:creationId xmlns:a16="http://schemas.microsoft.com/office/drawing/2014/main" id="{BCF57A1B-1CFE-D91C-9CEE-387691FA1499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C749FD9-6A83-2441-A2E1-BE339ADC8470}"/>
                </a:ext>
              </a:extLst>
            </p:cNvPr>
            <p:cNvSpPr txBox="1"/>
            <p:nvPr/>
          </p:nvSpPr>
          <p:spPr>
            <a:xfrm>
              <a:off x="3687003" y="3192489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9515627-3E5C-ABBE-6BA7-301E71B41353}"/>
              </a:ext>
            </a:extLst>
          </p:cNvPr>
          <p:cNvSpPr txBox="1"/>
          <p:nvPr/>
        </p:nvSpPr>
        <p:spPr>
          <a:xfrm>
            <a:off x="5471293" y="4925168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同时具有症状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的患者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921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3B96-48C3-839A-A51B-08AE9A62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ED8A5DD8-18A2-B565-2075-724EBDA2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典型功能及其应用场景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5167AE46-9F86-FFD9-E647-91D5D7624806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1">
            <a:extLst>
              <a:ext uri="{FF2B5EF4-FFF2-40B4-BE49-F238E27FC236}">
                <a16:creationId xmlns:a16="http://schemas.microsoft.com/office/drawing/2014/main" id="{76AF1FA4-E600-6D8C-00CA-C4D2A0764058}"/>
              </a:ext>
            </a:extLst>
          </p:cNvPr>
          <p:cNvSpPr/>
          <p:nvPr/>
        </p:nvSpPr>
        <p:spPr>
          <a:xfrm>
            <a:off x="1437367" y="1084821"/>
            <a:ext cx="10594460" cy="664310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允许多个参与方在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不泄露输入集合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的前提下联合计算并集</a:t>
            </a:r>
          </a:p>
        </p:txBody>
      </p:sp>
      <p:sp>
        <p:nvSpPr>
          <p:cNvPr id="54" name="矩形: 圆角 27">
            <a:extLst>
              <a:ext uri="{FF2B5EF4-FFF2-40B4-BE49-F238E27FC236}">
                <a16:creationId xmlns:a16="http://schemas.microsoft.com/office/drawing/2014/main" id="{94C5C2B9-8D3B-6FD5-CFAD-E58CD149C3EC}"/>
              </a:ext>
            </a:extLst>
          </p:cNvPr>
          <p:cNvSpPr/>
          <p:nvPr/>
        </p:nvSpPr>
        <p:spPr>
          <a:xfrm>
            <a:off x="613379" y="1077446"/>
            <a:ext cx="3179682" cy="666000"/>
          </a:xfrm>
          <a:prstGeom prst="roundRect">
            <a:avLst>
              <a:gd name="adj" fmla="val 8538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14000"/>
              </a:lnSpc>
              <a:spcBef>
                <a:spcPct val="0"/>
              </a:spcBef>
            </a:pPr>
            <a:r>
              <a:rPr lang="zh-CN" altLang="en-US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多方隐私集合求并</a:t>
            </a:r>
            <a:endParaRPr lang="en-US" altLang="zh-CN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584FEDD3-CB81-882A-49AF-70CE9F850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703" y="2132555"/>
            <a:ext cx="1865942" cy="1200067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CE506EFE-81F9-2DE0-6AE7-ABA8C2A01748}"/>
              </a:ext>
            </a:extLst>
          </p:cNvPr>
          <p:cNvSpPr/>
          <p:nvPr/>
        </p:nvSpPr>
        <p:spPr>
          <a:xfrm flipH="1">
            <a:off x="6056697" y="1870675"/>
            <a:ext cx="935453" cy="390888"/>
          </a:xfrm>
          <a:prstGeom prst="rect">
            <a:avLst/>
          </a:prstGeom>
          <a:noFill/>
        </p:spPr>
        <p:txBody>
          <a:bodyPr wrap="square" lIns="77418" tIns="38709" rIns="77418" bIns="38709">
            <a:spAutoFit/>
          </a:bodyPr>
          <a:lstStyle/>
          <a:p>
            <a:pPr algn="ctr"/>
            <a:r>
              <a:rPr lang="zh-CN" altLang="en-US" sz="2032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银行</a:t>
            </a:r>
            <a:r>
              <a:rPr lang="en-US" altLang="zh-CN" sz="2032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1</a:t>
            </a:r>
            <a:endParaRPr lang="zh-CN" altLang="en-US" sz="2032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9F962A98-A9F4-6ACC-77E4-CA90A264A4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645" y="2139528"/>
            <a:ext cx="1865942" cy="1200067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178EFA50-3624-EC29-5B8B-B43B46430EE3}"/>
              </a:ext>
            </a:extLst>
          </p:cNvPr>
          <p:cNvSpPr/>
          <p:nvPr/>
        </p:nvSpPr>
        <p:spPr>
          <a:xfrm flipH="1">
            <a:off x="7922639" y="1877648"/>
            <a:ext cx="935453" cy="390888"/>
          </a:xfrm>
          <a:prstGeom prst="rect">
            <a:avLst/>
          </a:prstGeom>
          <a:noFill/>
        </p:spPr>
        <p:txBody>
          <a:bodyPr wrap="square" lIns="77418" tIns="38709" rIns="77418" bIns="38709">
            <a:spAutoFit/>
          </a:bodyPr>
          <a:lstStyle/>
          <a:p>
            <a:pPr algn="ctr"/>
            <a:r>
              <a:rPr lang="zh-CN" altLang="en-US" sz="2032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银行</a:t>
            </a:r>
            <a:r>
              <a:rPr lang="en-US" altLang="zh-CN" sz="2032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2</a:t>
            </a:r>
            <a:endParaRPr lang="zh-CN" altLang="en-US" sz="2032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F9A7B7E0-10C7-0700-9E1E-42B5BB7273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87" y="2139528"/>
            <a:ext cx="1865942" cy="1200067"/>
          </a:xfrm>
          <a:prstGeom prst="rect">
            <a:avLst/>
          </a:prstGeom>
        </p:spPr>
      </p:pic>
      <p:sp>
        <p:nvSpPr>
          <p:cNvPr id="81" name="矩形 80">
            <a:extLst>
              <a:ext uri="{FF2B5EF4-FFF2-40B4-BE49-F238E27FC236}">
                <a16:creationId xmlns:a16="http://schemas.microsoft.com/office/drawing/2014/main" id="{E7157E04-9150-3AEC-25B7-ED8C8AC00629}"/>
              </a:ext>
            </a:extLst>
          </p:cNvPr>
          <p:cNvSpPr/>
          <p:nvPr/>
        </p:nvSpPr>
        <p:spPr>
          <a:xfrm flipH="1">
            <a:off x="9788581" y="1877648"/>
            <a:ext cx="935453" cy="390888"/>
          </a:xfrm>
          <a:prstGeom prst="rect">
            <a:avLst/>
          </a:prstGeom>
          <a:noFill/>
        </p:spPr>
        <p:txBody>
          <a:bodyPr wrap="square" lIns="77418" tIns="38709" rIns="77418" bIns="38709">
            <a:spAutoFit/>
          </a:bodyPr>
          <a:lstStyle/>
          <a:p>
            <a:pPr algn="ctr"/>
            <a:r>
              <a:rPr lang="zh-CN" altLang="en-US" sz="2032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银行</a:t>
            </a:r>
            <a:r>
              <a:rPr lang="en-US" altLang="zh-CN" sz="2032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rPr>
              <a:t>3</a:t>
            </a:r>
            <a:endParaRPr lang="zh-CN" altLang="en-US" sz="2032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56D7719-5494-58F9-8338-981692FA466A}"/>
              </a:ext>
            </a:extLst>
          </p:cNvPr>
          <p:cNvSpPr/>
          <p:nvPr/>
        </p:nvSpPr>
        <p:spPr>
          <a:xfrm flipH="1">
            <a:off x="7668212" y="5258338"/>
            <a:ext cx="1607726" cy="390888"/>
          </a:xfrm>
          <a:prstGeom prst="rect">
            <a:avLst/>
          </a:prstGeom>
          <a:noFill/>
        </p:spPr>
        <p:txBody>
          <a:bodyPr wrap="square" lIns="77418" tIns="38709" rIns="77418" bIns="38709">
            <a:spAutoFit/>
          </a:bodyPr>
          <a:lstStyle/>
          <a:p>
            <a:pPr algn="ctr"/>
            <a:r>
              <a:rPr lang="zh-CN" altLang="en-US" sz="2032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联合黑名单</a:t>
            </a:r>
            <a:endParaRPr lang="zh-CN" altLang="en-US" sz="2032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F55669F8-8D3B-0197-F6E3-21810BBDBEF1}"/>
              </a:ext>
            </a:extLst>
          </p:cNvPr>
          <p:cNvGrpSpPr>
            <a:grpSpLocks noChangeAspect="1"/>
          </p:cNvGrpSpPr>
          <p:nvPr/>
        </p:nvGrpSpPr>
        <p:grpSpPr>
          <a:xfrm>
            <a:off x="659428" y="1835526"/>
            <a:ext cx="5025094" cy="4055972"/>
            <a:chOff x="8129937" y="1502612"/>
            <a:chExt cx="3544664" cy="2861054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CECBD8ED-3365-3572-1560-51B94E8A37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5150" y="1605032"/>
              <a:ext cx="3066751" cy="1535649"/>
              <a:chOff x="3411532" y="2101518"/>
              <a:chExt cx="5089102" cy="257432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3C0CA23C-4F15-44FD-C9A5-3A10A8D417D5}"/>
                      </a:ext>
                    </a:extLst>
                  </p:cNvPr>
                  <p:cNvSpPr txBox="1"/>
                  <p:nvPr/>
                </p:nvSpPr>
                <p:spPr>
                  <a:xfrm>
                    <a:off x="3411532" y="2910558"/>
                    <a:ext cx="287777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3C0CA23C-4F15-44FD-C9A5-3A10A8D41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1532" y="2910558"/>
                    <a:ext cx="287777" cy="4643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2500" r="-2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A0CE4BCA-05C2-F8F1-3A17-7D220060A9EE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A0CE4BCA-05C2-F8F1-3A17-7D220060A9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728" y="2967598"/>
                    <a:ext cx="521804" cy="4643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33C56B86-33C8-CA66-59D3-EF89B22FECF5}"/>
                      </a:ext>
                    </a:extLst>
                  </p:cNvPr>
                  <p:cNvSpPr txBox="1"/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33C56B86-33C8-CA66-59D3-EF89B22FEC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63388" y="2986380"/>
                    <a:ext cx="237246" cy="4643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8235" r="-411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5941B35C-2584-9F04-0B79-DEBAC8843C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45020" y="2101518"/>
                <a:ext cx="687987" cy="631181"/>
              </a:xfrm>
              <a:prstGeom prst="rect">
                <a:avLst/>
              </a:prstGeom>
            </p:spPr>
          </p:pic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1715D143-9F24-3460-56E2-2E8F8748B52E}"/>
                  </a:ext>
                </a:extLst>
              </p:cNvPr>
              <p:cNvCxnSpPr>
                <a:cxnSpLocks/>
                <a:stCxn id="111" idx="1"/>
              </p:cNvCxnSpPr>
              <p:nvPr/>
            </p:nvCxnSpPr>
            <p:spPr>
              <a:xfrm flipH="1">
                <a:off x="6137664" y="2417109"/>
                <a:ext cx="607356" cy="401324"/>
              </a:xfrm>
              <a:prstGeom prst="line">
                <a:avLst/>
              </a:prstGeom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EB63A97B-1DD9-EB35-29D0-C31BC9796982}"/>
                  </a:ext>
                </a:extLst>
              </p:cNvPr>
              <p:cNvCxnSpPr>
                <a:cxnSpLocks/>
                <a:stCxn id="111" idx="3"/>
              </p:cNvCxnSpPr>
              <p:nvPr/>
            </p:nvCxnSpPr>
            <p:spPr>
              <a:xfrm>
                <a:off x="7433007" y="2417109"/>
                <a:ext cx="539780" cy="36173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E3744EE0-5B6C-F298-70AD-5B6961D33524}"/>
                  </a:ext>
                </a:extLst>
              </p:cNvPr>
              <p:cNvSpPr/>
              <p:nvPr/>
            </p:nvSpPr>
            <p:spPr>
              <a:xfrm>
                <a:off x="4405985" y="3607379"/>
                <a:ext cx="2706200" cy="517923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MPSU</a:t>
                </a:r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5" name="连接符: 肘形 114">
                <a:extLst>
                  <a:ext uri="{FF2B5EF4-FFF2-40B4-BE49-F238E27FC236}">
                    <a16:creationId xmlns:a16="http://schemas.microsoft.com/office/drawing/2014/main" id="{CA89E994-254E-EE21-3A8A-32A05DA3D923}"/>
                  </a:ext>
                </a:extLst>
              </p:cNvPr>
              <p:cNvCxnSpPr>
                <a:cxnSpLocks/>
                <a:stCxn id="106" idx="2"/>
                <a:endCxn id="114" idx="1"/>
              </p:cNvCxnSpPr>
              <p:nvPr/>
            </p:nvCxnSpPr>
            <p:spPr>
              <a:xfrm rot="16200000" flipH="1">
                <a:off x="3734988" y="3195343"/>
                <a:ext cx="491429" cy="85056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16">
                <a:extLst>
                  <a:ext uri="{FF2B5EF4-FFF2-40B4-BE49-F238E27FC236}">
                    <a16:creationId xmlns:a16="http://schemas.microsoft.com/office/drawing/2014/main" id="{6812329D-AAD8-6DB3-2F10-12720AE8A985}"/>
                  </a:ext>
                </a:extLst>
              </p:cNvPr>
              <p:cNvCxnSpPr>
                <a:cxnSpLocks noChangeAspect="1"/>
                <a:stCxn id="110" idx="2"/>
                <a:endCxn id="114" idx="3"/>
              </p:cNvCxnSpPr>
              <p:nvPr/>
            </p:nvCxnSpPr>
            <p:spPr>
              <a:xfrm rot="5400000">
                <a:off x="7539295" y="3023625"/>
                <a:ext cx="415607" cy="126982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F5AF26DE-A87A-9F4E-B9BF-67AE6A0CD92A}"/>
                  </a:ext>
                </a:extLst>
              </p:cNvPr>
              <p:cNvCxnSpPr>
                <a:cxnSpLocks/>
                <a:endCxn id="114" idx="0"/>
              </p:cNvCxnSpPr>
              <p:nvPr/>
            </p:nvCxnSpPr>
            <p:spPr>
              <a:xfrm>
                <a:off x="5755300" y="3399071"/>
                <a:ext cx="3786" cy="20830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>
                <a:extLst>
                  <a:ext uri="{FF2B5EF4-FFF2-40B4-BE49-F238E27FC236}">
                    <a16:creationId xmlns:a16="http://schemas.microsoft.com/office/drawing/2014/main" id="{347D6B13-501F-7DBE-643B-521B9AEF0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5299" y="4125302"/>
                <a:ext cx="0" cy="24839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71DC1CC4-3069-3F28-6D00-B52C4421AE14}"/>
                      </a:ext>
                    </a:extLst>
                  </p:cNvPr>
                  <p:cNvSpPr txBox="1"/>
                  <p:nvPr/>
                </p:nvSpPr>
                <p:spPr>
                  <a:xfrm>
                    <a:off x="4896737" y="4331775"/>
                    <a:ext cx="1944156" cy="34406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71DC1CC4-3069-3F28-6D00-B52C4421AE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6737" y="4331775"/>
                    <a:ext cx="1944156" cy="34406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04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A1B39380-56DF-B7E7-2519-09DF1E374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9937" y="1502612"/>
              <a:ext cx="662590" cy="662590"/>
            </a:xfrm>
            <a:prstGeom prst="rect">
              <a:avLst/>
            </a:prstGeom>
          </p:spPr>
        </p:pic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6A912367-60FA-90B3-AEC1-92EAE19AB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7466" y="1546829"/>
              <a:ext cx="660134" cy="660134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DE744EA0-1649-5DBA-8040-A53FBF33D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4467" y="1548835"/>
              <a:ext cx="660134" cy="660134"/>
            </a:xfrm>
            <a:prstGeom prst="rect">
              <a:avLst/>
            </a:prstGeom>
          </p:spPr>
        </p:pic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FF464937-2E53-BC80-A96C-D2A7F6A4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0059" y="3196500"/>
              <a:ext cx="2157069" cy="1167166"/>
            </a:xfrm>
            <a:prstGeom prst="rect">
              <a:avLst/>
            </a:prstGeom>
          </p:spPr>
        </p:pic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580E062-6CB1-73F7-A69D-911A8ED5859B}"/>
              </a:ext>
            </a:extLst>
          </p:cNvPr>
          <p:cNvGrpSpPr/>
          <p:nvPr/>
        </p:nvGrpSpPr>
        <p:grpSpPr>
          <a:xfrm>
            <a:off x="36867" y="5853059"/>
            <a:ext cx="12096205" cy="1070373"/>
            <a:chOff x="-288152" y="899791"/>
            <a:chExt cx="8913628" cy="1070373"/>
          </a:xfrm>
        </p:grpSpPr>
        <p:sp>
          <p:nvSpPr>
            <p:cNvPr id="142" name="圆角矩形 1">
              <a:extLst>
                <a:ext uri="{FF2B5EF4-FFF2-40B4-BE49-F238E27FC236}">
                  <a16:creationId xmlns:a16="http://schemas.microsoft.com/office/drawing/2014/main" id="{9E03CDBC-5B03-C61A-697D-A9665529312C}"/>
                </a:ext>
              </a:extLst>
            </p:cNvPr>
            <p:cNvSpPr/>
            <p:nvPr/>
          </p:nvSpPr>
          <p:spPr>
            <a:xfrm>
              <a:off x="-164716" y="1078306"/>
              <a:ext cx="8704332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圆角矩形 1">
              <a:extLst>
                <a:ext uri="{FF2B5EF4-FFF2-40B4-BE49-F238E27FC236}">
                  <a16:creationId xmlns:a16="http://schemas.microsoft.com/office/drawing/2014/main" id="{3255D1E1-4F18-BDD8-E731-751D34FC3754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IP 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黑名单和漏洞数据聚合、联合图计算、全连接的隐私数据库、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Private ID</a:t>
              </a:r>
              <a:endPara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51" name="矩形 150">
            <a:extLst>
              <a:ext uri="{FF2B5EF4-FFF2-40B4-BE49-F238E27FC236}">
                <a16:creationId xmlns:a16="http://schemas.microsoft.com/office/drawing/2014/main" id="{018B933A-72E0-1DCC-8B3A-33B5E4CE26E3}"/>
              </a:ext>
            </a:extLst>
          </p:cNvPr>
          <p:cNvSpPr/>
          <p:nvPr/>
        </p:nvSpPr>
        <p:spPr>
          <a:xfrm>
            <a:off x="7025405" y="4397489"/>
            <a:ext cx="2732476" cy="51767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MPSU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2" name="连接符: 肘形 151">
            <a:extLst>
              <a:ext uri="{FF2B5EF4-FFF2-40B4-BE49-F238E27FC236}">
                <a16:creationId xmlns:a16="http://schemas.microsoft.com/office/drawing/2014/main" id="{557E4C53-EF2F-4C91-3A4E-B51A0CC374D0}"/>
              </a:ext>
            </a:extLst>
          </p:cNvPr>
          <p:cNvCxnSpPr>
            <a:cxnSpLocks/>
            <a:endCxn id="151" idx="1"/>
          </p:cNvCxnSpPr>
          <p:nvPr/>
        </p:nvCxnSpPr>
        <p:spPr>
          <a:xfrm rot="16200000" flipH="1">
            <a:off x="6488858" y="4119777"/>
            <a:ext cx="347420" cy="7256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B1D6949B-41EB-1591-CFCB-A3C56213BF99}"/>
              </a:ext>
            </a:extLst>
          </p:cNvPr>
          <p:cNvCxnSpPr>
            <a:cxnSpLocks/>
            <a:endCxn id="151" idx="3"/>
          </p:cNvCxnSpPr>
          <p:nvPr/>
        </p:nvCxnSpPr>
        <p:spPr>
          <a:xfrm rot="5400000">
            <a:off x="9869744" y="4127710"/>
            <a:ext cx="416751" cy="64047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36ADC1FA-9A08-2EEC-C85D-367BB2785BF2}"/>
              </a:ext>
            </a:extLst>
          </p:cNvPr>
          <p:cNvCxnSpPr>
            <a:cxnSpLocks/>
          </p:cNvCxnSpPr>
          <p:nvPr/>
        </p:nvCxnSpPr>
        <p:spPr>
          <a:xfrm>
            <a:off x="8326196" y="4196188"/>
            <a:ext cx="3823" cy="208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431EC8AD-2D32-62A4-FC89-55FF81767874}"/>
              </a:ext>
            </a:extLst>
          </p:cNvPr>
          <p:cNvCxnSpPr>
            <a:cxnSpLocks/>
          </p:cNvCxnSpPr>
          <p:nvPr/>
        </p:nvCxnSpPr>
        <p:spPr>
          <a:xfrm>
            <a:off x="8326195" y="4922064"/>
            <a:ext cx="0" cy="248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DB1E9D3-CB15-AB6C-4239-BD613DFD9731}"/>
              </a:ext>
            </a:extLst>
          </p:cNvPr>
          <p:cNvGrpSpPr/>
          <p:nvPr/>
        </p:nvGrpSpPr>
        <p:grpSpPr>
          <a:xfrm>
            <a:off x="3448886" y="3307689"/>
            <a:ext cx="6123060" cy="931101"/>
            <a:chOff x="3687003" y="2997360"/>
            <a:chExt cx="6123060" cy="931101"/>
          </a:xfrm>
        </p:grpSpPr>
        <p:sp>
          <p:nvSpPr>
            <p:cNvPr id="157" name="卷形: 垂直 156">
              <a:extLst>
                <a:ext uri="{FF2B5EF4-FFF2-40B4-BE49-F238E27FC236}">
                  <a16:creationId xmlns:a16="http://schemas.microsoft.com/office/drawing/2014/main" id="{5A8030AF-A42C-792E-8D99-76E79CBF79A8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DC058116-F8F5-F8E4-3BFE-3789F2626DEA}"/>
                </a:ext>
              </a:extLst>
            </p:cNvPr>
            <p:cNvSpPr txBox="1"/>
            <p:nvPr/>
          </p:nvSpPr>
          <p:spPr>
            <a:xfrm>
              <a:off x="3687003" y="3192489"/>
              <a:ext cx="61230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黑名单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160" name="卷形: 垂直 159">
            <a:extLst>
              <a:ext uri="{FF2B5EF4-FFF2-40B4-BE49-F238E27FC236}">
                <a16:creationId xmlns:a16="http://schemas.microsoft.com/office/drawing/2014/main" id="{C0973377-F71E-5005-B43C-A617D1C23DE1}"/>
              </a:ext>
            </a:extLst>
          </p:cNvPr>
          <p:cNvSpPr/>
          <p:nvPr/>
        </p:nvSpPr>
        <p:spPr>
          <a:xfrm>
            <a:off x="7759247" y="3278147"/>
            <a:ext cx="1469406" cy="931101"/>
          </a:xfrm>
          <a:prstGeom prst="verticalScroll">
            <a:avLst/>
          </a:prstGeom>
          <a:solidFill>
            <a:schemeClr val="bg1"/>
          </a:solidFill>
          <a:ln>
            <a:solidFill>
              <a:srgbClr val="413C3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accent2"/>
              </a:solidFill>
            </a:endParaRPr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EBD0B793-E6AB-F746-85B1-C3EDB07CEA3C}"/>
              </a:ext>
            </a:extLst>
          </p:cNvPr>
          <p:cNvGrpSpPr/>
          <p:nvPr/>
        </p:nvGrpSpPr>
        <p:grpSpPr>
          <a:xfrm>
            <a:off x="7503101" y="3248488"/>
            <a:ext cx="6123060" cy="931101"/>
            <a:chOff x="3687003" y="2997360"/>
            <a:chExt cx="6123060" cy="931101"/>
          </a:xfrm>
        </p:grpSpPr>
        <p:sp>
          <p:nvSpPr>
            <p:cNvPr id="163" name="卷形: 垂直 162">
              <a:extLst>
                <a:ext uri="{FF2B5EF4-FFF2-40B4-BE49-F238E27FC236}">
                  <a16:creationId xmlns:a16="http://schemas.microsoft.com/office/drawing/2014/main" id="{C37EB384-C216-B38E-DD4E-EC9F4DEA3D3D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FA2515A1-4CA9-BA84-61D4-8C53B7358371}"/>
                </a:ext>
              </a:extLst>
            </p:cNvPr>
            <p:cNvSpPr txBox="1"/>
            <p:nvPr/>
          </p:nvSpPr>
          <p:spPr>
            <a:xfrm>
              <a:off x="3687003" y="3192489"/>
              <a:ext cx="61230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黑名单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3F6566C-2262-5CD9-B5FE-FC3BFA3B6802}"/>
              </a:ext>
            </a:extLst>
          </p:cNvPr>
          <p:cNvSpPr txBox="1"/>
          <p:nvPr/>
        </p:nvSpPr>
        <p:spPr>
          <a:xfrm>
            <a:off x="5432420" y="3465326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黑名单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9903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E412-2A39-8E56-AE19-117962B6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FE5CB4D5-29C7-B960-97CD-5741A06C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典型功能及其应用场景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A292DAEB-2EA2-98F5-9956-BED0C05D152B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1">
            <a:extLst>
              <a:ext uri="{FF2B5EF4-FFF2-40B4-BE49-F238E27FC236}">
                <a16:creationId xmlns:a16="http://schemas.microsoft.com/office/drawing/2014/main" id="{F0172DFA-3497-0E4E-883E-EF23A686DE7A}"/>
              </a:ext>
            </a:extLst>
          </p:cNvPr>
          <p:cNvSpPr/>
          <p:nvPr/>
        </p:nvSpPr>
        <p:spPr>
          <a:xfrm>
            <a:off x="1437366" y="1084821"/>
            <a:ext cx="10084107" cy="664310"/>
          </a:xfrm>
          <a:prstGeom prst="roundRect">
            <a:avLst>
              <a:gd name="adj" fmla="val 47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允许多个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参与方联合计算交集的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部分或汇总信息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: 圆角 27">
            <a:extLst>
              <a:ext uri="{FF2B5EF4-FFF2-40B4-BE49-F238E27FC236}">
                <a16:creationId xmlns:a16="http://schemas.microsoft.com/office/drawing/2014/main" id="{CC345A62-3E45-C191-4F7E-F67B8C51B711}"/>
              </a:ext>
            </a:extLst>
          </p:cNvPr>
          <p:cNvSpPr/>
          <p:nvPr/>
        </p:nvSpPr>
        <p:spPr>
          <a:xfrm>
            <a:off x="613379" y="1077446"/>
            <a:ext cx="3179682" cy="666000"/>
          </a:xfrm>
          <a:prstGeom prst="roundRect">
            <a:avLst>
              <a:gd name="adj" fmla="val 8538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14000"/>
              </a:lnSpc>
              <a:spcBef>
                <a:spcPct val="0"/>
              </a:spcBef>
            </a:pPr>
            <a:r>
              <a:rPr lang="zh-CN" altLang="en-US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多方隐私交集计算</a:t>
            </a:r>
            <a:endParaRPr lang="en-US" altLang="zh-CN" sz="2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636BDBEB-4468-F692-B3FA-B920C5CB8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5931099" y="2032692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矩形 84">
            <a:extLst>
              <a:ext uri="{FF2B5EF4-FFF2-40B4-BE49-F238E27FC236}">
                <a16:creationId xmlns:a16="http://schemas.microsoft.com/office/drawing/2014/main" id="{98CC8A0B-BCCE-01A0-518C-B735DD6C9D8E}"/>
              </a:ext>
            </a:extLst>
          </p:cNvPr>
          <p:cNvSpPr/>
          <p:nvPr/>
        </p:nvSpPr>
        <p:spPr>
          <a:xfrm>
            <a:off x="7268710" y="3909994"/>
            <a:ext cx="2732476" cy="51767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MPCSI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2731975F-9E38-7568-C6C5-288EF166D7BD}"/>
              </a:ext>
            </a:extLst>
          </p:cNvPr>
          <p:cNvCxnSpPr>
            <a:cxnSpLocks/>
            <a:endCxn id="85" idx="1"/>
          </p:cNvCxnSpPr>
          <p:nvPr/>
        </p:nvCxnSpPr>
        <p:spPr>
          <a:xfrm rot="16200000" flipH="1">
            <a:off x="6732163" y="3632282"/>
            <a:ext cx="347420" cy="7256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027DD558-2EF7-AAD5-E044-9A54B710858B}"/>
              </a:ext>
            </a:extLst>
          </p:cNvPr>
          <p:cNvCxnSpPr>
            <a:cxnSpLocks/>
            <a:endCxn id="85" idx="3"/>
          </p:cNvCxnSpPr>
          <p:nvPr/>
        </p:nvCxnSpPr>
        <p:spPr>
          <a:xfrm rot="5400000">
            <a:off x="10113049" y="3640215"/>
            <a:ext cx="416751" cy="64047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29A51CC5-49CA-5407-DBD8-B58B9408F56D}"/>
              </a:ext>
            </a:extLst>
          </p:cNvPr>
          <p:cNvCxnSpPr>
            <a:cxnSpLocks/>
          </p:cNvCxnSpPr>
          <p:nvPr/>
        </p:nvCxnSpPr>
        <p:spPr>
          <a:xfrm>
            <a:off x="8569501" y="3708693"/>
            <a:ext cx="3823" cy="208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7957CA5-AC85-6E45-7617-8893258633E4}"/>
              </a:ext>
            </a:extLst>
          </p:cNvPr>
          <p:cNvCxnSpPr>
            <a:cxnSpLocks/>
          </p:cNvCxnSpPr>
          <p:nvPr/>
        </p:nvCxnSpPr>
        <p:spPr>
          <a:xfrm>
            <a:off x="8569500" y="4434569"/>
            <a:ext cx="0" cy="2482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1A64ACA-B75E-182C-468A-E7778CC62CC5}"/>
              </a:ext>
            </a:extLst>
          </p:cNvPr>
          <p:cNvSpPr txBox="1"/>
          <p:nvPr/>
        </p:nvSpPr>
        <p:spPr>
          <a:xfrm>
            <a:off x="3759270" y="1772443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6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750DF618-70FE-CBE6-0296-0878E13E87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7866757" y="2032691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C46F3EAE-42E1-E79B-9FE2-E2B37C8B1EFB}"/>
              </a:ext>
            </a:extLst>
          </p:cNvPr>
          <p:cNvSpPr txBox="1"/>
          <p:nvPr/>
        </p:nvSpPr>
        <p:spPr>
          <a:xfrm>
            <a:off x="5544157" y="1805870"/>
            <a:ext cx="6123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08" name="Picture 2" descr="22,200+ Hospital Building Stock Illustrations, Royalty-Free Vector Graphics  &amp; Clip Art - iStock | Doctor, Hospital hallway, Hospital bed">
            <a:extLst>
              <a:ext uri="{FF2B5EF4-FFF2-40B4-BE49-F238E27FC236}">
                <a16:creationId xmlns:a16="http://schemas.microsoft.com/office/drawing/2014/main" id="{20233D0D-6E8D-5B8B-98BC-F926468B0B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59" t="17728" r="559" b="20780"/>
          <a:stretch>
            <a:fillRect/>
          </a:stretch>
        </p:blipFill>
        <p:spPr bwMode="auto">
          <a:xfrm>
            <a:off x="9876080" y="2032690"/>
            <a:ext cx="1536159" cy="94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EEB28DE5-0D53-5DA3-6FD1-E1E123036828}"/>
              </a:ext>
            </a:extLst>
          </p:cNvPr>
          <p:cNvSpPr txBox="1"/>
          <p:nvPr/>
        </p:nvSpPr>
        <p:spPr>
          <a:xfrm>
            <a:off x="8564312" y="1789157"/>
            <a:ext cx="403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医疗机构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800" b="1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3DF794D-5598-F794-F059-E230EEDBF165}"/>
              </a:ext>
            </a:extLst>
          </p:cNvPr>
          <p:cNvGrpSpPr/>
          <p:nvPr/>
        </p:nvGrpSpPr>
        <p:grpSpPr>
          <a:xfrm>
            <a:off x="5576862" y="2968259"/>
            <a:ext cx="6123060" cy="761462"/>
            <a:chOff x="3699207" y="2997360"/>
            <a:chExt cx="6123060" cy="931101"/>
          </a:xfrm>
        </p:grpSpPr>
        <p:sp>
          <p:nvSpPr>
            <p:cNvPr id="13" name="卷形: 垂直 12">
              <a:extLst>
                <a:ext uri="{FF2B5EF4-FFF2-40B4-BE49-F238E27FC236}">
                  <a16:creationId xmlns:a16="http://schemas.microsoft.com/office/drawing/2014/main" id="{425842F3-1FAD-0644-AD88-EDE5EA718B95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0DD7AD4-EC57-6CFD-0CB8-A44CF8C3D303}"/>
                </a:ext>
              </a:extLst>
            </p:cNvPr>
            <p:cNvSpPr txBox="1"/>
            <p:nvPr/>
          </p:nvSpPr>
          <p:spPr>
            <a:xfrm>
              <a:off x="3699207" y="3148146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E1D4C92-521C-8E60-C127-F93C04B0AC0C}"/>
              </a:ext>
            </a:extLst>
          </p:cNvPr>
          <p:cNvGrpSpPr>
            <a:grpSpLocks noChangeAspect="1"/>
          </p:cNvGrpSpPr>
          <p:nvPr/>
        </p:nvGrpSpPr>
        <p:grpSpPr>
          <a:xfrm>
            <a:off x="-1835406" y="1762883"/>
            <a:ext cx="7658592" cy="3197316"/>
            <a:chOff x="-2291266" y="1824020"/>
            <a:chExt cx="8234867" cy="3437900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90364FE2-5C47-B887-8147-2A4F9C01E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10056" y="1824020"/>
              <a:ext cx="5953657" cy="3437900"/>
              <a:chOff x="7513945" y="1532325"/>
              <a:chExt cx="4160656" cy="2402543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3B538146-EE1A-81B4-5DDA-FEACAE0442C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134913" y="1605032"/>
                <a:ext cx="3286990" cy="1543543"/>
                <a:chOff x="3046059" y="2101518"/>
                <a:chExt cx="5454575" cy="25875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文本框 68">
                      <a:extLst>
                        <a:ext uri="{FF2B5EF4-FFF2-40B4-BE49-F238E27FC236}">
                          <a16:creationId xmlns:a16="http://schemas.microsoft.com/office/drawing/2014/main" id="{9758C276-7467-E08D-9B05-51D9CE980C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46059" y="2979443"/>
                      <a:ext cx="287777" cy="4643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文本框 68">
                      <a:extLst>
                        <a:ext uri="{FF2B5EF4-FFF2-40B4-BE49-F238E27FC236}">
                          <a16:creationId xmlns:a16="http://schemas.microsoft.com/office/drawing/2014/main" id="{9758C276-7467-E08D-9B05-51D9CE980C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46059" y="2979443"/>
                      <a:ext cx="287777" cy="46435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7838" r="-270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文本框 69">
                      <a:extLst>
                        <a:ext uri="{FF2B5EF4-FFF2-40B4-BE49-F238E27FC236}">
                          <a16:creationId xmlns:a16="http://schemas.microsoft.com/office/drawing/2014/main" id="{FD0BAE6D-6943-B3B5-2D68-B219467779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95728" y="2967598"/>
                      <a:ext cx="521804" cy="46435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文本框 69">
                      <a:extLst>
                        <a:ext uri="{FF2B5EF4-FFF2-40B4-BE49-F238E27FC236}">
                          <a16:creationId xmlns:a16="http://schemas.microsoft.com/office/drawing/2014/main" id="{FD0BAE6D-6943-B3B5-2D68-B219467779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95728" y="2967598"/>
                      <a:ext cx="521804" cy="46435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文本框 70">
                      <a:extLst>
                        <a:ext uri="{FF2B5EF4-FFF2-40B4-BE49-F238E27FC236}">
                          <a16:creationId xmlns:a16="http://schemas.microsoft.com/office/drawing/2014/main" id="{9935A41B-FA54-AC15-2A11-0205CCEA54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63388" y="2986380"/>
                      <a:ext cx="237246" cy="4643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71" name="文本框 70">
                      <a:extLst>
                        <a:ext uri="{FF2B5EF4-FFF2-40B4-BE49-F238E27FC236}">
                          <a16:creationId xmlns:a16="http://schemas.microsoft.com/office/drawing/2014/main" id="{9935A41B-FA54-AC15-2A11-0205CCEA54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63388" y="2986380"/>
                      <a:ext cx="237246" cy="46435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45161" r="-548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9AB67AC9-ABAD-D848-28D4-3012F06F6D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5020" y="2101518"/>
                  <a:ext cx="687987" cy="631181"/>
                </a:xfrm>
                <a:prstGeom prst="rect">
                  <a:avLst/>
                </a:prstGeom>
              </p:spPr>
            </p:pic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77AC23C3-2C6C-97EA-B703-F30609CC5BF2}"/>
                    </a:ext>
                  </a:extLst>
                </p:cNvPr>
                <p:cNvCxnSpPr>
                  <a:cxnSpLocks/>
                  <a:stCxn id="72" idx="1"/>
                </p:cNvCxnSpPr>
                <p:nvPr/>
              </p:nvCxnSpPr>
              <p:spPr>
                <a:xfrm flipH="1">
                  <a:off x="6137664" y="2417109"/>
                  <a:ext cx="607356" cy="401324"/>
                </a:xfrm>
                <a:prstGeom prst="line">
                  <a:avLst/>
                </a:prstGeom>
                <a:ln w="127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7CF2616B-05CA-07B5-1311-13CBDB16C2A0}"/>
                    </a:ext>
                  </a:extLst>
                </p:cNvPr>
                <p:cNvCxnSpPr>
                  <a:cxnSpLocks/>
                  <a:stCxn id="72" idx="3"/>
                </p:cNvCxnSpPr>
                <p:nvPr/>
              </p:nvCxnSpPr>
              <p:spPr>
                <a:xfrm>
                  <a:off x="7433007" y="2417109"/>
                  <a:ext cx="539780" cy="361738"/>
                </a:xfrm>
                <a:prstGeom prst="straightConnector1">
                  <a:avLst/>
                </a:prstGeom>
                <a:ln w="127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AF1514ED-4A55-5F5E-9517-10FEBEC1BA8C}"/>
                    </a:ext>
                  </a:extLst>
                </p:cNvPr>
                <p:cNvSpPr/>
                <p:nvPr/>
              </p:nvSpPr>
              <p:spPr>
                <a:xfrm>
                  <a:off x="4405985" y="3607379"/>
                  <a:ext cx="2706200" cy="517923"/>
                </a:xfrm>
                <a:prstGeom prst="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MPCSI</a:t>
                  </a:r>
                  <a:endParaRPr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76" name="连接符: 肘形 75">
                  <a:extLst>
                    <a:ext uri="{FF2B5EF4-FFF2-40B4-BE49-F238E27FC236}">
                      <a16:creationId xmlns:a16="http://schemas.microsoft.com/office/drawing/2014/main" id="{39E866B8-5DCA-CDC0-17A6-1893F37D8770}"/>
                    </a:ext>
                  </a:extLst>
                </p:cNvPr>
                <p:cNvCxnSpPr>
                  <a:cxnSpLocks/>
                  <a:stCxn id="69" idx="2"/>
                  <a:endCxn id="75" idx="1"/>
                </p:cNvCxnSpPr>
                <p:nvPr/>
              </p:nvCxnSpPr>
              <p:spPr>
                <a:xfrm rot="16200000" flipH="1">
                  <a:off x="3586694" y="3047051"/>
                  <a:ext cx="422544" cy="1216037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连接符: 肘形 76">
                  <a:extLst>
                    <a:ext uri="{FF2B5EF4-FFF2-40B4-BE49-F238E27FC236}">
                      <a16:creationId xmlns:a16="http://schemas.microsoft.com/office/drawing/2014/main" id="{D0C4335C-623E-1841-8125-BE46221609E8}"/>
                    </a:ext>
                  </a:extLst>
                </p:cNvPr>
                <p:cNvCxnSpPr>
                  <a:cxnSpLocks/>
                  <a:stCxn id="71" idx="2"/>
                  <a:endCxn id="75" idx="3"/>
                </p:cNvCxnSpPr>
                <p:nvPr/>
              </p:nvCxnSpPr>
              <p:spPr>
                <a:xfrm rot="5400000">
                  <a:off x="7539295" y="3023625"/>
                  <a:ext cx="415607" cy="1269828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77">
                  <a:extLst>
                    <a:ext uri="{FF2B5EF4-FFF2-40B4-BE49-F238E27FC236}">
                      <a16:creationId xmlns:a16="http://schemas.microsoft.com/office/drawing/2014/main" id="{0E8C5069-4D64-1FFC-5B3C-0F9576A7FCA7}"/>
                    </a:ext>
                  </a:extLst>
                </p:cNvPr>
                <p:cNvCxnSpPr>
                  <a:cxnSpLocks/>
                  <a:endCxn id="75" idx="0"/>
                </p:cNvCxnSpPr>
                <p:nvPr/>
              </p:nvCxnSpPr>
              <p:spPr>
                <a:xfrm>
                  <a:off x="5755300" y="3399071"/>
                  <a:ext cx="3786" cy="2083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78">
                  <a:extLst>
                    <a:ext uri="{FF2B5EF4-FFF2-40B4-BE49-F238E27FC236}">
                      <a16:creationId xmlns:a16="http://schemas.microsoft.com/office/drawing/2014/main" id="{1FE2AE24-C64B-1E8D-8896-94D99ECB57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5299" y="4125302"/>
                  <a:ext cx="0" cy="24839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A0667A04-8902-8077-3487-10B80DFDCF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19325" y="4364568"/>
                      <a:ext cx="1825148" cy="32451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𝐹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A0667A04-8902-8077-3487-10B80DFDCF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19325" y="4364568"/>
                      <a:ext cx="1825148" cy="3245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5833" t="-30952" r="-16250" b="-619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FF12F715-B900-1874-A531-465690AAD7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2337" y="1532325"/>
                <a:ext cx="662590" cy="662590"/>
              </a:xfrm>
              <a:prstGeom prst="rect">
                <a:avLst/>
              </a:prstGeom>
            </p:spPr>
          </p:pic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6762DA0C-C5C7-CF20-EA21-E8F4F3C108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37466" y="1546829"/>
                <a:ext cx="660134" cy="660134"/>
              </a:xfrm>
              <a:prstGeom prst="rect">
                <a:avLst/>
              </a:prstGeom>
            </p:spPr>
          </p:pic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892B618F-9737-643B-1593-FF2D26E04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014467" y="1548835"/>
                <a:ext cx="660134" cy="660134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30C8AF55-175D-DEFC-5FC9-835460F68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13945" y="3002145"/>
                <a:ext cx="1730082" cy="932723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081726D-2B40-5B4D-72E2-AF839394E674}"/>
                    </a:ext>
                  </a:extLst>
                </p:cNvPr>
                <p:cNvSpPr txBox="1"/>
                <p:nvPr/>
              </p:nvSpPr>
              <p:spPr>
                <a:xfrm>
                  <a:off x="-2291266" y="4505006"/>
                  <a:ext cx="694857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𝐹</m:t>
                        </m:r>
                      </m:oMath>
                    </m:oMathPara>
                  </a14:m>
                  <a:endParaRPr lang="zh-CN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081726D-2B40-5B4D-72E2-AF839394E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91266" y="4505006"/>
                  <a:ext cx="694857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84D60DF-3C77-4CBC-D7F0-B5B203F73444}"/>
              </a:ext>
            </a:extLst>
          </p:cNvPr>
          <p:cNvGrpSpPr/>
          <p:nvPr/>
        </p:nvGrpSpPr>
        <p:grpSpPr>
          <a:xfrm>
            <a:off x="2203156" y="4610954"/>
            <a:ext cx="10183530" cy="1470198"/>
            <a:chOff x="1781218" y="5041680"/>
            <a:chExt cx="10168924" cy="147019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9C83F59-B11E-BF08-D38E-6D8B27CE6365}"/>
                </a:ext>
              </a:extLst>
            </p:cNvPr>
            <p:cNvSpPr txBox="1"/>
            <p:nvPr/>
          </p:nvSpPr>
          <p:spPr>
            <a:xfrm>
              <a:off x="5423698" y="5041680"/>
              <a:ext cx="61230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同时具有症状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的患者的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个数</a:t>
              </a:r>
              <a:endParaRPr lang="zh-CN" altLang="en-US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C11870D-D7E9-4847-1BCA-09127ED14872}"/>
                </a:ext>
              </a:extLst>
            </p:cNvPr>
            <p:cNvSpPr txBox="1"/>
            <p:nvPr/>
          </p:nvSpPr>
          <p:spPr>
            <a:xfrm>
              <a:off x="5827082" y="5491466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同时具有症状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的患者的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个数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权值和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例如计算血清蛋白含量平均值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1CAACA2-6FA9-820E-D72D-B1130EDDB247}"/>
                </a:ext>
              </a:extLst>
            </p:cNvPr>
            <p:cNvSpPr txBox="1"/>
            <p:nvPr/>
          </p:nvSpPr>
          <p:spPr>
            <a:xfrm>
              <a:off x="5752113" y="6137797"/>
              <a:ext cx="61230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同时具有症状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的患者的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任意函数</a:t>
              </a:r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F48DAAB-2D58-0F46-1FA0-EAA7A1653325}"/>
                </a:ext>
              </a:extLst>
            </p:cNvPr>
            <p:cNvSpPr txBox="1"/>
            <p:nvPr/>
          </p:nvSpPr>
          <p:spPr>
            <a:xfrm>
              <a:off x="1813314" y="5053558"/>
              <a:ext cx="83921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多方隐私交集求势（MPSI-card）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9F49D8D-7600-C6E8-5F1D-C72E7A279F37}"/>
                </a:ext>
              </a:extLst>
            </p:cNvPr>
            <p:cNvSpPr txBox="1"/>
            <p:nvPr/>
          </p:nvSpPr>
          <p:spPr>
            <a:xfrm>
              <a:off x="1795166" y="6111768"/>
              <a:ext cx="480052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基于电路的 </a:t>
              </a:r>
              <a:r>
                <a:rPr lang="en-US" altLang="zh-CN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MPSI </a:t>
              </a:r>
              <a:r>
                <a: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协议（</a:t>
              </a:r>
              <a:r>
                <a:rPr lang="en-US" altLang="zh-CN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Circuit-MPSI</a:t>
              </a:r>
              <a:r>
                <a: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）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FE4A9BA-9E55-FD5C-9FFA-96427F5457A1}"/>
                </a:ext>
              </a:extLst>
            </p:cNvPr>
            <p:cNvSpPr txBox="1"/>
            <p:nvPr/>
          </p:nvSpPr>
          <p:spPr>
            <a:xfrm>
              <a:off x="1781218" y="5562008"/>
              <a:ext cx="83921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多方隐私交集求势与和（</a:t>
              </a:r>
              <a:r>
                <a:rPr lang="en-US" altLang="zh-CN" sz="2000" b="1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MPSI-card-sum</a:t>
              </a:r>
              <a:r>
                <a:rPr lang="zh-CN" altLang="en-US" b="1" kern="0" dirty="0"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</a:rPr>
                <a:t>）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DC6C342-3F57-37C9-90F7-7391FBA6B812}"/>
              </a:ext>
            </a:extLst>
          </p:cNvPr>
          <p:cNvGrpSpPr/>
          <p:nvPr/>
        </p:nvGrpSpPr>
        <p:grpSpPr>
          <a:xfrm>
            <a:off x="47897" y="5874440"/>
            <a:ext cx="12096205" cy="1070373"/>
            <a:chOff x="-288152" y="899791"/>
            <a:chExt cx="8913628" cy="1070373"/>
          </a:xfrm>
        </p:grpSpPr>
        <p:sp>
          <p:nvSpPr>
            <p:cNvPr id="56" name="圆角矩形 1">
              <a:extLst>
                <a:ext uri="{FF2B5EF4-FFF2-40B4-BE49-F238E27FC236}">
                  <a16:creationId xmlns:a16="http://schemas.microsoft.com/office/drawing/2014/main" id="{0DB086ED-A8A4-7B8B-8818-3765ACEB9B0F}"/>
                </a:ext>
              </a:extLst>
            </p:cNvPr>
            <p:cNvSpPr/>
            <p:nvPr/>
          </p:nvSpPr>
          <p:spPr>
            <a:xfrm>
              <a:off x="-164716" y="1078306"/>
              <a:ext cx="8704332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圆角矩形 1">
              <a:extLst>
                <a:ext uri="{FF2B5EF4-FFF2-40B4-BE49-F238E27FC236}">
                  <a16:creationId xmlns:a16="http://schemas.microsoft.com/office/drawing/2014/main" id="{24201457-724F-DB50-1941-2C946F05FD8B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在线广告效果评估、打击儿童性虐待材料传播、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COVID-19 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接触者追踪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C72622A7-7183-4D3D-12FB-8FFE6947E26E}"/>
              </a:ext>
            </a:extLst>
          </p:cNvPr>
          <p:cNvSpPr txBox="1"/>
          <p:nvPr/>
        </p:nvSpPr>
        <p:spPr>
          <a:xfrm>
            <a:off x="-2905447" y="5282278"/>
            <a:ext cx="7850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MPCSI</a:t>
            </a:r>
            <a:endParaRPr lang="zh-CN" altLang="en-US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71E540-5114-14C4-AB78-0DB3763529A5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603521" y="4822887"/>
            <a:ext cx="631777" cy="61745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8509CD1-3AFD-8296-3BAE-8BDE1D2103F7}"/>
              </a:ext>
            </a:extLst>
          </p:cNvPr>
          <p:cNvCxnSpPr>
            <a:cxnSpLocks/>
          </p:cNvCxnSpPr>
          <p:nvPr/>
        </p:nvCxnSpPr>
        <p:spPr>
          <a:xfrm>
            <a:off x="1603521" y="5451231"/>
            <a:ext cx="68867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D899CC6-C37E-093C-909E-CAC84E2AE05D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603521" y="5451231"/>
            <a:ext cx="613603" cy="42986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64E8DF9-A9F3-550B-9986-4169351389FD}"/>
              </a:ext>
            </a:extLst>
          </p:cNvPr>
          <p:cNvGrpSpPr/>
          <p:nvPr/>
        </p:nvGrpSpPr>
        <p:grpSpPr>
          <a:xfrm>
            <a:off x="3681916" y="2984515"/>
            <a:ext cx="6123060" cy="759574"/>
            <a:chOff x="3692176" y="2997360"/>
            <a:chExt cx="6123060" cy="931101"/>
          </a:xfrm>
        </p:grpSpPr>
        <p:sp>
          <p:nvSpPr>
            <p:cNvPr id="43" name="卷形: 垂直 42">
              <a:extLst>
                <a:ext uri="{FF2B5EF4-FFF2-40B4-BE49-F238E27FC236}">
                  <a16:creationId xmlns:a16="http://schemas.microsoft.com/office/drawing/2014/main" id="{56E342D5-2453-097A-7A65-050AEEC5060A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FC1B3BA-3B34-2FD8-1307-0CCC0F9BAF4C}"/>
                </a:ext>
              </a:extLst>
            </p:cNvPr>
            <p:cNvSpPr txBox="1"/>
            <p:nvPr/>
          </p:nvSpPr>
          <p:spPr>
            <a:xfrm>
              <a:off x="3692176" y="3113631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011C868-577D-5157-CF8A-5C86CE2977AE}"/>
              </a:ext>
            </a:extLst>
          </p:cNvPr>
          <p:cNvGrpSpPr/>
          <p:nvPr/>
        </p:nvGrpSpPr>
        <p:grpSpPr>
          <a:xfrm>
            <a:off x="7594681" y="2982627"/>
            <a:ext cx="6123060" cy="761462"/>
            <a:chOff x="3671025" y="2997360"/>
            <a:chExt cx="6123060" cy="931101"/>
          </a:xfrm>
        </p:grpSpPr>
        <p:sp>
          <p:nvSpPr>
            <p:cNvPr id="46" name="卷形: 垂直 45">
              <a:extLst>
                <a:ext uri="{FF2B5EF4-FFF2-40B4-BE49-F238E27FC236}">
                  <a16:creationId xmlns:a16="http://schemas.microsoft.com/office/drawing/2014/main" id="{FE05C65B-293B-65E5-D10A-F2B274417BCE}"/>
                </a:ext>
              </a:extLst>
            </p:cNvPr>
            <p:cNvSpPr/>
            <p:nvPr/>
          </p:nvSpPr>
          <p:spPr>
            <a:xfrm>
              <a:off x="5997852" y="2997360"/>
              <a:ext cx="1469406" cy="931101"/>
            </a:xfrm>
            <a:prstGeom prst="verticalScroll">
              <a:avLst/>
            </a:prstGeom>
            <a:solidFill>
              <a:schemeClr val="bg1"/>
            </a:solidFill>
            <a:ln>
              <a:solidFill>
                <a:srgbClr val="413C3B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A49672A-7BEA-34E0-A78A-717D31035330}"/>
                </a:ext>
              </a:extLst>
            </p:cNvPr>
            <p:cNvSpPr txBox="1"/>
            <p:nvPr/>
          </p:nvSpPr>
          <p:spPr>
            <a:xfrm>
              <a:off x="3671025" y="3127120"/>
              <a:ext cx="61230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具有症状</a:t>
              </a:r>
              <a:r>
                <a:rPr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的患者记录</a:t>
              </a:r>
              <a:endParaRPr lang="zh-CN" altLang="en-US" sz="1800" b="1" dirty="0">
                <a:solidFill>
                  <a:prstClr val="black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23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E9AA-8380-300F-2C11-ACAF8BA6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图片 102">
            <a:extLst>
              <a:ext uri="{FF2B5EF4-FFF2-40B4-BE49-F238E27FC236}">
                <a16:creationId xmlns:a16="http://schemas.microsoft.com/office/drawing/2014/main" id="{6C85F568-1D9E-5AAE-1785-B32C6A53F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844" y="3646885"/>
            <a:ext cx="2752836" cy="2008199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0C00BC61-6C12-7D90-7437-07B295F0C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更复杂的应用场景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879ACD9C-4101-7143-1F5F-FC8235824874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4E081762-40CE-3485-5A97-C48BC13C1B60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987489"/>
            <a:ext cx="5936938" cy="5374735"/>
            <a:chOff x="152231" y="975692"/>
            <a:chExt cx="7711697" cy="6720869"/>
          </a:xfrm>
        </p:grpSpPr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C06A0651-0DCC-D41A-C815-1C8EF2B91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16" r="37359"/>
            <a:stretch>
              <a:fillRect/>
            </a:stretch>
          </p:blipFill>
          <p:spPr>
            <a:xfrm>
              <a:off x="1942627" y="2620155"/>
              <a:ext cx="3531142" cy="5076406"/>
            </a:xfrm>
            <a:prstGeom prst="rect">
              <a:avLst/>
            </a:prstGeom>
          </p:spPr>
        </p:pic>
        <p:cxnSp>
          <p:nvCxnSpPr>
            <p:cNvPr id="76" name="连接符: 肘形 75">
              <a:extLst>
                <a:ext uri="{FF2B5EF4-FFF2-40B4-BE49-F238E27FC236}">
                  <a16:creationId xmlns:a16="http://schemas.microsoft.com/office/drawing/2014/main" id="{91F39E7F-402D-2ED5-147A-DDE73D51F7F0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865414" y="2886331"/>
              <a:ext cx="1857633" cy="127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连接符: 肘形 79">
              <a:extLst>
                <a:ext uri="{FF2B5EF4-FFF2-40B4-BE49-F238E27FC236}">
                  <a16:creationId xmlns:a16="http://schemas.microsoft.com/office/drawing/2014/main" id="{07E45CA8-CA5D-04A9-965A-277D12CD6A28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 rot="10800000">
              <a:off x="4394721" y="2886331"/>
              <a:ext cx="1329057" cy="1007074"/>
            </a:xfrm>
            <a:prstGeom prst="bentConnector3">
              <a:avLst>
                <a:gd name="adj1" fmla="val 7334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80F33559-BD6F-E26F-F737-56374CA4F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2186"/>
            <a:stretch>
              <a:fillRect/>
            </a:stretch>
          </p:blipFill>
          <p:spPr>
            <a:xfrm>
              <a:off x="152231" y="975692"/>
              <a:ext cx="2144978" cy="3650228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E248D11-0163-7F56-F0A2-1D304DE1AD57}"/>
                </a:ext>
              </a:extLst>
            </p:cNvPr>
            <p:cNvSpPr/>
            <p:nvPr/>
          </p:nvSpPr>
          <p:spPr>
            <a:xfrm>
              <a:off x="2723047" y="2627496"/>
              <a:ext cx="1671673" cy="51767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MPSO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9" name="连接符: 肘形 88">
              <a:extLst>
                <a:ext uri="{FF2B5EF4-FFF2-40B4-BE49-F238E27FC236}">
                  <a16:creationId xmlns:a16="http://schemas.microsoft.com/office/drawing/2014/main" id="{9C8C56EE-3A95-E62B-6AD9-CC3AD0844384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 rot="10800000" flipV="1">
              <a:off x="3558885" y="2264472"/>
              <a:ext cx="1968337" cy="36302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73D98CE2-BB0E-D671-C1AD-0009AF0A9705}"/>
                </a:ext>
              </a:extLst>
            </p:cNvPr>
            <p:cNvCxnSpPr>
              <a:cxnSpLocks/>
            </p:cNvCxnSpPr>
            <p:nvPr/>
          </p:nvCxnSpPr>
          <p:spPr>
            <a:xfrm>
              <a:off x="3562684" y="3137626"/>
              <a:ext cx="0" cy="11635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图片 91">
              <a:extLst>
                <a:ext uri="{FF2B5EF4-FFF2-40B4-BE49-F238E27FC236}">
                  <a16:creationId xmlns:a16="http://schemas.microsoft.com/office/drawing/2014/main" id="{838B5933-FB6D-D53F-FE26-3A76B027A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3247" b="5660"/>
            <a:stretch>
              <a:fillRect/>
            </a:stretch>
          </p:blipFill>
          <p:spPr>
            <a:xfrm>
              <a:off x="5029683" y="1036074"/>
              <a:ext cx="2834245" cy="3443635"/>
            </a:xfrm>
            <a:prstGeom prst="rect">
              <a:avLst/>
            </a:prstGeom>
          </p:spPr>
        </p:pic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215EE224-8B11-6A6F-C099-F8429F8E3CE0}"/>
              </a:ext>
            </a:extLst>
          </p:cNvPr>
          <p:cNvGrpSpPr>
            <a:grpSpLocks noChangeAspect="1"/>
          </p:cNvGrpSpPr>
          <p:nvPr/>
        </p:nvGrpSpPr>
        <p:grpSpPr>
          <a:xfrm>
            <a:off x="6181161" y="930485"/>
            <a:ext cx="5930841" cy="2919117"/>
            <a:chOff x="160151" y="904411"/>
            <a:chExt cx="7703777" cy="3650226"/>
          </a:xfrm>
        </p:grpSpPr>
        <p:cxnSp>
          <p:nvCxnSpPr>
            <p:cNvPr id="95" name="连接符: 肘形 94">
              <a:extLst>
                <a:ext uri="{FF2B5EF4-FFF2-40B4-BE49-F238E27FC236}">
                  <a16:creationId xmlns:a16="http://schemas.microsoft.com/office/drawing/2014/main" id="{46F82A0B-FC18-3DE7-C55B-23A624BB7FE1}"/>
                </a:ext>
              </a:extLst>
            </p:cNvPr>
            <p:cNvCxnSpPr>
              <a:cxnSpLocks/>
              <a:endCxn id="98" idx="1"/>
            </p:cNvCxnSpPr>
            <p:nvPr/>
          </p:nvCxnSpPr>
          <p:spPr>
            <a:xfrm>
              <a:off x="865414" y="2886331"/>
              <a:ext cx="1857633" cy="1270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连接符: 肘形 95">
              <a:extLst>
                <a:ext uri="{FF2B5EF4-FFF2-40B4-BE49-F238E27FC236}">
                  <a16:creationId xmlns:a16="http://schemas.microsoft.com/office/drawing/2014/main" id="{13146C0F-AF55-C343-561C-EC021F33327E}"/>
                </a:ext>
              </a:extLst>
            </p:cNvPr>
            <p:cNvCxnSpPr>
              <a:cxnSpLocks/>
              <a:endCxn id="98" idx="3"/>
            </p:cNvCxnSpPr>
            <p:nvPr/>
          </p:nvCxnSpPr>
          <p:spPr>
            <a:xfrm rot="10800000">
              <a:off x="4394721" y="2886331"/>
              <a:ext cx="1329057" cy="1007074"/>
            </a:xfrm>
            <a:prstGeom prst="bentConnector3">
              <a:avLst>
                <a:gd name="adj1" fmla="val 7334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391A77B5-470D-0A53-4921-6EDD26E85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2186"/>
            <a:stretch>
              <a:fillRect/>
            </a:stretch>
          </p:blipFill>
          <p:spPr>
            <a:xfrm>
              <a:off x="160151" y="904411"/>
              <a:ext cx="2144978" cy="3650226"/>
            </a:xfrm>
            <a:prstGeom prst="rect">
              <a:avLst/>
            </a:prstGeom>
          </p:spPr>
        </p:pic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9AD5979E-5F29-70A9-23FC-B0BCAD0C9E1F}"/>
                </a:ext>
              </a:extLst>
            </p:cNvPr>
            <p:cNvSpPr/>
            <p:nvPr/>
          </p:nvSpPr>
          <p:spPr>
            <a:xfrm>
              <a:off x="2723047" y="2627496"/>
              <a:ext cx="1671673" cy="51767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MPSO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7453C6BD-4AD1-0CB9-CFC3-0048CA587497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 rot="10800000" flipV="1">
              <a:off x="3558885" y="2264472"/>
              <a:ext cx="1968337" cy="36302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E9ABB136-6A11-4D45-DC07-6DB161A8A0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028" y="3150332"/>
              <a:ext cx="6656" cy="1163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ACF1D880-FF72-2CB7-2A4F-49BBB79B0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3247" b="5067"/>
            <a:stretch>
              <a:fillRect/>
            </a:stretch>
          </p:blipFill>
          <p:spPr>
            <a:xfrm>
              <a:off x="5029683" y="1036074"/>
              <a:ext cx="2834245" cy="3465254"/>
            </a:xfrm>
            <a:prstGeom prst="rect">
              <a:avLst/>
            </a:prstGeom>
          </p:spPr>
        </p:pic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CA17B80-DB1E-91F6-491C-CC7C356E0900}"/>
              </a:ext>
            </a:extLst>
          </p:cNvPr>
          <p:cNvCxnSpPr>
            <a:cxnSpLocks/>
          </p:cNvCxnSpPr>
          <p:nvPr/>
        </p:nvCxnSpPr>
        <p:spPr>
          <a:xfrm>
            <a:off x="6175063" y="721019"/>
            <a:ext cx="0" cy="5437278"/>
          </a:xfrm>
          <a:prstGeom prst="line">
            <a:avLst/>
          </a:prstGeom>
          <a:ln w="28575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圆角矩形 1">
            <a:extLst>
              <a:ext uri="{FF2B5EF4-FFF2-40B4-BE49-F238E27FC236}">
                <a16:creationId xmlns:a16="http://schemas.microsoft.com/office/drawing/2014/main" id="{219FB178-9CC3-E1E4-A18C-ADA5E8D65083}"/>
              </a:ext>
            </a:extLst>
          </p:cNvPr>
          <p:cNvSpPr/>
          <p:nvPr/>
        </p:nvSpPr>
        <p:spPr>
          <a:xfrm>
            <a:off x="204375" y="6031574"/>
            <a:ext cx="11812181" cy="720000"/>
          </a:xfrm>
          <a:prstGeom prst="roundRect">
            <a:avLst>
              <a:gd name="adj" fmla="val 15752"/>
            </a:avLst>
          </a:prstGeom>
          <a:solidFill>
            <a:srgbClr val="8F0F1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现实世界中的应用需要支持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任意集合公式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计算的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MPSO 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0982E2C-6F93-0C42-A6BA-849B5358F486}"/>
              </a:ext>
            </a:extLst>
          </p:cNvPr>
          <p:cNvSpPr txBox="1"/>
          <p:nvPr/>
        </p:nvSpPr>
        <p:spPr>
          <a:xfrm>
            <a:off x="1063793" y="5549226"/>
            <a:ext cx="6126480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全渠道的线上广告转换率计算问题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7024B2EF-E0BB-B0A7-3235-8BEC25FEF4C0}"/>
              </a:ext>
            </a:extLst>
          </p:cNvPr>
          <p:cNvSpPr txBox="1"/>
          <p:nvPr/>
        </p:nvSpPr>
        <p:spPr>
          <a:xfrm>
            <a:off x="7006829" y="5583895"/>
            <a:ext cx="6126480" cy="405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单个平台的线上广告转换率计算问题</a:t>
            </a:r>
          </a:p>
        </p:txBody>
      </p:sp>
    </p:spTree>
    <p:extLst>
      <p:ext uri="{BB962C8B-B14F-4D97-AF65-F5344CB8AC3E}">
        <p14:creationId xmlns:p14="http://schemas.microsoft.com/office/powerpoint/2010/main" val="2428008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8B47-CB00-3D03-A99D-8E020662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02ABF5-8B0A-0F83-D910-93346F85706F}"/>
              </a:ext>
            </a:extLst>
          </p:cNvPr>
          <p:cNvSpPr/>
          <p:nvPr/>
        </p:nvSpPr>
        <p:spPr>
          <a:xfrm>
            <a:off x="6583254" y="1451489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2D8A59A-AE16-B987-BEDE-DAFE323800E4}"/>
              </a:ext>
            </a:extLst>
          </p:cNvPr>
          <p:cNvSpPr/>
          <p:nvPr/>
        </p:nvSpPr>
        <p:spPr>
          <a:xfrm>
            <a:off x="5472387" y="1451489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7DFBE80-71FC-DF67-0BFE-7EDD5E3263CC}"/>
              </a:ext>
            </a:extLst>
          </p:cNvPr>
          <p:cNvSpPr/>
          <p:nvPr/>
        </p:nvSpPr>
        <p:spPr>
          <a:xfrm>
            <a:off x="6583254" y="2562677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F9C19FA-F939-E025-D490-D2D60AFBDE67}"/>
              </a:ext>
            </a:extLst>
          </p:cNvPr>
          <p:cNvSpPr/>
          <p:nvPr/>
        </p:nvSpPr>
        <p:spPr>
          <a:xfrm>
            <a:off x="5472387" y="2562677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8A924BD-1B1C-02F1-2ACC-C1F0465446E6}"/>
              </a:ext>
            </a:extLst>
          </p:cNvPr>
          <p:cNvSpPr/>
          <p:nvPr/>
        </p:nvSpPr>
        <p:spPr>
          <a:xfrm>
            <a:off x="6583254" y="3673865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DE9F9C8-7B37-3FC2-3F93-1E3E76551996}"/>
              </a:ext>
            </a:extLst>
          </p:cNvPr>
          <p:cNvSpPr/>
          <p:nvPr/>
        </p:nvSpPr>
        <p:spPr>
          <a:xfrm>
            <a:off x="5472387" y="3673865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3004291-DE9E-9CD8-C2CF-3C207FB6E65E}"/>
              </a:ext>
            </a:extLst>
          </p:cNvPr>
          <p:cNvSpPr/>
          <p:nvPr/>
        </p:nvSpPr>
        <p:spPr>
          <a:xfrm>
            <a:off x="6583254" y="4785053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A4548B1-5EB0-1158-8D76-BFCEC4A27E9B}"/>
              </a:ext>
            </a:extLst>
          </p:cNvPr>
          <p:cNvSpPr/>
          <p:nvPr/>
        </p:nvSpPr>
        <p:spPr>
          <a:xfrm>
            <a:off x="5472387" y="4785053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C8A7DF-E7B1-96C4-50FB-85883AA86C76}"/>
              </a:ext>
            </a:extLst>
          </p:cNvPr>
          <p:cNvSpPr/>
          <p:nvPr/>
        </p:nvSpPr>
        <p:spPr>
          <a:xfrm>
            <a:off x="0" y="1"/>
            <a:ext cx="3752850" cy="6857999"/>
          </a:xfrm>
          <a:prstGeom prst="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8F0F16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B06DAA-E297-3483-6238-EE25F17AD481}"/>
              </a:ext>
            </a:extLst>
          </p:cNvPr>
          <p:cNvSpPr/>
          <p:nvPr/>
        </p:nvSpPr>
        <p:spPr>
          <a:xfrm>
            <a:off x="1366395" y="2192893"/>
            <a:ext cx="138371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7200" b="1" dirty="0">
              <a:ln w="3175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 </a:t>
            </a:r>
            <a:endParaRPr lang="zh-CN" altLang="en-US" sz="7200" dirty="0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8A7AD87-C13A-26D3-1875-73F3B8FAE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69" y="162841"/>
            <a:ext cx="1358312" cy="12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7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9B15423-1727-6477-9BF7-27AC66F5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AB9E3C-FE16-FD1A-B80D-45E13623B589}"/>
              </a:ext>
            </a:extLst>
          </p:cNvPr>
          <p:cNvSpPr/>
          <p:nvPr/>
        </p:nvSpPr>
        <p:spPr>
          <a:xfrm>
            <a:off x="6869720" y="1091607"/>
            <a:ext cx="4590310" cy="602541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r>
              <a:rPr lang="zh-CN" altLang="en-US" sz="24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抵抗任意参与方真子集的共谋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9CBA8206-836B-73B8-8266-70792BA6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问题一：安全性弱，依赖信任假设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7034E5A1-B5ED-538F-EE40-24BF073898B6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A66C53CE-61BB-0B02-9A28-E18E9CE04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88" y="1809875"/>
            <a:ext cx="3465984" cy="3465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2E99375-6E4D-780A-C5DB-42599354051A}"/>
              </a:ext>
            </a:extLst>
          </p:cNvPr>
          <p:cNvGrpSpPr/>
          <p:nvPr/>
        </p:nvGrpSpPr>
        <p:grpSpPr>
          <a:xfrm>
            <a:off x="36867" y="5853059"/>
            <a:ext cx="12096205" cy="1070373"/>
            <a:chOff x="-288152" y="899791"/>
            <a:chExt cx="8913628" cy="1070373"/>
          </a:xfrm>
        </p:grpSpPr>
        <p:sp>
          <p:nvSpPr>
            <p:cNvPr id="6" name="圆角矩形 1">
              <a:extLst>
                <a:ext uri="{FF2B5EF4-FFF2-40B4-BE49-F238E27FC236}">
                  <a16:creationId xmlns:a16="http://schemas.microsoft.com/office/drawing/2014/main" id="{B3C885A0-B515-ABD6-E19C-94F467FF2E53}"/>
                </a:ext>
              </a:extLst>
            </p:cNvPr>
            <p:cNvSpPr/>
            <p:nvPr/>
          </p:nvSpPr>
          <p:spPr>
            <a:xfrm>
              <a:off x="-164716" y="1078306"/>
              <a:ext cx="8704332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圆角矩形 1">
              <a:extLst>
                <a:ext uri="{FF2B5EF4-FFF2-40B4-BE49-F238E27FC236}">
                  <a16:creationId xmlns:a16="http://schemas.microsoft.com/office/drawing/2014/main" id="{EB457668-8329-8C0E-2F6E-8AE22BE6AEE1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目标一：在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标准半诚实模型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下，设计可抵抗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任意共谋攻击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MPSO 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协议</a:t>
              </a:r>
              <a:endPara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6685F65-C394-318B-A487-FF4336DDD8FB}"/>
              </a:ext>
            </a:extLst>
          </p:cNvPr>
          <p:cNvSpPr txBox="1"/>
          <p:nvPr/>
        </p:nvSpPr>
        <p:spPr>
          <a:xfrm>
            <a:off x="1412558" y="1097513"/>
            <a:ext cx="3142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在标准半诚实安全模型下证明安全的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协议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4F69C-C919-4974-9B28-8010EE29E104}"/>
              </a:ext>
            </a:extLst>
          </p:cNvPr>
          <p:cNvSpPr txBox="1"/>
          <p:nvPr/>
        </p:nvSpPr>
        <p:spPr>
          <a:xfrm>
            <a:off x="799415" y="5275859"/>
            <a:ext cx="4710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无安全性证明、证明依赖云服务器辅</a:t>
            </a: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助或非共谋假设的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协议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47CE9DF-557C-FB58-0D40-A9616E98E75D}"/>
              </a:ext>
            </a:extLst>
          </p:cNvPr>
          <p:cNvCxnSpPr/>
          <p:nvPr/>
        </p:nvCxnSpPr>
        <p:spPr>
          <a:xfrm>
            <a:off x="2296160" y="1805399"/>
            <a:ext cx="284480" cy="29772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0E8AE9-DFD4-D79C-E5A0-D76BBACEAEF1}"/>
              </a:ext>
            </a:extLst>
          </p:cNvPr>
          <p:cNvCxnSpPr>
            <a:cxnSpLocks/>
          </p:cNvCxnSpPr>
          <p:nvPr/>
        </p:nvCxnSpPr>
        <p:spPr>
          <a:xfrm flipV="1">
            <a:off x="2169160" y="5004417"/>
            <a:ext cx="269240" cy="29535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05A79C4-22E2-6A54-C056-9DB6BD276342}"/>
              </a:ext>
            </a:extLst>
          </p:cNvPr>
          <p:cNvGrpSpPr/>
          <p:nvPr/>
        </p:nvGrpSpPr>
        <p:grpSpPr>
          <a:xfrm>
            <a:off x="5924817" y="2596854"/>
            <a:ext cx="5020146" cy="2498493"/>
            <a:chOff x="5669679" y="925273"/>
            <a:chExt cx="5020146" cy="2498493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7EACD82C-F4F4-E444-82B3-BBDE89339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07684" y="1034739"/>
              <a:ext cx="551737" cy="501068"/>
            </a:xfrm>
            <a:prstGeom prst="rect">
              <a:avLst/>
            </a:prstGeom>
          </p:spPr>
        </p:pic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A67D75C-3603-E941-72E7-001A0E2AB4CD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6551457" y="1285273"/>
              <a:ext cx="1256227" cy="429049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489841BD-852E-43BA-5A88-255C05C8654B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8359421" y="1285273"/>
              <a:ext cx="1627859" cy="52460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555393E-95A9-FB45-A2D1-1FED7EA38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9679" y="1688363"/>
              <a:ext cx="881778" cy="881778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0A7D990-E3B7-5249-6A3E-DBB104840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2636" y="1707665"/>
              <a:ext cx="878509" cy="87850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CD584B1C-E75E-DB91-BD06-DB8C4180C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1316" y="1710335"/>
              <a:ext cx="878509" cy="878509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B907D2CC-3799-B809-F8AC-CC458B0CA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9560" y="2813232"/>
              <a:ext cx="551737" cy="501068"/>
            </a:xfrm>
            <a:prstGeom prst="rect">
              <a:avLst/>
            </a:prstGeom>
          </p:spPr>
        </p:pic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0C9DD1C-163E-0827-5F15-5D0DE1A17AF4}"/>
                </a:ext>
              </a:extLst>
            </p:cNvPr>
            <p:cNvCxnSpPr>
              <a:cxnSpLocks/>
              <a:stCxn id="25" idx="1"/>
              <a:endCxn id="20" idx="2"/>
            </p:cNvCxnSpPr>
            <p:nvPr/>
          </p:nvCxnSpPr>
          <p:spPr>
            <a:xfrm flipH="1" flipV="1">
              <a:off x="6110568" y="2570141"/>
              <a:ext cx="748992" cy="493625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8899D1B7-8B05-0DFE-A21E-C8E64EBEB4D9}"/>
                </a:ext>
              </a:extLst>
            </p:cNvPr>
            <p:cNvCxnSpPr>
              <a:cxnSpLocks/>
              <a:stCxn id="25" idx="3"/>
              <a:endCxn id="21" idx="2"/>
            </p:cNvCxnSpPr>
            <p:nvPr/>
          </p:nvCxnSpPr>
          <p:spPr>
            <a:xfrm flipV="1">
              <a:off x="7411297" y="2586174"/>
              <a:ext cx="740594" cy="47759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17207666-6C43-0FC5-DC20-1C67E186DE5E}"/>
                </a:ext>
              </a:extLst>
            </p:cNvPr>
            <p:cNvGrpSpPr/>
            <p:nvPr/>
          </p:nvGrpSpPr>
          <p:grpSpPr>
            <a:xfrm>
              <a:off x="6761719" y="2703766"/>
              <a:ext cx="720000" cy="720000"/>
              <a:chOff x="6761719" y="2703766"/>
              <a:chExt cx="720000" cy="720000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6DF7F8B7-6780-D964-280C-97F1B3C988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30" name="圆: 空心 29">
                  <a:extLst>
                    <a:ext uri="{FF2B5EF4-FFF2-40B4-BE49-F238E27FC236}">
                      <a16:creationId xmlns:a16="http://schemas.microsoft.com/office/drawing/2014/main" id="{DC107043-D8EE-6660-0B79-F3D51A8566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93797092-A1FE-46E4-98B8-342F57C33AE8}"/>
                    </a:ext>
                  </a:extLst>
                </p:cNvPr>
                <p:cNvCxnSpPr>
                  <a:cxnSpLocks/>
                  <a:stCxn id="30" idx="1"/>
                  <a:endCxn id="30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1F00F85C-A992-77B7-FA9C-0A701C3CBF37}"/>
                  </a:ext>
                </a:extLst>
              </p:cNvPr>
              <p:cNvCxnSpPr>
                <a:cxnSpLocks/>
                <a:stCxn id="30" idx="7"/>
                <a:endCxn id="30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1D4EDCB-ACA7-59B7-B1C8-24F78B2C7CB1}"/>
                </a:ext>
              </a:extLst>
            </p:cNvPr>
            <p:cNvGrpSpPr/>
            <p:nvPr/>
          </p:nvGrpSpPr>
          <p:grpSpPr>
            <a:xfrm>
              <a:off x="7714433" y="925273"/>
              <a:ext cx="720000" cy="720000"/>
              <a:chOff x="6761719" y="2703766"/>
              <a:chExt cx="720000" cy="720000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AE9EE283-32B4-6AAD-2E99-250F4C58A9A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44" name="圆: 空心 43">
                  <a:extLst>
                    <a:ext uri="{FF2B5EF4-FFF2-40B4-BE49-F238E27FC236}">
                      <a16:creationId xmlns:a16="http://schemas.microsoft.com/office/drawing/2014/main" id="{F20168EF-24AD-682E-C65F-0FDC7C3ED8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A46997AD-0525-E832-9808-9FED4B9DEE10}"/>
                    </a:ext>
                  </a:extLst>
                </p:cNvPr>
                <p:cNvCxnSpPr>
                  <a:cxnSpLocks/>
                  <a:stCxn id="44" idx="1"/>
                  <a:endCxn id="44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F275B073-0FB3-62A0-A8FB-A8C5CB258CEF}"/>
                  </a:ext>
                </a:extLst>
              </p:cNvPr>
              <p:cNvCxnSpPr>
                <a:cxnSpLocks/>
                <a:stCxn id="44" idx="7"/>
                <a:endCxn id="44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同侧圆角矩形 12">
            <a:extLst>
              <a:ext uri="{FF2B5EF4-FFF2-40B4-BE49-F238E27FC236}">
                <a16:creationId xmlns:a16="http://schemas.microsoft.com/office/drawing/2014/main" id="{034370A1-EF58-0C3B-28D4-37855CF75E44}"/>
              </a:ext>
            </a:extLst>
          </p:cNvPr>
          <p:cNvSpPr/>
          <p:nvPr/>
        </p:nvSpPr>
        <p:spPr>
          <a:xfrm rot="16200000">
            <a:off x="5918100" y="674791"/>
            <a:ext cx="604894" cy="1433820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技术难点</a:t>
            </a:r>
          </a:p>
        </p:txBody>
      </p:sp>
      <p:sp>
        <p:nvSpPr>
          <p:cNvPr id="34" name="矩形: 圆角 68">
            <a:extLst>
              <a:ext uri="{FF2B5EF4-FFF2-40B4-BE49-F238E27FC236}">
                <a16:creationId xmlns:a16="http://schemas.microsoft.com/office/drawing/2014/main" id="{4DA60DCA-12E3-7703-9EAE-AF6D94CF3860}"/>
              </a:ext>
            </a:extLst>
          </p:cNvPr>
          <p:cNvSpPr/>
          <p:nvPr/>
        </p:nvSpPr>
        <p:spPr>
          <a:xfrm>
            <a:off x="7766190" y="2052823"/>
            <a:ext cx="2969543" cy="263609"/>
          </a:xfrm>
          <a:prstGeom prst="roundRect">
            <a:avLst>
              <a:gd name="adj" fmla="val 599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多数工作选择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绕过而非解决</a:t>
            </a:r>
          </a:p>
        </p:txBody>
      </p:sp>
      <p:sp>
        <p:nvSpPr>
          <p:cNvPr id="37" name="箭头: 虚尾 36">
            <a:extLst>
              <a:ext uri="{FF2B5EF4-FFF2-40B4-BE49-F238E27FC236}">
                <a16:creationId xmlns:a16="http://schemas.microsoft.com/office/drawing/2014/main" id="{AC91F723-4D4D-F6E8-DA40-1E054286F0A8}"/>
              </a:ext>
            </a:extLst>
          </p:cNvPr>
          <p:cNvSpPr/>
          <p:nvPr/>
        </p:nvSpPr>
        <p:spPr>
          <a:xfrm rot="5400000">
            <a:off x="7448990" y="1627003"/>
            <a:ext cx="575734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CD2238ED-3093-D5A8-7577-FF40B516F17A}"/>
              </a:ext>
            </a:extLst>
          </p:cNvPr>
          <p:cNvSpPr txBox="1"/>
          <p:nvPr/>
        </p:nvSpPr>
        <p:spPr>
          <a:xfrm>
            <a:off x="5924817" y="5222473"/>
            <a:ext cx="5084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假设特定参与方之间不会共谋</a:t>
            </a:r>
            <a:endParaRPr lang="en-US" altLang="zh-CN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难以抵御攻击，存在严重安全风险</a:t>
            </a:r>
            <a:endParaRPr lang="en-US" altLang="zh-CN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99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E83145C-EFA5-D252-1AC3-B7D4BF0B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F0511E3C-1F2C-21E7-1AD9-D1B417B48F65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3937605" y="2806165"/>
            <a:ext cx="1346594" cy="388208"/>
          </a:xfrm>
          <a:prstGeom prst="line">
            <a:avLst/>
          </a:prstGeom>
          <a:ln w="76200">
            <a:solidFill>
              <a:srgbClr val="EB7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4">
            <a:extLst>
              <a:ext uri="{FF2B5EF4-FFF2-40B4-BE49-F238E27FC236}">
                <a16:creationId xmlns:a16="http://schemas.microsoft.com/office/drawing/2014/main" id="{97D6F62D-CAAE-6349-44F0-209BC7A84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10161148" cy="623628"/>
          </a:xfrm>
        </p:spPr>
        <p:txBody>
          <a:bodyPr>
            <a:normAutofit fontScale="90000"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问题二：研究分布失衡，一系列开放性问题亟待解决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5D86EE41-F61B-53A2-1B00-199761E56AB0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44C4BA42-F510-CCDD-B121-236875EC6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1227123"/>
              </p:ext>
            </p:extLst>
          </p:nvPr>
        </p:nvGraphicFramePr>
        <p:xfrm>
          <a:off x="420248" y="753299"/>
          <a:ext cx="4497324" cy="3349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圆角矩形 23">
            <a:extLst>
              <a:ext uri="{FF2B5EF4-FFF2-40B4-BE49-F238E27FC236}">
                <a16:creationId xmlns:a16="http://schemas.microsoft.com/office/drawing/2014/main" id="{5DF15AC4-A70E-023E-8D99-C7E7FCE17EB5}"/>
              </a:ext>
            </a:extLst>
          </p:cNvPr>
          <p:cNvSpPr/>
          <p:nvPr/>
        </p:nvSpPr>
        <p:spPr>
          <a:xfrm>
            <a:off x="6435287" y="1549834"/>
            <a:ext cx="4424919" cy="1266618"/>
          </a:xfrm>
          <a:prstGeom prst="roundRect">
            <a:avLst>
              <a:gd name="adj" fmla="val 1926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8E06FAE-FC8D-CDEF-67AE-3B75D377325E}"/>
              </a:ext>
            </a:extLst>
          </p:cNvPr>
          <p:cNvGrpSpPr/>
          <p:nvPr/>
        </p:nvGrpSpPr>
        <p:grpSpPr>
          <a:xfrm>
            <a:off x="5281727" y="981380"/>
            <a:ext cx="6297606" cy="1263549"/>
            <a:chOff x="462135" y="2628579"/>
            <a:chExt cx="2430144" cy="1167866"/>
          </a:xfrm>
        </p:grpSpPr>
        <p:sp>
          <p:nvSpPr>
            <p:cNvPr id="66" name="圆角矩形 16">
              <a:extLst>
                <a:ext uri="{FF2B5EF4-FFF2-40B4-BE49-F238E27FC236}">
                  <a16:creationId xmlns:a16="http://schemas.microsoft.com/office/drawing/2014/main" id="{A677BE92-4860-0FE5-2B35-14B5D2EA3961}"/>
                </a:ext>
              </a:extLst>
            </p:cNvPr>
            <p:cNvSpPr/>
            <p:nvPr/>
          </p:nvSpPr>
          <p:spPr>
            <a:xfrm>
              <a:off x="462135" y="2628579"/>
              <a:ext cx="2430144" cy="1167866"/>
            </a:xfrm>
            <a:prstGeom prst="roundRect">
              <a:avLst>
                <a:gd name="adj" fmla="val 2824"/>
              </a:avLst>
            </a:prstGeom>
            <a:solidFill>
              <a:srgbClr val="1E6AAD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圆角矩形 23">
              <a:extLst>
                <a:ext uri="{FF2B5EF4-FFF2-40B4-BE49-F238E27FC236}">
                  <a16:creationId xmlns:a16="http://schemas.microsoft.com/office/drawing/2014/main" id="{E6101B69-4515-BB44-F631-C1BFD9F7A41A}"/>
                </a:ext>
              </a:extLst>
            </p:cNvPr>
            <p:cNvSpPr/>
            <p:nvPr/>
          </p:nvSpPr>
          <p:spPr>
            <a:xfrm>
              <a:off x="495453" y="2724568"/>
              <a:ext cx="2370413" cy="978811"/>
            </a:xfrm>
            <a:prstGeom prst="roundRect">
              <a:avLst>
                <a:gd name="adj" fmla="val 1926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6821A3D-0C43-6213-6A51-7BD89BC89FE8}"/>
              </a:ext>
            </a:extLst>
          </p:cNvPr>
          <p:cNvGrpSpPr/>
          <p:nvPr/>
        </p:nvGrpSpPr>
        <p:grpSpPr>
          <a:xfrm>
            <a:off x="5463737" y="1177498"/>
            <a:ext cx="1620183" cy="927536"/>
            <a:chOff x="1809484" y="2166390"/>
            <a:chExt cx="1882975" cy="1094935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42EC99B6-CA63-4ED2-24C0-21D5E4AE0A24}"/>
                </a:ext>
              </a:extLst>
            </p:cNvPr>
            <p:cNvSpPr/>
            <p:nvPr/>
          </p:nvSpPr>
          <p:spPr>
            <a:xfrm>
              <a:off x="2208224" y="2166390"/>
              <a:ext cx="1134622" cy="788257"/>
            </a:xfrm>
            <a:prstGeom prst="ellipse">
              <a:avLst/>
            </a:prstGeom>
            <a:solidFill>
              <a:srgbClr val="3C548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517608D5-4772-E5F1-0254-A1A172D548C0}"/>
                </a:ext>
              </a:extLst>
            </p:cNvPr>
            <p:cNvSpPr/>
            <p:nvPr/>
          </p:nvSpPr>
          <p:spPr>
            <a:xfrm>
              <a:off x="1809484" y="2473068"/>
              <a:ext cx="1134622" cy="788257"/>
            </a:xfrm>
            <a:prstGeom prst="ellipse">
              <a:avLst/>
            </a:prstGeom>
            <a:solidFill>
              <a:srgbClr val="971F0F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2CF4A17F-429D-C799-C0AB-EBBDFF961355}"/>
                </a:ext>
              </a:extLst>
            </p:cNvPr>
            <p:cNvSpPr/>
            <p:nvPr/>
          </p:nvSpPr>
          <p:spPr>
            <a:xfrm>
              <a:off x="2557837" y="2446633"/>
              <a:ext cx="1134622" cy="788257"/>
            </a:xfrm>
            <a:prstGeom prst="ellipse">
              <a:avLst/>
            </a:prstGeom>
            <a:solidFill>
              <a:srgbClr val="2F7061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1F0FE32D-1F34-F149-8A4D-401B846E3673}"/>
                </a:ext>
              </a:extLst>
            </p:cNvPr>
            <p:cNvSpPr/>
            <p:nvPr/>
          </p:nvSpPr>
          <p:spPr>
            <a:xfrm>
              <a:off x="2548340" y="2573043"/>
              <a:ext cx="386269" cy="394821"/>
            </a:xfrm>
            <a:custGeom>
              <a:avLst/>
              <a:gdLst>
                <a:gd name="connsiteX0" fmla="*/ 200026 w 454290"/>
                <a:gd name="connsiteY0" fmla="*/ 0 h 441065"/>
                <a:gd name="connsiteX1" fmla="*/ 258868 w 454290"/>
                <a:gd name="connsiteY1" fmla="*/ 32038 h 441065"/>
                <a:gd name="connsiteX2" fmla="*/ 454290 w 454290"/>
                <a:gd name="connsiteY2" fmla="*/ 343371 h 441065"/>
                <a:gd name="connsiteX3" fmla="*/ 442355 w 454290"/>
                <a:gd name="connsiteY3" fmla="*/ 421498 h 441065"/>
                <a:gd name="connsiteX4" fmla="*/ 390501 w 454290"/>
                <a:gd name="connsiteY4" fmla="*/ 432120 h 441065"/>
                <a:gd name="connsiteX5" fmla="*/ 256034 w 454290"/>
                <a:gd name="connsiteY5" fmla="*/ 441065 h 441065"/>
                <a:gd name="connsiteX6" fmla="*/ 121567 w 454290"/>
                <a:gd name="connsiteY6" fmla="*/ 432120 h 441065"/>
                <a:gd name="connsiteX7" fmla="*/ 17418 w 454290"/>
                <a:gd name="connsiteY7" fmla="*/ 410786 h 441065"/>
                <a:gd name="connsiteX8" fmla="*/ 13555 w 454290"/>
                <a:gd name="connsiteY8" fmla="*/ 402574 h 441065"/>
                <a:gd name="connsiteX9" fmla="*/ 0 w 454290"/>
                <a:gd name="connsiteY9" fmla="*/ 313840 h 441065"/>
                <a:gd name="connsiteX10" fmla="*/ 195422 w 454290"/>
                <a:gd name="connsiteY10" fmla="*/ 2507 h 44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4290" h="441065">
                  <a:moveTo>
                    <a:pt x="200026" y="0"/>
                  </a:moveTo>
                  <a:lnTo>
                    <a:pt x="258868" y="32038"/>
                  </a:lnTo>
                  <a:cubicBezTo>
                    <a:pt x="379610" y="111715"/>
                    <a:pt x="454290" y="221788"/>
                    <a:pt x="454290" y="343371"/>
                  </a:cubicBezTo>
                  <a:lnTo>
                    <a:pt x="442355" y="421498"/>
                  </a:lnTo>
                  <a:lnTo>
                    <a:pt x="390501" y="432120"/>
                  </a:lnTo>
                  <a:cubicBezTo>
                    <a:pt x="347067" y="437985"/>
                    <a:pt x="302095" y="441065"/>
                    <a:pt x="256034" y="441065"/>
                  </a:cubicBezTo>
                  <a:cubicBezTo>
                    <a:pt x="209973" y="441065"/>
                    <a:pt x="165001" y="437985"/>
                    <a:pt x="121567" y="432120"/>
                  </a:cubicBezTo>
                  <a:lnTo>
                    <a:pt x="17418" y="410786"/>
                  </a:lnTo>
                  <a:lnTo>
                    <a:pt x="13555" y="402574"/>
                  </a:lnTo>
                  <a:cubicBezTo>
                    <a:pt x="4668" y="373912"/>
                    <a:pt x="0" y="344236"/>
                    <a:pt x="0" y="313840"/>
                  </a:cubicBezTo>
                  <a:cubicBezTo>
                    <a:pt x="0" y="192257"/>
                    <a:pt x="74680" y="82184"/>
                    <a:pt x="195422" y="2507"/>
                  </a:cubicBezTo>
                  <a:close/>
                </a:path>
              </a:pathLst>
            </a:cu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5963E087-97FA-3368-021A-C1C0207AE18E}"/>
              </a:ext>
            </a:extLst>
          </p:cNvPr>
          <p:cNvSpPr txBox="1"/>
          <p:nvPr/>
        </p:nvSpPr>
        <p:spPr>
          <a:xfrm>
            <a:off x="7261997" y="1232434"/>
            <a:ext cx="380497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尚无实现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最优渐近复杂度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标准半诚实安全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D75D2CA-563A-288D-6805-3A2832A74E37}"/>
              </a:ext>
            </a:extLst>
          </p:cNvPr>
          <p:cNvGrpSpPr/>
          <p:nvPr/>
        </p:nvGrpSpPr>
        <p:grpSpPr>
          <a:xfrm>
            <a:off x="5284199" y="2446479"/>
            <a:ext cx="6323765" cy="1495788"/>
            <a:chOff x="477117" y="2444968"/>
            <a:chExt cx="3309137" cy="1109339"/>
          </a:xfrm>
        </p:grpSpPr>
        <p:sp>
          <p:nvSpPr>
            <p:cNvPr id="76" name="圆角矩形 16">
              <a:extLst>
                <a:ext uri="{FF2B5EF4-FFF2-40B4-BE49-F238E27FC236}">
                  <a16:creationId xmlns:a16="http://schemas.microsoft.com/office/drawing/2014/main" id="{C37754FF-33EC-78BB-E96E-989A120E85EB}"/>
                </a:ext>
              </a:extLst>
            </p:cNvPr>
            <p:cNvSpPr/>
            <p:nvPr/>
          </p:nvSpPr>
          <p:spPr>
            <a:xfrm>
              <a:off x="477117" y="2444968"/>
              <a:ext cx="3309137" cy="1109339"/>
            </a:xfrm>
            <a:prstGeom prst="roundRect">
              <a:avLst>
                <a:gd name="adj" fmla="val 2824"/>
              </a:avLst>
            </a:prstGeom>
            <a:solidFill>
              <a:srgbClr val="EB7C30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圆角矩形 23">
              <a:extLst>
                <a:ext uri="{FF2B5EF4-FFF2-40B4-BE49-F238E27FC236}">
                  <a16:creationId xmlns:a16="http://schemas.microsoft.com/office/drawing/2014/main" id="{1F2E6AEC-FB2D-BFEE-9A3F-7B2CA09E405C}"/>
                </a:ext>
              </a:extLst>
            </p:cNvPr>
            <p:cNvSpPr/>
            <p:nvPr/>
          </p:nvSpPr>
          <p:spPr>
            <a:xfrm>
              <a:off x="521005" y="2511889"/>
              <a:ext cx="3229101" cy="974232"/>
            </a:xfrm>
            <a:prstGeom prst="roundRect">
              <a:avLst>
                <a:gd name="adj" fmla="val 1926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:a16="http://schemas.microsoft.com/office/drawing/2014/main" id="{EE4F6869-3EC8-0076-8146-9C7B3BF3E9CE}"/>
              </a:ext>
            </a:extLst>
          </p:cNvPr>
          <p:cNvSpPr txBox="1"/>
          <p:nvPr/>
        </p:nvSpPr>
        <p:spPr>
          <a:xfrm>
            <a:off x="6294964" y="3424815"/>
            <a:ext cx="5276714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尚无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不诚实大多数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下安全的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Circuit-MPSI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08156A0-1101-2A52-D175-F922CBB200B9}"/>
              </a:ext>
            </a:extLst>
          </p:cNvPr>
          <p:cNvSpPr txBox="1"/>
          <p:nvPr/>
        </p:nvSpPr>
        <p:spPr>
          <a:xfrm>
            <a:off x="7171782" y="2574377"/>
            <a:ext cx="4248887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尚无实现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最优渐近复杂度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MPSI-card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MPSI-card-sum</a:t>
            </a:r>
            <a:endParaRPr lang="zh-CN" altLang="en-US" sz="20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1D31C1C-3CCA-37A1-FF40-CE0BF67EA455}"/>
              </a:ext>
            </a:extLst>
          </p:cNvPr>
          <p:cNvGrpSpPr/>
          <p:nvPr/>
        </p:nvGrpSpPr>
        <p:grpSpPr>
          <a:xfrm>
            <a:off x="5493600" y="2573524"/>
            <a:ext cx="1662904" cy="933971"/>
            <a:chOff x="1933553" y="2243043"/>
            <a:chExt cx="1882975" cy="1094935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704A8B24-2078-81F1-CAB8-84597233695B}"/>
                </a:ext>
              </a:extLst>
            </p:cNvPr>
            <p:cNvSpPr/>
            <p:nvPr/>
          </p:nvSpPr>
          <p:spPr>
            <a:xfrm>
              <a:off x="2332293" y="2243043"/>
              <a:ext cx="1134622" cy="788257"/>
            </a:xfrm>
            <a:prstGeom prst="ellipse">
              <a:avLst/>
            </a:prstGeom>
            <a:solidFill>
              <a:srgbClr val="3C548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2C6A6881-E241-10FA-D379-1DCDF19F5702}"/>
                </a:ext>
              </a:extLst>
            </p:cNvPr>
            <p:cNvSpPr/>
            <p:nvPr/>
          </p:nvSpPr>
          <p:spPr>
            <a:xfrm>
              <a:off x="1933553" y="2549721"/>
              <a:ext cx="1134622" cy="788257"/>
            </a:xfrm>
            <a:prstGeom prst="ellipse">
              <a:avLst/>
            </a:prstGeom>
            <a:solidFill>
              <a:srgbClr val="971F0F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8EDBC23E-771C-B293-2463-0EA7992B3748}"/>
                </a:ext>
              </a:extLst>
            </p:cNvPr>
            <p:cNvSpPr/>
            <p:nvPr/>
          </p:nvSpPr>
          <p:spPr>
            <a:xfrm>
              <a:off x="2681906" y="2523286"/>
              <a:ext cx="1134622" cy="788257"/>
            </a:xfrm>
            <a:prstGeom prst="ellipse">
              <a:avLst/>
            </a:prstGeom>
            <a:solidFill>
              <a:srgbClr val="2F7061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3F35CDC8-90CB-FEB0-2752-B58432C23DB5}"/>
                </a:ext>
              </a:extLst>
            </p:cNvPr>
            <p:cNvSpPr/>
            <p:nvPr/>
          </p:nvSpPr>
          <p:spPr>
            <a:xfrm>
              <a:off x="2672409" y="2649696"/>
              <a:ext cx="386269" cy="394821"/>
            </a:xfrm>
            <a:custGeom>
              <a:avLst/>
              <a:gdLst>
                <a:gd name="connsiteX0" fmla="*/ 200026 w 454290"/>
                <a:gd name="connsiteY0" fmla="*/ 0 h 441065"/>
                <a:gd name="connsiteX1" fmla="*/ 258868 w 454290"/>
                <a:gd name="connsiteY1" fmla="*/ 32038 h 441065"/>
                <a:gd name="connsiteX2" fmla="*/ 454290 w 454290"/>
                <a:gd name="connsiteY2" fmla="*/ 343371 h 441065"/>
                <a:gd name="connsiteX3" fmla="*/ 442355 w 454290"/>
                <a:gd name="connsiteY3" fmla="*/ 421498 h 441065"/>
                <a:gd name="connsiteX4" fmla="*/ 390501 w 454290"/>
                <a:gd name="connsiteY4" fmla="*/ 432120 h 441065"/>
                <a:gd name="connsiteX5" fmla="*/ 256034 w 454290"/>
                <a:gd name="connsiteY5" fmla="*/ 441065 h 441065"/>
                <a:gd name="connsiteX6" fmla="*/ 121567 w 454290"/>
                <a:gd name="connsiteY6" fmla="*/ 432120 h 441065"/>
                <a:gd name="connsiteX7" fmla="*/ 17418 w 454290"/>
                <a:gd name="connsiteY7" fmla="*/ 410786 h 441065"/>
                <a:gd name="connsiteX8" fmla="*/ 13555 w 454290"/>
                <a:gd name="connsiteY8" fmla="*/ 402574 h 441065"/>
                <a:gd name="connsiteX9" fmla="*/ 0 w 454290"/>
                <a:gd name="connsiteY9" fmla="*/ 313840 h 441065"/>
                <a:gd name="connsiteX10" fmla="*/ 195422 w 454290"/>
                <a:gd name="connsiteY10" fmla="*/ 2507 h 44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4290" h="441065">
                  <a:moveTo>
                    <a:pt x="200026" y="0"/>
                  </a:moveTo>
                  <a:lnTo>
                    <a:pt x="258868" y="32038"/>
                  </a:lnTo>
                  <a:cubicBezTo>
                    <a:pt x="379610" y="111715"/>
                    <a:pt x="454290" y="221788"/>
                    <a:pt x="454290" y="343371"/>
                  </a:cubicBezTo>
                  <a:lnTo>
                    <a:pt x="442355" y="421498"/>
                  </a:lnTo>
                  <a:lnTo>
                    <a:pt x="390501" y="432120"/>
                  </a:lnTo>
                  <a:cubicBezTo>
                    <a:pt x="347067" y="437985"/>
                    <a:pt x="302095" y="441065"/>
                    <a:pt x="256034" y="441065"/>
                  </a:cubicBezTo>
                  <a:cubicBezTo>
                    <a:pt x="209973" y="441065"/>
                    <a:pt x="165001" y="437985"/>
                    <a:pt x="121567" y="432120"/>
                  </a:cubicBezTo>
                  <a:lnTo>
                    <a:pt x="17418" y="410786"/>
                  </a:lnTo>
                  <a:lnTo>
                    <a:pt x="13555" y="402574"/>
                  </a:lnTo>
                  <a:cubicBezTo>
                    <a:pt x="4668" y="373912"/>
                    <a:pt x="0" y="344236"/>
                    <a:pt x="0" y="313840"/>
                  </a:cubicBezTo>
                  <a:cubicBezTo>
                    <a:pt x="0" y="192257"/>
                    <a:pt x="74680" y="82184"/>
                    <a:pt x="195422" y="2507"/>
                  </a:cubicBez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/>
                  </a:solidFill>
                </a:rPr>
                <a:t>f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92" name="圆角矩形 1">
            <a:extLst>
              <a:ext uri="{FF2B5EF4-FFF2-40B4-BE49-F238E27FC236}">
                <a16:creationId xmlns:a16="http://schemas.microsoft.com/office/drawing/2014/main" id="{EEECD963-5CBB-331D-D54D-6EDFF973DABA}"/>
              </a:ext>
            </a:extLst>
          </p:cNvPr>
          <p:cNvSpPr/>
          <p:nvPr/>
        </p:nvSpPr>
        <p:spPr>
          <a:xfrm>
            <a:off x="36867" y="5853059"/>
            <a:ext cx="12096205" cy="1070373"/>
          </a:xfrm>
          <a:prstGeom prst="roundRect">
            <a:avLst>
              <a:gd name="adj" fmla="val 4708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目标一：在标准半诚实模型下，设计可抵抗任意共谋攻击的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MPSO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</a:t>
            </a:r>
            <a:endParaRPr kumimoji="1"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2E99375-6E4D-780A-C5DB-42599354051A}"/>
              </a:ext>
            </a:extLst>
          </p:cNvPr>
          <p:cNvGrpSpPr/>
          <p:nvPr/>
        </p:nvGrpSpPr>
        <p:grpSpPr>
          <a:xfrm>
            <a:off x="164052" y="5853059"/>
            <a:ext cx="12096205" cy="1070373"/>
            <a:chOff x="-288152" y="899791"/>
            <a:chExt cx="8913628" cy="1070373"/>
          </a:xfrm>
        </p:grpSpPr>
        <p:sp>
          <p:nvSpPr>
            <p:cNvPr id="94" name="圆角矩形 1">
              <a:extLst>
                <a:ext uri="{FF2B5EF4-FFF2-40B4-BE49-F238E27FC236}">
                  <a16:creationId xmlns:a16="http://schemas.microsoft.com/office/drawing/2014/main" id="{B3C885A0-B515-ABD6-E19C-94F467FF2E53}"/>
                </a:ext>
              </a:extLst>
            </p:cNvPr>
            <p:cNvSpPr/>
            <p:nvPr/>
          </p:nvSpPr>
          <p:spPr>
            <a:xfrm>
              <a:off x="-164716" y="1078306"/>
              <a:ext cx="8704332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圆角矩形 1">
              <a:extLst>
                <a:ext uri="{FF2B5EF4-FFF2-40B4-BE49-F238E27FC236}">
                  <a16:creationId xmlns:a16="http://schemas.microsoft.com/office/drawing/2014/main" id="{EB457668-8329-8C0E-2F6E-8AE22BE6AEE1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目标二：构造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理论最优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+ 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实际可用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MPSO 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协议，解决开放性问题</a:t>
              </a:r>
              <a:endPara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5817AF8E-B362-E5F6-1A6F-E1392509B5E2}"/>
              </a:ext>
            </a:extLst>
          </p:cNvPr>
          <p:cNvGrpSpPr/>
          <p:nvPr/>
        </p:nvGrpSpPr>
        <p:grpSpPr>
          <a:xfrm>
            <a:off x="570882" y="4069240"/>
            <a:ext cx="5764941" cy="2914022"/>
            <a:chOff x="3263907" y="3911661"/>
            <a:chExt cx="6081313" cy="2940654"/>
          </a:xfrm>
        </p:grpSpPr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35C1F2FF-4808-3EB8-783A-6A24EF79BC60}"/>
                </a:ext>
              </a:extLst>
            </p:cNvPr>
            <p:cNvGrpSpPr/>
            <p:nvPr/>
          </p:nvGrpSpPr>
          <p:grpSpPr>
            <a:xfrm>
              <a:off x="3263907" y="3911661"/>
              <a:ext cx="6081313" cy="2940654"/>
              <a:chOff x="1696051" y="1067991"/>
              <a:chExt cx="6782630" cy="3331463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80B7424C-ECEA-CD0C-8BB3-BD033C56402F}"/>
                  </a:ext>
                </a:extLst>
              </p:cNvPr>
              <p:cNvGrpSpPr/>
              <p:nvPr/>
            </p:nvGrpSpPr>
            <p:grpSpPr>
              <a:xfrm>
                <a:off x="1696051" y="1067991"/>
                <a:ext cx="4667234" cy="2079755"/>
                <a:chOff x="172051" y="1067990"/>
                <a:chExt cx="4667234" cy="2079755"/>
              </a:xfrm>
            </p:grpSpPr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792999D8-5411-B282-5B82-F8FA38B218DE}"/>
                    </a:ext>
                  </a:extLst>
                </p:cNvPr>
                <p:cNvGrpSpPr/>
                <p:nvPr/>
              </p:nvGrpSpPr>
              <p:grpSpPr>
                <a:xfrm>
                  <a:off x="172051" y="1067990"/>
                  <a:ext cx="540000" cy="2079755"/>
                  <a:chOff x="172051" y="1067990"/>
                  <a:chExt cx="540000" cy="2079755"/>
                </a:xfrm>
              </p:grpSpPr>
              <p:sp>
                <p:nvSpPr>
                  <p:cNvPr id="203" name="圆角矩形 162">
                    <a:extLst>
                      <a:ext uri="{FF2B5EF4-FFF2-40B4-BE49-F238E27FC236}">
                        <a16:creationId xmlns:a16="http://schemas.microsoft.com/office/drawing/2014/main" id="{3B2FAA6B-7416-DA65-9961-2E2140866C58}"/>
                      </a:ext>
                    </a:extLst>
                  </p:cNvPr>
                  <p:cNvSpPr/>
                  <p:nvPr/>
                </p:nvSpPr>
                <p:spPr>
                  <a:xfrm>
                    <a:off x="172051" y="1092691"/>
                    <a:ext cx="540000" cy="2055054"/>
                  </a:xfrm>
                  <a:prstGeom prst="roundRect">
                    <a:avLst>
                      <a:gd name="adj" fmla="val 14954"/>
                    </a:avLst>
                  </a:prstGeom>
                  <a:solidFill>
                    <a:srgbClr val="009193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270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4" name="矩形 203">
                    <a:extLst>
                      <a:ext uri="{FF2B5EF4-FFF2-40B4-BE49-F238E27FC236}">
                        <a16:creationId xmlns:a16="http://schemas.microsoft.com/office/drawing/2014/main" id="{29DBE17C-0842-57B7-8DD3-13E6F686000E}"/>
                      </a:ext>
                    </a:extLst>
                  </p:cNvPr>
                  <p:cNvSpPr/>
                  <p:nvPr/>
                </p:nvSpPr>
                <p:spPr>
                  <a:xfrm>
                    <a:off x="211188" y="1067990"/>
                    <a:ext cx="440099" cy="182691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  <a:defRPr/>
                    </a:pPr>
                    <a:r>
                      <a:rPr lang="zh-CN" altLang="en-US" sz="24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具体协议</a:t>
                    </a:r>
                    <a:endParaRPr lang="zh-CN" altLang="en-US" sz="2400" dirty="0">
                      <a:solidFill>
                        <a:srgbClr val="FFFFFF"/>
                      </a:solidFill>
                      <a:latin typeface="Arial"/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195" name="组合 194">
                  <a:extLst>
                    <a:ext uri="{FF2B5EF4-FFF2-40B4-BE49-F238E27FC236}">
                      <a16:creationId xmlns:a16="http://schemas.microsoft.com/office/drawing/2014/main" id="{F1798178-FAD1-5850-9DC6-D2B276D52642}"/>
                    </a:ext>
                  </a:extLst>
                </p:cNvPr>
                <p:cNvGrpSpPr/>
                <p:nvPr/>
              </p:nvGrpSpPr>
              <p:grpSpPr>
                <a:xfrm>
                  <a:off x="718480" y="1092691"/>
                  <a:ext cx="4120805" cy="1992690"/>
                  <a:chOff x="718480" y="1092691"/>
                  <a:chExt cx="4120805" cy="1992690"/>
                </a:xfrm>
              </p:grpSpPr>
              <p:grpSp>
                <p:nvGrpSpPr>
                  <p:cNvPr id="197" name="组合 196">
                    <a:extLst>
                      <a:ext uri="{FF2B5EF4-FFF2-40B4-BE49-F238E27FC236}">
                        <a16:creationId xmlns:a16="http://schemas.microsoft.com/office/drawing/2014/main" id="{2AEC6CFD-4F64-E82D-A5C6-D5E6F00BC69E}"/>
                      </a:ext>
                    </a:extLst>
                  </p:cNvPr>
                  <p:cNvGrpSpPr/>
                  <p:nvPr/>
                </p:nvGrpSpPr>
                <p:grpSpPr>
                  <a:xfrm>
                    <a:off x="778874" y="1092691"/>
                    <a:ext cx="4060411" cy="1992690"/>
                    <a:chOff x="279842" y="1126022"/>
                    <a:chExt cx="4060411" cy="1992690"/>
                  </a:xfrm>
                </p:grpSpPr>
                <p:sp>
                  <p:nvSpPr>
                    <p:cNvPr id="200" name="圆角矩形 159">
                      <a:extLst>
                        <a:ext uri="{FF2B5EF4-FFF2-40B4-BE49-F238E27FC236}">
                          <a16:creationId xmlns:a16="http://schemas.microsoft.com/office/drawing/2014/main" id="{3A3A3967-F3BE-132B-361A-61DB10182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9842" y="1126023"/>
                      <a:ext cx="4060411" cy="1992689"/>
                    </a:xfrm>
                    <a:prstGeom prst="roundRect">
                      <a:avLst>
                        <a:gd name="adj" fmla="val 6498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2600" dirty="0"/>
                    </a:p>
                  </p:txBody>
                </p:sp>
                <p:sp>
                  <p:nvSpPr>
                    <p:cNvPr id="201" name="同侧圆角矩形 160">
                      <a:extLst>
                        <a:ext uri="{FF2B5EF4-FFF2-40B4-BE49-F238E27FC236}">
                          <a16:creationId xmlns:a16="http://schemas.microsoft.com/office/drawing/2014/main" id="{AD914304-6879-7CB7-D7BE-385536D125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1471" y="1126022"/>
                      <a:ext cx="4058782" cy="544448"/>
                    </a:xfrm>
                    <a:prstGeom prst="round2SameRect">
                      <a:avLst>
                        <a:gd name="adj1" fmla="val 15404"/>
                        <a:gd name="adj2" fmla="val 0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b="1" dirty="0"/>
                    </a:p>
                  </p:txBody>
                </p:sp>
                <p:sp>
                  <p:nvSpPr>
                    <p:cNvPr id="202" name="文本框 201">
                      <a:extLst>
                        <a:ext uri="{FF2B5EF4-FFF2-40B4-BE49-F238E27FC236}">
                          <a16:creationId xmlns:a16="http://schemas.microsoft.com/office/drawing/2014/main" id="{8F86CC14-26D8-9DD4-9225-46477CC199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7214" y="1162022"/>
                      <a:ext cx="92249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功能</a:t>
                      </a:r>
                    </a:p>
                  </p:txBody>
                </p:sp>
              </p:grpSp>
              <p:sp>
                <p:nvSpPr>
                  <p:cNvPr id="198" name="Rectangle 2">
                    <a:extLst>
                      <a:ext uri="{FF2B5EF4-FFF2-40B4-BE49-F238E27FC236}">
                        <a16:creationId xmlns:a16="http://schemas.microsoft.com/office/drawing/2014/main" id="{91AB074B-87FD-A4D2-8D3F-789630AC78C6}"/>
                      </a:ext>
                    </a:extLst>
                  </p:cNvPr>
                  <p:cNvSpPr/>
                  <p:nvPr/>
                </p:nvSpPr>
                <p:spPr>
                  <a:xfrm>
                    <a:off x="2512344" y="1235395"/>
                    <a:ext cx="556290" cy="1671385"/>
                  </a:xfrm>
                  <a:prstGeom prst="rect">
                    <a:avLst/>
                  </a:prstGeom>
                  <a:noFill/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    <a:noAutofit/>
                  </a:bodyPr>
                  <a:lstStyle/>
                  <a:p>
                    <a:pPr algn="just">
                      <a:lnSpc>
                        <a:spcPct val="140000"/>
                      </a:lnSpc>
                      <a:buClr>
                        <a:schemeClr val="tx1"/>
                      </a:buClr>
                      <a:buSzPct val="70000"/>
                      <a:defRPr/>
                    </a:pPr>
                    <a:r>
                      <a:rPr lang="zh-CN" altLang="en-US" sz="23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✗</a:t>
                    </a:r>
                    <a:endParaRPr lang="en-US" altLang="zh-CN" sz="2300" b="1" kern="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99" name="Rectangle 2">
                    <a:extLst>
                      <a:ext uri="{FF2B5EF4-FFF2-40B4-BE49-F238E27FC236}">
                        <a16:creationId xmlns:a16="http://schemas.microsoft.com/office/drawing/2014/main" id="{3F5E4796-B7BF-5E08-C3FE-8E6645F85F67}"/>
                      </a:ext>
                    </a:extLst>
                  </p:cNvPr>
                  <p:cNvSpPr/>
                  <p:nvPr/>
                </p:nvSpPr>
                <p:spPr>
                  <a:xfrm>
                    <a:off x="718480" y="1251288"/>
                    <a:ext cx="3245898" cy="1671385"/>
                  </a:xfrm>
                  <a:prstGeom prst="rect">
                    <a:avLst/>
                  </a:prstGeom>
                  <a:noFill/>
                  <a:ln w="571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    <a:noAutofit/>
                  </a:bodyPr>
                  <a:lstStyle/>
                  <a:p>
                    <a:pPr algn="just">
                      <a:lnSpc>
                        <a:spcPct val="140000"/>
                      </a:lnSpc>
                      <a:buClr>
                        <a:schemeClr val="tx1"/>
                      </a:buClr>
                      <a:buSzPct val="70000"/>
                    </a:pPr>
                    <a:r>
                      <a:rPr lang="en-US" altLang="zh-CN" sz="2000" b="1" kern="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MPSI</a:t>
                    </a:r>
                    <a:endParaRPr lang="en-US" sz="2000" b="1" kern="0" dirty="0"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3F0C800B-B915-F357-4F21-B73116A63856}"/>
                    </a:ext>
                  </a:extLst>
                </p:cNvPr>
                <p:cNvSpPr txBox="1"/>
                <p:nvPr/>
              </p:nvSpPr>
              <p:spPr>
                <a:xfrm>
                  <a:off x="814972" y="2266175"/>
                  <a:ext cx="2722897" cy="5230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24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4" name="矩形 183">
                <a:extLst>
                  <a:ext uri="{FF2B5EF4-FFF2-40B4-BE49-F238E27FC236}">
                    <a16:creationId xmlns:a16="http://schemas.microsoft.com/office/drawing/2014/main" id="{25FB068B-6262-490A-9A43-5938589DB71E}"/>
                  </a:ext>
                </a:extLst>
              </p:cNvPr>
              <p:cNvSpPr/>
              <p:nvPr/>
            </p:nvSpPr>
            <p:spPr>
              <a:xfrm>
                <a:off x="2302874" y="2120996"/>
                <a:ext cx="4062575" cy="544447"/>
              </a:xfrm>
              <a:prstGeom prst="rect">
                <a:avLst/>
              </a:prstGeom>
              <a:solidFill>
                <a:srgbClr val="E1E1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06E4B17-F5FC-3055-77F0-234495E3382D}"/>
                  </a:ext>
                </a:extLst>
              </p:cNvPr>
              <p:cNvSpPr txBox="1"/>
              <p:nvPr/>
            </p:nvSpPr>
            <p:spPr>
              <a:xfrm>
                <a:off x="3445898" y="1137956"/>
                <a:ext cx="14378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理论最优</a:t>
                </a:r>
              </a:p>
            </p:txBody>
          </p:sp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14AC224-9AC1-2B77-8791-EDF369FA8D8F}"/>
                  </a:ext>
                </a:extLst>
              </p:cNvPr>
              <p:cNvSpPr txBox="1"/>
              <p:nvPr/>
            </p:nvSpPr>
            <p:spPr>
              <a:xfrm>
                <a:off x="4930962" y="1125268"/>
                <a:ext cx="35477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实际可用</a:t>
                </a:r>
              </a:p>
            </p:txBody>
          </p:sp>
          <p:sp>
            <p:nvSpPr>
              <p:cNvPr id="187" name="Rectangle 2">
                <a:extLst>
                  <a:ext uri="{FF2B5EF4-FFF2-40B4-BE49-F238E27FC236}">
                    <a16:creationId xmlns:a16="http://schemas.microsoft.com/office/drawing/2014/main" id="{A6341909-8911-DADF-782D-D03BD1F44060}"/>
                  </a:ext>
                </a:extLst>
              </p:cNvPr>
              <p:cNvSpPr/>
              <p:nvPr/>
            </p:nvSpPr>
            <p:spPr>
              <a:xfrm>
                <a:off x="4021405" y="1714368"/>
                <a:ext cx="556290" cy="1671385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  <a:defRPr/>
                </a:pPr>
                <a:r>
                  <a:rPr lang="zh-CN" altLang="en-US" sz="23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✗</a:t>
                </a:r>
                <a:endParaRPr lang="en-US" altLang="zh-CN" sz="23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Rectangle 2">
                <a:extLst>
                  <a:ext uri="{FF2B5EF4-FFF2-40B4-BE49-F238E27FC236}">
                    <a16:creationId xmlns:a16="http://schemas.microsoft.com/office/drawing/2014/main" id="{D19C4637-35BA-B457-0775-8B66B6795A48}"/>
                  </a:ext>
                </a:extLst>
              </p:cNvPr>
              <p:cNvSpPr/>
              <p:nvPr/>
            </p:nvSpPr>
            <p:spPr>
              <a:xfrm>
                <a:off x="2262468" y="1784069"/>
                <a:ext cx="3245897" cy="1671384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</a:pPr>
                <a:r>
                  <a:rPr lang="en-US" altLang="zh-CN" sz="2000" b="1" kern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MPCSI</a:t>
                </a:r>
                <a:endParaRPr lang="en-US" sz="2000" b="1" kern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Rectangle 2">
                <a:extLst>
                  <a:ext uri="{FF2B5EF4-FFF2-40B4-BE49-F238E27FC236}">
                    <a16:creationId xmlns:a16="http://schemas.microsoft.com/office/drawing/2014/main" id="{EB99C305-9F8A-FCE5-64D8-9C6CF0587BD0}"/>
                  </a:ext>
                </a:extLst>
              </p:cNvPr>
              <p:cNvSpPr/>
              <p:nvPr/>
            </p:nvSpPr>
            <p:spPr>
              <a:xfrm>
                <a:off x="5355780" y="1729314"/>
                <a:ext cx="556290" cy="1671385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  <a:defRPr/>
                </a:pPr>
                <a:r>
                  <a:rPr lang="zh-CN" altLang="en-US" sz="23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✗</a:t>
                </a:r>
                <a:endParaRPr lang="en-US" altLang="zh-CN" sz="23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" name="Rectangle 2">
                <a:extLst>
                  <a:ext uri="{FF2B5EF4-FFF2-40B4-BE49-F238E27FC236}">
                    <a16:creationId xmlns:a16="http://schemas.microsoft.com/office/drawing/2014/main" id="{002B31E6-CE8D-741C-289D-BC138DBFA378}"/>
                  </a:ext>
                </a:extLst>
              </p:cNvPr>
              <p:cNvSpPr/>
              <p:nvPr/>
            </p:nvSpPr>
            <p:spPr>
              <a:xfrm>
                <a:off x="5371998" y="2248333"/>
                <a:ext cx="556290" cy="1671385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  <a:defRPr/>
                </a:pPr>
                <a:r>
                  <a:rPr lang="zh-CN" altLang="en-US" sz="23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✗</a:t>
                </a:r>
                <a:endParaRPr lang="en-US" altLang="zh-CN" sz="23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Rectangle 2">
                <a:extLst>
                  <a:ext uri="{FF2B5EF4-FFF2-40B4-BE49-F238E27FC236}">
                    <a16:creationId xmlns:a16="http://schemas.microsoft.com/office/drawing/2014/main" id="{4A36EA21-35F2-DBAD-1AD7-E3CC7C601F40}"/>
                  </a:ext>
                </a:extLst>
              </p:cNvPr>
              <p:cNvSpPr/>
              <p:nvPr/>
            </p:nvSpPr>
            <p:spPr>
              <a:xfrm>
                <a:off x="5378089" y="1265576"/>
                <a:ext cx="556290" cy="3133878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  <a:defRPr/>
                </a:pPr>
                <a:r>
                  <a:rPr lang="zh-CN" altLang="en-US" sz="2300" b="1" kern="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✔</a:t>
                </a:r>
                <a:endParaRPr lang="en-US" altLang="zh-CN" sz="2300" b="1" kern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Rectangle 2">
                <a:extLst>
                  <a:ext uri="{FF2B5EF4-FFF2-40B4-BE49-F238E27FC236}">
                    <a16:creationId xmlns:a16="http://schemas.microsoft.com/office/drawing/2014/main" id="{C0190DC6-1B15-8D8C-7636-A36C430A1CA3}"/>
                  </a:ext>
                </a:extLst>
              </p:cNvPr>
              <p:cNvSpPr/>
              <p:nvPr/>
            </p:nvSpPr>
            <p:spPr>
              <a:xfrm>
                <a:off x="4039608" y="2215720"/>
                <a:ext cx="556290" cy="1671385"/>
              </a:xfrm>
              <a:prstGeom prst="rect">
                <a:avLst/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  <a:noAutofit/>
              </a:bodyPr>
              <a:lstStyle/>
              <a:p>
                <a:pPr algn="just">
                  <a:lnSpc>
                    <a:spcPct val="140000"/>
                  </a:lnSpc>
                  <a:buClr>
                    <a:schemeClr val="tx1"/>
                  </a:buClr>
                  <a:buSzPct val="70000"/>
                  <a:defRPr/>
                </a:pPr>
                <a:r>
                  <a:rPr lang="zh-CN" altLang="en-US" sz="23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✗</a:t>
                </a:r>
                <a:endParaRPr lang="en-US" altLang="zh-CN" sz="2300" b="1" kern="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5" name="Rectangle 2">
              <a:extLst>
                <a:ext uri="{FF2B5EF4-FFF2-40B4-BE49-F238E27FC236}">
                  <a16:creationId xmlns:a16="http://schemas.microsoft.com/office/drawing/2014/main" id="{8D69F2F6-7915-3E11-0C28-F37188ADCF17}"/>
                </a:ext>
              </a:extLst>
            </p:cNvPr>
            <p:cNvSpPr/>
            <p:nvPr/>
          </p:nvSpPr>
          <p:spPr>
            <a:xfrm>
              <a:off x="3809446" y="4984194"/>
              <a:ext cx="2910275" cy="1475317"/>
            </a:xfrm>
            <a:prstGeom prst="rect">
              <a:avLst/>
            </a:prstGeom>
            <a:noFill/>
            <a:ln w="571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37160" tIns="342900" rIns="137160" bIns="68580" numCol="1" spcCol="0" rtlCol="0" fromWordArt="0" anchor="t" anchorCtr="0" forceAA="0" compatLnSpc="1">
              <a:noAutofit/>
            </a:bodyPr>
            <a:lstStyle/>
            <a:p>
              <a:pPr algn="just">
                <a:lnSpc>
                  <a:spcPct val="140000"/>
                </a:lnSpc>
                <a:buClr>
                  <a:schemeClr val="tx1"/>
                </a:buClr>
                <a:buSzPct val="70000"/>
              </a:pPr>
              <a:r>
                <a:rPr lang="en-US" altLang="zh-CN" sz="2000" b="1" kern="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MPSU</a:t>
              </a:r>
              <a:endParaRPr lang="en-US" sz="2000" b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EB7BAB66-9B3C-A93A-CE28-C020C529E5FF}"/>
              </a:ext>
            </a:extLst>
          </p:cNvPr>
          <p:cNvGrpSpPr/>
          <p:nvPr/>
        </p:nvGrpSpPr>
        <p:grpSpPr>
          <a:xfrm>
            <a:off x="5291451" y="4235511"/>
            <a:ext cx="6304816" cy="1461333"/>
            <a:chOff x="462135" y="2065200"/>
            <a:chExt cx="2936792" cy="1177616"/>
          </a:xfrm>
        </p:grpSpPr>
        <p:sp>
          <p:nvSpPr>
            <p:cNvPr id="210" name="圆角矩形 16">
              <a:extLst>
                <a:ext uri="{FF2B5EF4-FFF2-40B4-BE49-F238E27FC236}">
                  <a16:creationId xmlns:a16="http://schemas.microsoft.com/office/drawing/2014/main" id="{21A6A18C-EE7F-4C69-95D9-3FE06BEF76DD}"/>
                </a:ext>
              </a:extLst>
            </p:cNvPr>
            <p:cNvSpPr/>
            <p:nvPr/>
          </p:nvSpPr>
          <p:spPr>
            <a:xfrm>
              <a:off x="462135" y="2065200"/>
              <a:ext cx="2936792" cy="1177616"/>
            </a:xfrm>
            <a:prstGeom prst="roundRect">
              <a:avLst>
                <a:gd name="adj" fmla="val 2824"/>
              </a:avLst>
            </a:prstGeom>
            <a:solidFill>
              <a:srgbClr val="5A857C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圆角矩形 23">
              <a:extLst>
                <a:ext uri="{FF2B5EF4-FFF2-40B4-BE49-F238E27FC236}">
                  <a16:creationId xmlns:a16="http://schemas.microsoft.com/office/drawing/2014/main" id="{448248D4-ADCD-1059-0D89-DCF3BCC4EEC3}"/>
                </a:ext>
              </a:extLst>
            </p:cNvPr>
            <p:cNvSpPr/>
            <p:nvPr/>
          </p:nvSpPr>
          <p:spPr>
            <a:xfrm>
              <a:off x="513482" y="2129341"/>
              <a:ext cx="2854988" cy="1058663"/>
            </a:xfrm>
            <a:prstGeom prst="roundRect">
              <a:avLst>
                <a:gd name="adj" fmla="val 1926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D9FA4AD6-2829-7F57-D1A4-1A77EC9FFBC0}"/>
              </a:ext>
            </a:extLst>
          </p:cNvPr>
          <p:cNvGrpSpPr/>
          <p:nvPr/>
        </p:nvGrpSpPr>
        <p:grpSpPr>
          <a:xfrm>
            <a:off x="5522648" y="4411094"/>
            <a:ext cx="1720705" cy="1045124"/>
            <a:chOff x="1613384" y="3969112"/>
            <a:chExt cx="1876024" cy="1116782"/>
          </a:xfrm>
        </p:grpSpPr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6837C834-7146-4AD9-A17C-31D7D76D0A92}"/>
                </a:ext>
              </a:extLst>
            </p:cNvPr>
            <p:cNvSpPr/>
            <p:nvPr/>
          </p:nvSpPr>
          <p:spPr>
            <a:xfrm>
              <a:off x="2013264" y="3990960"/>
              <a:ext cx="1128437" cy="788256"/>
            </a:xfrm>
            <a:prstGeom prst="ellipse">
              <a:avLst/>
            </a:prstGeom>
            <a:solidFill>
              <a:srgbClr val="3C548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03A27D3F-83A6-F47B-9D26-22371492822F}"/>
                </a:ext>
              </a:extLst>
            </p:cNvPr>
            <p:cNvSpPr/>
            <p:nvPr/>
          </p:nvSpPr>
          <p:spPr>
            <a:xfrm>
              <a:off x="1616697" y="4297638"/>
              <a:ext cx="1128437" cy="788256"/>
            </a:xfrm>
            <a:prstGeom prst="ellipse">
              <a:avLst/>
            </a:prstGeom>
            <a:solidFill>
              <a:srgbClr val="971F0F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0CCB360D-621F-C74F-FD45-FFCF0CAE49FC}"/>
                </a:ext>
              </a:extLst>
            </p:cNvPr>
            <p:cNvSpPr/>
            <p:nvPr/>
          </p:nvSpPr>
          <p:spPr>
            <a:xfrm>
              <a:off x="2360971" y="4271203"/>
              <a:ext cx="1128437" cy="788256"/>
            </a:xfrm>
            <a:prstGeom prst="ellipse">
              <a:avLst/>
            </a:prstGeom>
            <a:solidFill>
              <a:srgbClr val="2F7061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1B0CC4D1-2F2F-0511-FE75-6B995911220A}"/>
                </a:ext>
              </a:extLst>
            </p:cNvPr>
            <p:cNvSpPr/>
            <p:nvPr/>
          </p:nvSpPr>
          <p:spPr>
            <a:xfrm>
              <a:off x="1613384" y="3969112"/>
              <a:ext cx="1872711" cy="1094935"/>
            </a:xfrm>
            <a:custGeom>
              <a:avLst/>
              <a:gdLst>
                <a:gd name="connsiteX0" fmla="*/ 1136170 w 2214562"/>
                <a:gd name="connsiteY0" fmla="*/ 0 h 1223182"/>
                <a:gd name="connsiteX1" fmla="*/ 1750950 w 2214562"/>
                <a:gd name="connsiteY1" fmla="*/ 268910 h 1223182"/>
                <a:gd name="connsiteX2" fmla="*/ 1785965 w 2214562"/>
                <a:gd name="connsiteY2" fmla="*/ 343346 h 1223182"/>
                <a:gd name="connsiteX3" fmla="*/ 1807059 w 2214562"/>
                <a:gd name="connsiteY3" fmla="*/ 347667 h 1223182"/>
                <a:gd name="connsiteX4" fmla="*/ 2214562 w 2214562"/>
                <a:gd name="connsiteY4" fmla="*/ 753359 h 1223182"/>
                <a:gd name="connsiteX5" fmla="*/ 1547349 w 2214562"/>
                <a:gd name="connsiteY5" fmla="*/ 1193651 h 1223182"/>
                <a:gd name="connsiteX6" fmla="*/ 1174304 w 2214562"/>
                <a:gd name="connsiteY6" fmla="*/ 1118456 h 1223182"/>
                <a:gd name="connsiteX7" fmla="*/ 1134400 w 2214562"/>
                <a:gd name="connsiteY7" fmla="*/ 1096730 h 1223182"/>
                <a:gd name="connsiteX8" fmla="*/ 1040258 w 2214562"/>
                <a:gd name="connsiteY8" fmla="*/ 1147987 h 1223182"/>
                <a:gd name="connsiteX9" fmla="*/ 667213 w 2214562"/>
                <a:gd name="connsiteY9" fmla="*/ 1223182 h 1223182"/>
                <a:gd name="connsiteX10" fmla="*/ 0 w 2214562"/>
                <a:gd name="connsiteY10" fmla="*/ 782890 h 1223182"/>
                <a:gd name="connsiteX11" fmla="*/ 407503 w 2214562"/>
                <a:gd name="connsiteY11" fmla="*/ 377198 h 1223182"/>
                <a:gd name="connsiteX12" fmla="*/ 480892 w 2214562"/>
                <a:gd name="connsiteY12" fmla="*/ 362165 h 1223182"/>
                <a:gd name="connsiteX13" fmla="*/ 482512 w 2214562"/>
                <a:gd name="connsiteY13" fmla="*/ 351558 h 1223182"/>
                <a:gd name="connsiteX14" fmla="*/ 1136170 w 2214562"/>
                <a:gd name="connsiteY14" fmla="*/ 0 h 1223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14562" h="1223182">
                  <a:moveTo>
                    <a:pt x="1136170" y="0"/>
                  </a:moveTo>
                  <a:cubicBezTo>
                    <a:pt x="1412539" y="0"/>
                    <a:pt x="1649662" y="110883"/>
                    <a:pt x="1750950" y="268910"/>
                  </a:cubicBezTo>
                  <a:lnTo>
                    <a:pt x="1785965" y="343346"/>
                  </a:lnTo>
                  <a:lnTo>
                    <a:pt x="1807059" y="347667"/>
                  </a:lnTo>
                  <a:cubicBezTo>
                    <a:pt x="2046531" y="414507"/>
                    <a:pt x="2214562" y="570984"/>
                    <a:pt x="2214562" y="753359"/>
                  </a:cubicBezTo>
                  <a:cubicBezTo>
                    <a:pt x="2214562" y="996526"/>
                    <a:pt x="1915841" y="1193651"/>
                    <a:pt x="1547349" y="1193651"/>
                  </a:cubicBezTo>
                  <a:cubicBezTo>
                    <a:pt x="1409164" y="1193651"/>
                    <a:pt x="1280792" y="1165930"/>
                    <a:pt x="1174304" y="1118456"/>
                  </a:cubicBezTo>
                  <a:lnTo>
                    <a:pt x="1134400" y="1096730"/>
                  </a:lnTo>
                  <a:lnTo>
                    <a:pt x="1040258" y="1147987"/>
                  </a:lnTo>
                  <a:cubicBezTo>
                    <a:pt x="933770" y="1195461"/>
                    <a:pt x="805398" y="1223182"/>
                    <a:pt x="667213" y="1223182"/>
                  </a:cubicBezTo>
                  <a:cubicBezTo>
                    <a:pt x="298721" y="1223182"/>
                    <a:pt x="0" y="1026057"/>
                    <a:pt x="0" y="782890"/>
                  </a:cubicBezTo>
                  <a:cubicBezTo>
                    <a:pt x="0" y="600515"/>
                    <a:pt x="168031" y="444038"/>
                    <a:pt x="407503" y="377198"/>
                  </a:cubicBezTo>
                  <a:lnTo>
                    <a:pt x="480892" y="362165"/>
                  </a:lnTo>
                  <a:lnTo>
                    <a:pt x="482512" y="351558"/>
                  </a:lnTo>
                  <a:cubicBezTo>
                    <a:pt x="544727" y="150924"/>
                    <a:pt x="813740" y="0"/>
                    <a:pt x="1136170" y="0"/>
                  </a:cubicBezTo>
                  <a:close/>
                </a:path>
              </a:pathLst>
            </a:cu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20" name="文本框 219">
            <a:extLst>
              <a:ext uri="{FF2B5EF4-FFF2-40B4-BE49-F238E27FC236}">
                <a16:creationId xmlns:a16="http://schemas.microsoft.com/office/drawing/2014/main" id="{D9813C9D-818A-4810-D4C1-FD6AE4BFD5C1}"/>
              </a:ext>
            </a:extLst>
          </p:cNvPr>
          <p:cNvSpPr txBox="1"/>
          <p:nvPr/>
        </p:nvSpPr>
        <p:spPr>
          <a:xfrm>
            <a:off x="7037080" y="5222660"/>
            <a:ext cx="458403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尚无实现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MPSU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080C6639-E5C9-1496-F418-8AC8FDE973A3}"/>
              </a:ext>
            </a:extLst>
          </p:cNvPr>
          <p:cNvSpPr txBox="1"/>
          <p:nvPr/>
        </p:nvSpPr>
        <p:spPr>
          <a:xfrm>
            <a:off x="7251459" y="4365270"/>
            <a:ext cx="4155279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尚无基于</a:t>
            </a:r>
            <a:r>
              <a:rPr lang="en-US" altLang="zh-CN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OT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对称密钥操作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标准半诚实安全 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MPSU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2E0CF8E1-ADA5-983E-084C-9EAC02EC71F3}"/>
              </a:ext>
            </a:extLst>
          </p:cNvPr>
          <p:cNvCxnSpPr>
            <a:cxnSpLocks/>
          </p:cNvCxnSpPr>
          <p:nvPr/>
        </p:nvCxnSpPr>
        <p:spPr>
          <a:xfrm flipV="1">
            <a:off x="3750009" y="1564911"/>
            <a:ext cx="1541442" cy="416586"/>
          </a:xfrm>
          <a:prstGeom prst="line">
            <a:avLst/>
          </a:prstGeom>
          <a:ln w="76200">
            <a:solidFill>
              <a:srgbClr val="1E6A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1DB6030C-7510-B136-24C4-2597A5521BC1}"/>
              </a:ext>
            </a:extLst>
          </p:cNvPr>
          <p:cNvCxnSpPr>
            <a:cxnSpLocks/>
            <a:endCxn id="210" idx="1"/>
          </p:cNvCxnSpPr>
          <p:nvPr/>
        </p:nvCxnSpPr>
        <p:spPr>
          <a:xfrm>
            <a:off x="3812962" y="3101468"/>
            <a:ext cx="1478489" cy="1864710"/>
          </a:xfrm>
          <a:prstGeom prst="line">
            <a:avLst/>
          </a:prstGeom>
          <a:ln w="76200">
            <a:solidFill>
              <a:srgbClr val="5A85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9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ACCD-CC5F-5679-EF81-68C63A39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F94B8582-6982-4C3E-F8CA-275D1221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29" y="144205"/>
            <a:ext cx="914400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问题三：功能局限，缺乏统一性</a:t>
            </a:r>
          </a:p>
        </p:txBody>
      </p:sp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F136D3F8-685F-7E8F-7366-42F8AA290DB0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AAABA44A-4BC7-4A0D-9A73-A47390EBAC45}"/>
              </a:ext>
            </a:extLst>
          </p:cNvPr>
          <p:cNvGrpSpPr/>
          <p:nvPr/>
        </p:nvGrpSpPr>
        <p:grpSpPr>
          <a:xfrm>
            <a:off x="164052" y="5853059"/>
            <a:ext cx="12096205" cy="1070373"/>
            <a:chOff x="-288152" y="899791"/>
            <a:chExt cx="8913628" cy="1070373"/>
          </a:xfrm>
        </p:grpSpPr>
        <p:sp>
          <p:nvSpPr>
            <p:cNvPr id="5" name="圆角矩形 1">
              <a:extLst>
                <a:ext uri="{FF2B5EF4-FFF2-40B4-BE49-F238E27FC236}">
                  <a16:creationId xmlns:a16="http://schemas.microsoft.com/office/drawing/2014/main" id="{24872430-B41A-46EA-7DC3-F8B5D5FABC46}"/>
                </a:ext>
              </a:extLst>
            </p:cNvPr>
            <p:cNvSpPr/>
            <p:nvPr/>
          </p:nvSpPr>
          <p:spPr>
            <a:xfrm>
              <a:off x="-164716" y="1078306"/>
              <a:ext cx="8704332" cy="720000"/>
            </a:xfrm>
            <a:prstGeom prst="roundRect">
              <a:avLst>
                <a:gd name="adj" fmla="val 15752"/>
              </a:avLst>
            </a:prstGeom>
            <a:solidFill>
              <a:srgbClr val="8F0F1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defRPr/>
              </a:pPr>
              <a:endPara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1">
              <a:extLst>
                <a:ext uri="{FF2B5EF4-FFF2-40B4-BE49-F238E27FC236}">
                  <a16:creationId xmlns:a16="http://schemas.microsoft.com/office/drawing/2014/main" id="{FB332BD4-346F-49A8-D0CC-D61B000031B9}"/>
                </a:ext>
              </a:extLst>
            </p:cNvPr>
            <p:cNvSpPr/>
            <p:nvPr/>
          </p:nvSpPr>
          <p:spPr>
            <a:xfrm>
              <a:off x="-288152" y="899791"/>
              <a:ext cx="8913628" cy="1070373"/>
            </a:xfrm>
            <a:prstGeom prst="roundRect">
              <a:avLst>
                <a:gd name="adj" fmla="val 4708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目标三：凝练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核心组件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，构建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高效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通用</a:t>
              </a:r>
              <a:r>
                <a: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MPSO 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统一框架</a:t>
              </a:r>
              <a:endParaRPr kumimoji="1"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3F04516-B265-3589-C7DA-F461E4BF5C73}"/>
              </a:ext>
            </a:extLst>
          </p:cNvPr>
          <p:cNvGrpSpPr>
            <a:grpSpLocks noChangeAspect="1"/>
          </p:cNvGrpSpPr>
          <p:nvPr/>
        </p:nvGrpSpPr>
        <p:grpSpPr>
          <a:xfrm>
            <a:off x="6335609" y="2817363"/>
            <a:ext cx="4701037" cy="2845738"/>
            <a:chOff x="441021" y="1233088"/>
            <a:chExt cx="6146800" cy="3720920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C85F568-1D9E-5AAE-1785-B32C6A53F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7228" y="3493848"/>
              <a:ext cx="2001585" cy="1460160"/>
            </a:xfrm>
            <a:prstGeom prst="rect">
              <a:avLst/>
            </a:prstGeom>
          </p:spPr>
        </p:pic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E081762-40CE-3485-5A97-C48BC13C1B6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28725" y="1233088"/>
              <a:ext cx="4515039" cy="3720920"/>
              <a:chOff x="152231" y="975692"/>
              <a:chExt cx="7711699" cy="6118146"/>
            </a:xfrm>
          </p:grpSpPr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C06A0651-0DCC-D41A-C815-1C8EF2B91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9716" r="37359" b="18923"/>
              <a:stretch>
                <a:fillRect/>
              </a:stretch>
            </p:blipFill>
            <p:spPr>
              <a:xfrm>
                <a:off x="447562" y="2978036"/>
                <a:ext cx="3531142" cy="4115802"/>
              </a:xfrm>
              <a:prstGeom prst="rect">
                <a:avLst/>
              </a:prstGeom>
            </p:spPr>
          </p:pic>
          <p:cxnSp>
            <p:nvCxnSpPr>
              <p:cNvPr id="76" name="连接符: 肘形 75">
                <a:extLst>
                  <a:ext uri="{FF2B5EF4-FFF2-40B4-BE49-F238E27FC236}">
                    <a16:creationId xmlns:a16="http://schemas.microsoft.com/office/drawing/2014/main" id="{91F39E7F-402D-2ED5-147A-DDE73D51F7F0}"/>
                  </a:ext>
                </a:extLst>
              </p:cNvPr>
              <p:cNvCxnSpPr>
                <a:cxnSpLocks/>
                <a:endCxn id="88" idx="1"/>
              </p:cNvCxnSpPr>
              <p:nvPr/>
            </p:nvCxnSpPr>
            <p:spPr>
              <a:xfrm>
                <a:off x="865414" y="2886331"/>
                <a:ext cx="1857633" cy="12700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连接符: 肘形 79">
                <a:extLst>
                  <a:ext uri="{FF2B5EF4-FFF2-40B4-BE49-F238E27FC236}">
                    <a16:creationId xmlns:a16="http://schemas.microsoft.com/office/drawing/2014/main" id="{07E45CA8-CA5D-04A9-965A-277D12CD6A28}"/>
                  </a:ext>
                </a:extLst>
              </p:cNvPr>
              <p:cNvCxnSpPr>
                <a:cxnSpLocks/>
                <a:endCxn id="88" idx="3"/>
              </p:cNvCxnSpPr>
              <p:nvPr/>
            </p:nvCxnSpPr>
            <p:spPr>
              <a:xfrm rot="10800000">
                <a:off x="4394721" y="2886331"/>
                <a:ext cx="1329057" cy="1007074"/>
              </a:xfrm>
              <a:prstGeom prst="bentConnector3">
                <a:avLst>
                  <a:gd name="adj1" fmla="val 7334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80F33559-BD6F-E26F-F737-56374CA4F8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72186"/>
              <a:stretch>
                <a:fillRect/>
              </a:stretch>
            </p:blipFill>
            <p:spPr>
              <a:xfrm>
                <a:off x="152231" y="975692"/>
                <a:ext cx="2144978" cy="3650228"/>
              </a:xfrm>
              <a:prstGeom prst="rect">
                <a:avLst/>
              </a:prstGeom>
            </p:spPr>
          </p:pic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BE248D11-0163-7F56-F0A2-1D304DE1AD57}"/>
                  </a:ext>
                </a:extLst>
              </p:cNvPr>
              <p:cNvSpPr/>
              <p:nvPr/>
            </p:nvSpPr>
            <p:spPr>
              <a:xfrm>
                <a:off x="2723047" y="2627496"/>
                <a:ext cx="1671673" cy="517670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MPSO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9" name="连接符: 肘形 88">
                <a:extLst>
                  <a:ext uri="{FF2B5EF4-FFF2-40B4-BE49-F238E27FC236}">
                    <a16:creationId xmlns:a16="http://schemas.microsoft.com/office/drawing/2014/main" id="{9C8C56EE-3A95-E62B-6AD9-CC3AD0844384}"/>
                  </a:ext>
                </a:extLst>
              </p:cNvPr>
              <p:cNvCxnSpPr>
                <a:cxnSpLocks/>
                <a:endCxn id="88" idx="0"/>
              </p:cNvCxnSpPr>
              <p:nvPr/>
            </p:nvCxnSpPr>
            <p:spPr>
              <a:xfrm rot="10800000" flipV="1">
                <a:off x="3558885" y="2264472"/>
                <a:ext cx="1968337" cy="36302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箭头连接符 89">
                <a:extLst>
                  <a:ext uri="{FF2B5EF4-FFF2-40B4-BE49-F238E27FC236}">
                    <a16:creationId xmlns:a16="http://schemas.microsoft.com/office/drawing/2014/main" id="{73D98CE2-BB0E-D671-C1AD-0009AF0A9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684" y="3137626"/>
                <a:ext cx="0" cy="116352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2" name="图片 91">
                <a:extLst>
                  <a:ext uri="{FF2B5EF4-FFF2-40B4-BE49-F238E27FC236}">
                    <a16:creationId xmlns:a16="http://schemas.microsoft.com/office/drawing/2014/main" id="{838B5933-FB6D-D53F-FE26-3A76B027A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3247" b="5660"/>
              <a:stretch>
                <a:fillRect/>
              </a:stretch>
            </p:blipFill>
            <p:spPr>
              <a:xfrm>
                <a:off x="5029684" y="1036075"/>
                <a:ext cx="2834246" cy="3443636"/>
              </a:xfrm>
              <a:prstGeom prst="rect">
                <a:avLst/>
              </a:prstGeom>
            </p:spPr>
          </p:pic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F918EA3-EA66-8FF3-296A-F69FC8A22A18}"/>
                </a:ext>
              </a:extLst>
            </p:cNvPr>
            <p:cNvSpPr txBox="1"/>
            <p:nvPr/>
          </p:nvSpPr>
          <p:spPr>
            <a:xfrm>
              <a:off x="441021" y="4173203"/>
              <a:ext cx="6146800" cy="4024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30" name="Picture 6" descr="image">
            <a:extLst>
              <a:ext uri="{FF2B5EF4-FFF2-40B4-BE49-F238E27FC236}">
                <a16:creationId xmlns:a16="http://schemas.microsoft.com/office/drawing/2014/main" id="{399A1338-C413-DD90-EE44-B12AF1D26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54" y="1715570"/>
            <a:ext cx="3189751" cy="318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D9DB6C2-3965-9CB7-B04E-F3347AAFDCF5}"/>
              </a:ext>
            </a:extLst>
          </p:cNvPr>
          <p:cNvSpPr txBox="1"/>
          <p:nvPr/>
        </p:nvSpPr>
        <p:spPr>
          <a:xfrm>
            <a:off x="4696872" y="1612379"/>
            <a:ext cx="44083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[KS05]</a:t>
            </a: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只能实现部分</a:t>
            </a:r>
            <a:endParaRPr lang="en-US" altLang="zh-CN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集合公式的计算</a:t>
            </a:r>
            <a:endParaRPr lang="en-US" altLang="zh-CN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09E201-0501-BC6C-5281-90A72E78D3F7}"/>
              </a:ext>
            </a:extLst>
          </p:cNvPr>
          <p:cNvSpPr txBox="1"/>
          <p:nvPr/>
        </p:nvSpPr>
        <p:spPr>
          <a:xfrm>
            <a:off x="869073" y="1139386"/>
            <a:ext cx="3982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各类 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 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协议零散孤立，导致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部署成本高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维护难度大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397B2BB-EDF1-EBA7-E5B2-EF9B2C8BD2E3}"/>
              </a:ext>
            </a:extLst>
          </p:cNvPr>
          <p:cNvSpPr txBox="1"/>
          <p:nvPr/>
        </p:nvSpPr>
        <p:spPr>
          <a:xfrm>
            <a:off x="7433671" y="1022948"/>
            <a:ext cx="2109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现有 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 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框架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C1D7AA-BAE0-2F59-EE64-98F1FC62438A}"/>
              </a:ext>
            </a:extLst>
          </p:cNvPr>
          <p:cNvSpPr txBox="1"/>
          <p:nvPr/>
        </p:nvSpPr>
        <p:spPr>
          <a:xfrm>
            <a:off x="7621243" y="1582966"/>
            <a:ext cx="6146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效率都极其低下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0A6FAF-E2D7-767A-4F07-2BED6FBA1208}"/>
              </a:ext>
            </a:extLst>
          </p:cNvPr>
          <p:cNvSpPr txBox="1"/>
          <p:nvPr/>
        </p:nvSpPr>
        <p:spPr>
          <a:xfrm>
            <a:off x="7088614" y="1584273"/>
            <a:ext cx="63119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[BA12]</a:t>
            </a: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完全依赖通用</a:t>
            </a:r>
            <a:endParaRPr lang="en-US" altLang="zh-CN" sz="2000" b="1" dirty="0"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</a:endParaRPr>
          </a:p>
          <a:p>
            <a:pPr algn="ctr"/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</a:t>
            </a:r>
            <a:r>
              <a:rPr lang="en-US" altLang="zh-CN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MPC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 协议实现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FB48102-D822-9057-73E9-84B9A6AF5A45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8488177" y="1423058"/>
            <a:ext cx="1756387" cy="1612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0A20E17-750E-AF9F-195A-036E209845EC}"/>
              </a:ext>
            </a:extLst>
          </p:cNvPr>
          <p:cNvCxnSpPr>
            <a:cxnSpLocks/>
            <a:stCxn id="27" idx="2"/>
            <a:endCxn id="23" idx="0"/>
          </p:cNvCxnSpPr>
          <p:nvPr/>
        </p:nvCxnSpPr>
        <p:spPr>
          <a:xfrm flipH="1">
            <a:off x="6901034" y="1423058"/>
            <a:ext cx="1587143" cy="1893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形 43" descr="无填充的悲伤表情">
            <a:extLst>
              <a:ext uri="{FF2B5EF4-FFF2-40B4-BE49-F238E27FC236}">
                <a16:creationId xmlns:a16="http://schemas.microsoft.com/office/drawing/2014/main" id="{04FE62CD-2B9D-C148-2805-98215CAF50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340" y="4990657"/>
            <a:ext cx="536854" cy="536854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96906145-94E8-5BDF-72EA-38810581E0F9}"/>
              </a:ext>
            </a:extLst>
          </p:cNvPr>
          <p:cNvSpPr txBox="1"/>
          <p:nvPr/>
        </p:nvSpPr>
        <p:spPr>
          <a:xfrm>
            <a:off x="1001314" y="5033486"/>
            <a:ext cx="6901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大量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应用需求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缺乏实际可用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专用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解决方案</a:t>
            </a:r>
            <a:endParaRPr lang="zh-CN" altLang="en-US" sz="2000" dirty="0"/>
          </a:p>
        </p:txBody>
      </p:sp>
      <p:sp>
        <p:nvSpPr>
          <p:cNvPr id="49" name="箭头: 虚尾 48">
            <a:extLst>
              <a:ext uri="{FF2B5EF4-FFF2-40B4-BE49-F238E27FC236}">
                <a16:creationId xmlns:a16="http://schemas.microsoft.com/office/drawing/2014/main" id="{9032D95B-45D9-B59C-4364-FAF0F3ABB9B1}"/>
              </a:ext>
            </a:extLst>
          </p:cNvPr>
          <p:cNvSpPr/>
          <p:nvPr/>
        </p:nvSpPr>
        <p:spPr>
          <a:xfrm rot="10800000">
            <a:off x="6096000" y="4609472"/>
            <a:ext cx="677728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939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DCB3-B3F4-AAD9-F154-ADFB3686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6CD7378-3DAE-CA13-C7EA-64240AE329AC}"/>
              </a:ext>
            </a:extLst>
          </p:cNvPr>
          <p:cNvSpPr/>
          <p:nvPr/>
        </p:nvSpPr>
        <p:spPr>
          <a:xfrm>
            <a:off x="6583254" y="1451489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AA5AEB-B043-F7AE-6F9D-02BAA305F743}"/>
              </a:ext>
            </a:extLst>
          </p:cNvPr>
          <p:cNvSpPr/>
          <p:nvPr/>
        </p:nvSpPr>
        <p:spPr>
          <a:xfrm>
            <a:off x="5472387" y="1451489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3AD78E3-0E3E-4DCB-2E53-78403D61C465}"/>
              </a:ext>
            </a:extLst>
          </p:cNvPr>
          <p:cNvSpPr/>
          <p:nvPr/>
        </p:nvSpPr>
        <p:spPr>
          <a:xfrm>
            <a:off x="6583254" y="2562677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91B0ACC-ECCE-00AC-7A4B-B462A8B920F7}"/>
              </a:ext>
            </a:extLst>
          </p:cNvPr>
          <p:cNvSpPr/>
          <p:nvPr/>
        </p:nvSpPr>
        <p:spPr>
          <a:xfrm>
            <a:off x="5472387" y="2562677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F2E942D-89DD-EE34-227D-557CFF8ECFCD}"/>
              </a:ext>
            </a:extLst>
          </p:cNvPr>
          <p:cNvSpPr/>
          <p:nvPr/>
        </p:nvSpPr>
        <p:spPr>
          <a:xfrm>
            <a:off x="6583254" y="3673865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C2DF391-E1BF-84DA-EB54-1C258DCF30A0}"/>
              </a:ext>
            </a:extLst>
          </p:cNvPr>
          <p:cNvSpPr/>
          <p:nvPr/>
        </p:nvSpPr>
        <p:spPr>
          <a:xfrm>
            <a:off x="5472387" y="3673865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0B0C1E-1320-E277-1A5E-6ECDD2B4B917}"/>
              </a:ext>
            </a:extLst>
          </p:cNvPr>
          <p:cNvSpPr/>
          <p:nvPr/>
        </p:nvSpPr>
        <p:spPr>
          <a:xfrm>
            <a:off x="6583254" y="4785053"/>
            <a:ext cx="3878615" cy="584775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A03C004-D49E-991F-7E68-6F23D331C9B9}"/>
              </a:ext>
            </a:extLst>
          </p:cNvPr>
          <p:cNvSpPr/>
          <p:nvPr/>
        </p:nvSpPr>
        <p:spPr>
          <a:xfrm>
            <a:off x="5472387" y="4785053"/>
            <a:ext cx="583200" cy="584775"/>
          </a:xfrm>
          <a:prstGeom prst="roundRect">
            <a:avLst/>
          </a:prstGeom>
          <a:solidFill>
            <a:srgbClr val="8F0F1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0378D57-5DD4-C10C-C329-06469221977C}"/>
              </a:ext>
            </a:extLst>
          </p:cNvPr>
          <p:cNvSpPr/>
          <p:nvPr/>
        </p:nvSpPr>
        <p:spPr>
          <a:xfrm>
            <a:off x="0" y="1"/>
            <a:ext cx="3752850" cy="6857999"/>
          </a:xfrm>
          <a:prstGeom prst="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8F0F16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DE62B4-64B2-6223-FB9A-DA6210243B30}"/>
              </a:ext>
            </a:extLst>
          </p:cNvPr>
          <p:cNvSpPr/>
          <p:nvPr/>
        </p:nvSpPr>
        <p:spPr>
          <a:xfrm>
            <a:off x="1366395" y="2192893"/>
            <a:ext cx="138371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7200" b="1" dirty="0">
              <a:ln w="3175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7200" b="1" dirty="0">
                <a:ln w="3175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 </a:t>
            </a:r>
            <a:endParaRPr lang="zh-CN" altLang="en-US" sz="7200" dirty="0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A2D4696-38DB-BDA7-401D-9557FE1E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69" y="162841"/>
            <a:ext cx="1358312" cy="129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5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16DE275-F57D-FA4C-656D-7C6A943AD335}"/>
              </a:ext>
            </a:extLst>
          </p:cNvPr>
          <p:cNvSpPr/>
          <p:nvPr/>
        </p:nvSpPr>
        <p:spPr>
          <a:xfrm>
            <a:off x="7345141" y="1323331"/>
            <a:ext cx="4501081" cy="3291917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05F81C6-36B4-7964-ABDD-1074506B2A4A}"/>
              </a:ext>
            </a:extLst>
          </p:cNvPr>
          <p:cNvSpPr/>
          <p:nvPr/>
        </p:nvSpPr>
        <p:spPr>
          <a:xfrm>
            <a:off x="627608" y="1328588"/>
            <a:ext cx="4594766" cy="3291917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4">
            <a:extLst>
              <a:ext uri="{FF2B5EF4-FFF2-40B4-BE49-F238E27FC236}">
                <a16:creationId xmlns:a16="http://schemas.microsoft.com/office/drawing/2014/main" id="{B0F51C32-D9C6-8A6C-43CE-0B6C7A31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345"/>
            <a:ext cx="1163722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研究成果一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: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安全高效的多方隐私集合求并协议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B123CD-94E3-B64E-45E5-23554066A72E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4">
            <a:extLst>
              <a:ext uri="{FF2B5EF4-FFF2-40B4-BE49-F238E27FC236}">
                <a16:creationId xmlns:a16="http://schemas.microsoft.com/office/drawing/2014/main" id="{8292A44D-F294-28C6-C736-A8450FABED6B}"/>
              </a:ext>
            </a:extLst>
          </p:cNvPr>
          <p:cNvSpPr txBox="1"/>
          <p:nvPr/>
        </p:nvSpPr>
        <p:spPr>
          <a:xfrm>
            <a:off x="1253092" y="5259567"/>
            <a:ext cx="10633456" cy="1445717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>
              <a:lnSpc>
                <a:spcPct val="130000"/>
              </a:lnSpc>
              <a:buClr>
                <a:srgbClr val="000000"/>
              </a:buClr>
              <a:buSzPct val="75000"/>
            </a:pP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在标准半诚实安全模型下：</a:t>
            </a:r>
            <a:endParaRPr lang="en-US" altLang="zh-CN" sz="23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Clr>
                <a:srgbClr val="000000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提出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首个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不经意传输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的多方隐私集合求并协议 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最佳性能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30000"/>
              </a:lnSpc>
              <a:buClr>
                <a:srgbClr val="000000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提出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首个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线性复杂度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多方隐私集合求并协议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最小通信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  <a:endParaRPr lang="zh-CN" altLang="en-US" sz="23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同侧圆角矩形 12">
            <a:extLst>
              <a:ext uri="{FF2B5EF4-FFF2-40B4-BE49-F238E27FC236}">
                <a16:creationId xmlns:a16="http://schemas.microsoft.com/office/drawing/2014/main" id="{AAE0A771-1809-2482-8B12-F35EB0FF94B7}"/>
              </a:ext>
            </a:extLst>
          </p:cNvPr>
          <p:cNvSpPr/>
          <p:nvPr/>
        </p:nvSpPr>
        <p:spPr>
          <a:xfrm rot="16200000">
            <a:off x="353805" y="5806098"/>
            <a:ext cx="911344" cy="858719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工作成果</a:t>
            </a:r>
          </a:p>
        </p:txBody>
      </p:sp>
      <p:sp>
        <p:nvSpPr>
          <p:cNvPr id="4" name="同侧圆角矩形 12">
            <a:extLst>
              <a:ext uri="{FF2B5EF4-FFF2-40B4-BE49-F238E27FC236}">
                <a16:creationId xmlns:a16="http://schemas.microsoft.com/office/drawing/2014/main" id="{6B6BC4FF-7DB1-D8CB-B6AB-06E77CB4D731}"/>
              </a:ext>
            </a:extLst>
          </p:cNvPr>
          <p:cNvSpPr/>
          <p:nvPr/>
        </p:nvSpPr>
        <p:spPr>
          <a:xfrm rot="16200000">
            <a:off x="10417116" y="5134096"/>
            <a:ext cx="911344" cy="219986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发表于</a:t>
            </a:r>
            <a:r>
              <a:rPr kumimoji="1"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USENIX Security 2025</a:t>
            </a:r>
            <a:endParaRPr kumimoji="1"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4AEF3E3-761D-65E9-FFB5-DDD25E963C65}"/>
              </a:ext>
            </a:extLst>
          </p:cNvPr>
          <p:cNvSpPr>
            <a:spLocks noChangeAspect="1"/>
          </p:cNvSpPr>
          <p:nvPr/>
        </p:nvSpPr>
        <p:spPr>
          <a:xfrm>
            <a:off x="2105644" y="1384303"/>
            <a:ext cx="1620000" cy="1620000"/>
          </a:xfrm>
          <a:prstGeom prst="ellipse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基于秘密分享的框架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4EBF1A-279B-DF57-FCA2-120EC1854486}"/>
              </a:ext>
            </a:extLst>
          </p:cNvPr>
          <p:cNvSpPr>
            <a:spLocks noChangeAspect="1"/>
          </p:cNvSpPr>
          <p:nvPr/>
        </p:nvSpPr>
        <p:spPr>
          <a:xfrm>
            <a:off x="9070920" y="1360077"/>
            <a:ext cx="1620000" cy="1620000"/>
          </a:xfrm>
          <a:prstGeom prst="ellipse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基于高级加密的框架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BBF1B283-1CB8-0AE6-808E-6DCEB4ADDC39}"/>
              </a:ext>
            </a:extLst>
          </p:cNvPr>
          <p:cNvSpPr txBox="1">
            <a:spLocks/>
          </p:cNvSpPr>
          <p:nvPr/>
        </p:nvSpPr>
        <p:spPr>
          <a:xfrm>
            <a:off x="11499121" y="6324600"/>
            <a:ext cx="685800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prstClr val="black">
                    <a:tint val="75000"/>
                  </a:prstClr>
                </a:solidFill>
                <a:latin typeface="微软雅黑 Light"/>
                <a:ea typeface="微软雅黑 Light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9pPr>
          </a:lstStyle>
          <a:p>
            <a:pPr algn="r"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4/11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1D7EE4C-79CD-CB4D-A218-FA7ADF303BA6}"/>
                  </a:ext>
                </a:extLst>
              </p:cNvPr>
              <p:cNvSpPr txBox="1"/>
              <p:nvPr/>
            </p:nvSpPr>
            <p:spPr>
              <a:xfrm>
                <a:off x="6036614" y="3132821"/>
                <a:ext cx="5091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1D7EE4C-79CD-CB4D-A218-FA7ADF303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614" y="3132821"/>
                <a:ext cx="50916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7867CDDE-AA64-0E44-D947-4E3E99B29D8F}"/>
              </a:ext>
            </a:extLst>
          </p:cNvPr>
          <p:cNvSpPr/>
          <p:nvPr/>
        </p:nvSpPr>
        <p:spPr>
          <a:xfrm>
            <a:off x="6514148" y="3106125"/>
            <a:ext cx="1679030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秘密分享的隐私等值测试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F38465-A203-0DC7-3DC9-AA730FB0BDDD}"/>
              </a:ext>
            </a:extLst>
          </p:cNvPr>
          <p:cNvSpPr/>
          <p:nvPr/>
        </p:nvSpPr>
        <p:spPr>
          <a:xfrm>
            <a:off x="5381358" y="1743535"/>
            <a:ext cx="1819674" cy="718490"/>
          </a:xfrm>
          <a:prstGeom prst="roundRect">
            <a:avLst/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批量秘密分享隐私成员测试协议</a:t>
            </a:r>
          </a:p>
        </p:txBody>
      </p:sp>
      <p:sp>
        <p:nvSpPr>
          <p:cNvPr id="11" name="箭头: 虚尾 10">
            <a:extLst>
              <a:ext uri="{FF2B5EF4-FFF2-40B4-BE49-F238E27FC236}">
                <a16:creationId xmlns:a16="http://schemas.microsoft.com/office/drawing/2014/main" id="{EAB31274-524E-4175-5C52-55376FB18A54}"/>
              </a:ext>
            </a:extLst>
          </p:cNvPr>
          <p:cNvSpPr/>
          <p:nvPr/>
        </p:nvSpPr>
        <p:spPr>
          <a:xfrm rot="16200000">
            <a:off x="6078084" y="2211122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5AFB6B-145A-A3E2-511D-773F97D50B21}"/>
              </a:ext>
            </a:extLst>
          </p:cNvPr>
          <p:cNvSpPr/>
          <p:nvPr/>
        </p:nvSpPr>
        <p:spPr>
          <a:xfrm>
            <a:off x="4421253" y="3106125"/>
            <a:ext cx="1686334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批量不经意可编程伪随机函数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0CEA79-4619-8909-F9F3-F46AE28CF777}"/>
              </a:ext>
            </a:extLst>
          </p:cNvPr>
          <p:cNvSpPr/>
          <p:nvPr/>
        </p:nvSpPr>
        <p:spPr>
          <a:xfrm>
            <a:off x="4268570" y="3019649"/>
            <a:ext cx="4124667" cy="766408"/>
          </a:xfrm>
          <a:prstGeom prst="roundRect">
            <a:avLst/>
          </a:prstGeom>
          <a:noFill/>
          <a:ln w="317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92F19A-F732-6780-1036-1C5AB3C9AAD0}"/>
              </a:ext>
            </a:extLst>
          </p:cNvPr>
          <p:cNvSpPr txBox="1"/>
          <p:nvPr/>
        </p:nvSpPr>
        <p:spPr>
          <a:xfrm>
            <a:off x="5788458" y="2692290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轻量级实例化</a:t>
            </a:r>
          </a:p>
        </p:txBody>
      </p:sp>
      <p:sp>
        <p:nvSpPr>
          <p:cNvPr id="15" name="箭头: 虚尾 14">
            <a:extLst>
              <a:ext uri="{FF2B5EF4-FFF2-40B4-BE49-F238E27FC236}">
                <a16:creationId xmlns:a16="http://schemas.microsoft.com/office/drawing/2014/main" id="{DF8FA3D6-AB06-C111-ED6C-7A4246949DC7}"/>
              </a:ext>
            </a:extLst>
          </p:cNvPr>
          <p:cNvSpPr/>
          <p:nvPr/>
        </p:nvSpPr>
        <p:spPr>
          <a:xfrm rot="10800000">
            <a:off x="3729989" y="1809060"/>
            <a:ext cx="1446525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虚尾 15">
            <a:extLst>
              <a:ext uri="{FF2B5EF4-FFF2-40B4-BE49-F238E27FC236}">
                <a16:creationId xmlns:a16="http://schemas.microsoft.com/office/drawing/2014/main" id="{C83F2128-D362-C557-CEB0-8754B3EAADAB}"/>
              </a:ext>
            </a:extLst>
          </p:cNvPr>
          <p:cNvSpPr/>
          <p:nvPr/>
        </p:nvSpPr>
        <p:spPr>
          <a:xfrm>
            <a:off x="7412135" y="1739933"/>
            <a:ext cx="1658785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48D59C1-2005-48E0-52A4-2D9106D95B0A}"/>
              </a:ext>
            </a:extLst>
          </p:cNvPr>
          <p:cNvSpPr txBox="1"/>
          <p:nvPr/>
        </p:nvSpPr>
        <p:spPr>
          <a:xfrm>
            <a:off x="3202252" y="1676081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性能提升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3260B9-9D65-5C1D-51E5-E15CA8D31062}"/>
              </a:ext>
            </a:extLst>
          </p:cNvPr>
          <p:cNvSpPr txBox="1"/>
          <p:nvPr/>
        </p:nvSpPr>
        <p:spPr>
          <a:xfrm>
            <a:off x="6463408" y="1670560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C752A0-A6A6-8783-1771-4621B15C17AC}"/>
              </a:ext>
            </a:extLst>
          </p:cNvPr>
          <p:cNvSpPr/>
          <p:nvPr/>
        </p:nvSpPr>
        <p:spPr>
          <a:xfrm>
            <a:off x="1884929" y="3847998"/>
            <a:ext cx="2061429" cy="718490"/>
          </a:xfrm>
          <a:prstGeom prst="roundRect">
            <a:avLst/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多方秘密分享的随机不经意传输协议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F48E38B-39AB-F1A4-FDDB-385405163DC1}"/>
              </a:ext>
            </a:extLst>
          </p:cNvPr>
          <p:cNvSpPr/>
          <p:nvPr/>
        </p:nvSpPr>
        <p:spPr>
          <a:xfrm>
            <a:off x="8905141" y="3847998"/>
            <a:ext cx="1951558" cy="71849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多密钥可重随机化的公钥加密方案</a:t>
            </a:r>
          </a:p>
        </p:txBody>
      </p:sp>
      <p:sp>
        <p:nvSpPr>
          <p:cNvPr id="23" name="箭头: 虚尾 22">
            <a:extLst>
              <a:ext uri="{FF2B5EF4-FFF2-40B4-BE49-F238E27FC236}">
                <a16:creationId xmlns:a16="http://schemas.microsoft.com/office/drawing/2014/main" id="{F5C4ABF6-3D59-CDBA-7B98-CF086772EC95}"/>
              </a:ext>
            </a:extLst>
          </p:cNvPr>
          <p:cNvSpPr/>
          <p:nvPr/>
        </p:nvSpPr>
        <p:spPr>
          <a:xfrm rot="16200000">
            <a:off x="2529661" y="2944407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虚尾 23">
            <a:extLst>
              <a:ext uri="{FF2B5EF4-FFF2-40B4-BE49-F238E27FC236}">
                <a16:creationId xmlns:a16="http://schemas.microsoft.com/office/drawing/2014/main" id="{1E42B4B1-AD84-5674-FE65-C0CC78146903}"/>
              </a:ext>
            </a:extLst>
          </p:cNvPr>
          <p:cNvSpPr/>
          <p:nvPr/>
        </p:nvSpPr>
        <p:spPr>
          <a:xfrm rot="16200000">
            <a:off x="9499018" y="2928881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7BCF8EA-FFEC-FF80-D277-74B903D829BF}"/>
              </a:ext>
            </a:extLst>
          </p:cNvPr>
          <p:cNvSpPr txBox="1"/>
          <p:nvPr/>
        </p:nvSpPr>
        <p:spPr>
          <a:xfrm>
            <a:off x="-1421512" y="3124742"/>
            <a:ext cx="6111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消除非共谋假设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安全性提升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106901A-EEFD-B80F-3817-173EBE1CB964}"/>
              </a:ext>
            </a:extLst>
          </p:cNvPr>
          <p:cNvSpPr txBox="1"/>
          <p:nvPr/>
        </p:nvSpPr>
        <p:spPr>
          <a:xfrm>
            <a:off x="551358" y="841743"/>
            <a:ext cx="6726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方案一：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和对称密钥操作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041C8F8-AEF7-9C45-D8F0-0CF7672F764C}"/>
              </a:ext>
            </a:extLst>
          </p:cNvPr>
          <p:cNvSpPr txBox="1"/>
          <p:nvPr/>
        </p:nvSpPr>
        <p:spPr>
          <a:xfrm>
            <a:off x="7306762" y="830949"/>
            <a:ext cx="346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方案二：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基于公钥操作</a:t>
            </a:r>
            <a:endParaRPr lang="zh-CN" altLang="en-US" sz="2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326911-D918-236E-946A-4A4298A17D78}"/>
              </a:ext>
            </a:extLst>
          </p:cNvPr>
          <p:cNvSpPr txBox="1"/>
          <p:nvPr/>
        </p:nvSpPr>
        <p:spPr>
          <a:xfrm>
            <a:off x="9379443" y="3436453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6610CE0-B003-745F-450B-3B1899A58378}"/>
                  </a:ext>
                </a:extLst>
              </p:cNvPr>
              <p:cNvSpPr txBox="1"/>
              <p:nvPr/>
            </p:nvSpPr>
            <p:spPr>
              <a:xfrm>
                <a:off x="-1660324" y="4720133"/>
                <a:ext cx="6924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在线性能：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6610CE0-B003-745F-450B-3B1899A58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60324" y="4720133"/>
                <a:ext cx="6924744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D028662-5653-3A62-F0B2-FCBE43015C9C}"/>
                  </a:ext>
                </a:extLst>
              </p:cNvPr>
              <p:cNvSpPr txBox="1"/>
              <p:nvPr/>
            </p:nvSpPr>
            <p:spPr>
              <a:xfrm>
                <a:off x="6418548" y="4723176"/>
                <a:ext cx="6924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整体通信：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D028662-5653-3A62-F0B2-FCBE43015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548" y="4723176"/>
                <a:ext cx="6924744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94B148-AF08-CAFA-FD86-421226CA4C9F}"/>
                  </a:ext>
                </a:extLst>
              </p:cNvPr>
              <p:cNvSpPr txBox="1"/>
              <p:nvPr/>
            </p:nvSpPr>
            <p:spPr>
              <a:xfrm>
                <a:off x="891153" y="4708563"/>
                <a:ext cx="75020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整体性能：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94B148-AF08-CAFA-FD86-421226CA4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53" y="4708563"/>
                <a:ext cx="7502084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图片 42">
            <a:extLst>
              <a:ext uri="{FF2B5EF4-FFF2-40B4-BE49-F238E27FC236}">
                <a16:creationId xmlns:a16="http://schemas.microsoft.com/office/drawing/2014/main" id="{A2DEA8D7-011D-66E9-2F83-660BBF345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684" y="4627982"/>
            <a:ext cx="477506" cy="477506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C3856304-33BF-062A-C179-1C3B1844A1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5454" y="4627982"/>
            <a:ext cx="477506" cy="477506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43844646-3924-4EA5-5E05-55F48702F2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1202" y="4726116"/>
            <a:ext cx="407919" cy="40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53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47142890-25ED-9ED8-09AA-8D6DC23CDF21}"/>
              </a:ext>
            </a:extLst>
          </p:cNvPr>
          <p:cNvSpPr/>
          <p:nvPr/>
        </p:nvSpPr>
        <p:spPr>
          <a:xfrm>
            <a:off x="8127468" y="1693885"/>
            <a:ext cx="2128811" cy="726899"/>
          </a:xfrm>
          <a:prstGeom prst="roundRect">
            <a:avLst>
              <a:gd name="adj" fmla="val 0"/>
            </a:avLst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对集合非成员谓词的松弛成员零分享</a:t>
            </a:r>
          </a:p>
        </p:txBody>
      </p:sp>
      <p:sp>
        <p:nvSpPr>
          <p:cNvPr id="18" name="标题 4">
            <a:extLst>
              <a:ext uri="{FF2B5EF4-FFF2-40B4-BE49-F238E27FC236}">
                <a16:creationId xmlns:a16="http://schemas.microsoft.com/office/drawing/2014/main" id="{B0F51C32-D9C6-8A6C-43CE-0B6C7A31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5345"/>
            <a:ext cx="11639693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研究成果二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高效的通用多方隐私集合运算框架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B123CD-94E3-B64E-45E5-23554066A72E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69C3CABF-F401-BA38-ADCC-18FC91ED541C}"/>
              </a:ext>
            </a:extLst>
          </p:cNvPr>
          <p:cNvSpPr>
            <a:spLocks noChangeAspect="1"/>
          </p:cNvSpPr>
          <p:nvPr/>
        </p:nvSpPr>
        <p:spPr>
          <a:xfrm>
            <a:off x="5147400" y="3841205"/>
            <a:ext cx="1620000" cy="1620000"/>
          </a:xfrm>
          <a:prstGeom prst="ellipse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统一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构造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4737440-7400-3A92-DA69-9FD4D4484D44}"/>
              </a:ext>
            </a:extLst>
          </p:cNvPr>
          <p:cNvSpPr/>
          <p:nvPr/>
        </p:nvSpPr>
        <p:spPr>
          <a:xfrm>
            <a:off x="7680898" y="3069370"/>
            <a:ext cx="4090461" cy="2510228"/>
          </a:xfrm>
          <a:prstGeom prst="roundRect">
            <a:avLst>
              <a:gd name="adj" fmla="val 6219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215">
            <a:extLst>
              <a:ext uri="{FF2B5EF4-FFF2-40B4-BE49-F238E27FC236}">
                <a16:creationId xmlns:a16="http://schemas.microsoft.com/office/drawing/2014/main" id="{F4FA23A4-FDA8-A79A-46ED-2061ABCA8808}"/>
              </a:ext>
            </a:extLst>
          </p:cNvPr>
          <p:cNvSpPr txBox="1"/>
          <p:nvPr/>
        </p:nvSpPr>
        <p:spPr>
          <a:xfrm>
            <a:off x="7743936" y="4998292"/>
            <a:ext cx="396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均实现理论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</a:t>
            </a: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</a:t>
            </a:r>
          </a:p>
        </p:txBody>
      </p:sp>
      <p:graphicFrame>
        <p:nvGraphicFramePr>
          <p:cNvPr id="45" name="表格 182">
            <a:extLst>
              <a:ext uri="{FF2B5EF4-FFF2-40B4-BE49-F238E27FC236}">
                <a16:creationId xmlns:a16="http://schemas.microsoft.com/office/drawing/2014/main" id="{13F912B1-EE31-1382-86F7-AB6E1FED1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80534"/>
              </p:ext>
            </p:extLst>
          </p:nvPr>
        </p:nvGraphicFramePr>
        <p:xfrm>
          <a:off x="7875049" y="3276926"/>
          <a:ext cx="3688443" cy="1584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10016">
                  <a:extLst>
                    <a:ext uri="{9D8B030D-6E8A-4147-A177-3AD203B41FA5}">
                      <a16:colId xmlns:a16="http://schemas.microsoft.com/office/drawing/2014/main" val="3406485372"/>
                    </a:ext>
                  </a:extLst>
                </a:gridCol>
                <a:gridCol w="1327144">
                  <a:extLst>
                    <a:ext uri="{9D8B030D-6E8A-4147-A177-3AD203B41FA5}">
                      <a16:colId xmlns:a16="http://schemas.microsoft.com/office/drawing/2014/main" val="2968446172"/>
                    </a:ext>
                  </a:extLst>
                </a:gridCol>
                <a:gridCol w="1251283">
                  <a:extLst>
                    <a:ext uri="{9D8B030D-6E8A-4147-A177-3AD203B41FA5}">
                      <a16:colId xmlns:a16="http://schemas.microsoft.com/office/drawing/2014/main" val="689020683"/>
                    </a:ext>
                  </a:extLst>
                </a:gridCol>
              </a:tblGrid>
              <a:tr h="2993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0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理论最优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0F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实际可用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0F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26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/>
                          <a:ea typeface="微软雅黑" panose="020B0503020204020204" pitchFamily="34" charset="-122"/>
                          <a:cs typeface="Times New Roman"/>
                        </a:rPr>
                        <a:t>MPSI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498283"/>
                  </a:ext>
                </a:extLst>
              </a:tr>
              <a:tr h="299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/>
                          <a:ea typeface="微软雅黑" panose="020B0503020204020204" pitchFamily="34" charset="-122"/>
                          <a:cs typeface="Times New Roman"/>
                        </a:rPr>
                        <a:t>MPCSI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720779"/>
                  </a:ext>
                </a:extLst>
              </a:tr>
              <a:tr h="299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/>
                          <a:ea typeface="微软雅黑" panose="020B0503020204020204" pitchFamily="34" charset="-122"/>
                          <a:cs typeface="Times New Roman"/>
                        </a:rPr>
                        <a:t>MPSU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/>
                        <a:ea typeface="微软雅黑" panose="020B0503020204020204" pitchFamily="34" charset="-122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altLang="zh-CN" sz="2000" b="1" kern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953349"/>
                  </a:ext>
                </a:extLst>
              </a:tr>
            </a:tbl>
          </a:graphicData>
        </a:graphic>
      </p:graphicFrame>
      <p:sp>
        <p:nvSpPr>
          <p:cNvPr id="69" name="文本框 68">
            <a:extLst>
              <a:ext uri="{FF2B5EF4-FFF2-40B4-BE49-F238E27FC236}">
                <a16:creationId xmlns:a16="http://schemas.microsoft.com/office/drawing/2014/main" id="{05E69502-F39C-305E-0A7A-843F755D1EDE}"/>
              </a:ext>
            </a:extLst>
          </p:cNvPr>
          <p:cNvSpPr txBox="1"/>
          <p:nvPr/>
        </p:nvSpPr>
        <p:spPr>
          <a:xfrm>
            <a:off x="6500196" y="5237080"/>
            <a:ext cx="1133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统筹兼顾</a:t>
            </a:r>
          </a:p>
        </p:txBody>
      </p:sp>
      <p:sp>
        <p:nvSpPr>
          <p:cNvPr id="70" name="矩形: 圆角 68">
            <a:extLst>
              <a:ext uri="{FF2B5EF4-FFF2-40B4-BE49-F238E27FC236}">
                <a16:creationId xmlns:a16="http://schemas.microsoft.com/office/drawing/2014/main" id="{8F97E45F-E8DD-9A98-841B-C14945143614}"/>
              </a:ext>
            </a:extLst>
          </p:cNvPr>
          <p:cNvSpPr/>
          <p:nvPr/>
        </p:nvSpPr>
        <p:spPr>
          <a:xfrm>
            <a:off x="4146808" y="5210983"/>
            <a:ext cx="1267185" cy="412814"/>
          </a:xfrm>
          <a:prstGeom prst="roundRect">
            <a:avLst>
              <a:gd name="adj" fmla="val 599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通用功能</a:t>
            </a:r>
          </a:p>
        </p:txBody>
      </p:sp>
      <p:sp>
        <p:nvSpPr>
          <p:cNvPr id="71" name="箭头: 虚尾 70">
            <a:extLst>
              <a:ext uri="{FF2B5EF4-FFF2-40B4-BE49-F238E27FC236}">
                <a16:creationId xmlns:a16="http://schemas.microsoft.com/office/drawing/2014/main" id="{3B515050-C96B-E8CD-03D8-26E1FCADF42A}"/>
              </a:ext>
            </a:extLst>
          </p:cNvPr>
          <p:cNvSpPr/>
          <p:nvPr/>
        </p:nvSpPr>
        <p:spPr>
          <a:xfrm>
            <a:off x="6857541" y="4133520"/>
            <a:ext cx="684824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68">
            <a:extLst>
              <a:ext uri="{FF2B5EF4-FFF2-40B4-BE49-F238E27FC236}">
                <a16:creationId xmlns:a16="http://schemas.microsoft.com/office/drawing/2014/main" id="{8AA29741-9D91-BF79-494F-15CC01ACE4E2}"/>
              </a:ext>
            </a:extLst>
          </p:cNvPr>
          <p:cNvSpPr/>
          <p:nvPr/>
        </p:nvSpPr>
        <p:spPr>
          <a:xfrm>
            <a:off x="6197468" y="3287239"/>
            <a:ext cx="1612453" cy="263609"/>
          </a:xfrm>
          <a:prstGeom prst="roundRect">
            <a:avLst>
              <a:gd name="adj" fmla="val 599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凝练核心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底层组件</a:t>
            </a:r>
          </a:p>
        </p:txBody>
      </p:sp>
      <p:sp>
        <p:nvSpPr>
          <p:cNvPr id="73" name="箭头: 虚尾 72">
            <a:extLst>
              <a:ext uri="{FF2B5EF4-FFF2-40B4-BE49-F238E27FC236}">
                <a16:creationId xmlns:a16="http://schemas.microsoft.com/office/drawing/2014/main" id="{2810B6F2-259C-A563-27B7-8FE87A8A51CB}"/>
              </a:ext>
            </a:extLst>
          </p:cNvPr>
          <p:cNvSpPr/>
          <p:nvPr/>
        </p:nvSpPr>
        <p:spPr>
          <a:xfrm rot="10800000">
            <a:off x="4315716" y="4128109"/>
            <a:ext cx="677728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箭头: 虚尾 73">
            <a:extLst>
              <a:ext uri="{FF2B5EF4-FFF2-40B4-BE49-F238E27FC236}">
                <a16:creationId xmlns:a16="http://schemas.microsoft.com/office/drawing/2014/main" id="{75B01BA7-7C99-F0D2-4E61-096BCF2E1271}"/>
              </a:ext>
            </a:extLst>
          </p:cNvPr>
          <p:cNvSpPr/>
          <p:nvPr/>
        </p:nvSpPr>
        <p:spPr>
          <a:xfrm rot="5400000">
            <a:off x="5669533" y="2885867"/>
            <a:ext cx="575734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4">
            <a:extLst>
              <a:ext uri="{FF2B5EF4-FFF2-40B4-BE49-F238E27FC236}">
                <a16:creationId xmlns:a16="http://schemas.microsoft.com/office/drawing/2014/main" id="{3B644EDB-1854-C4EC-433D-805E068914F2}"/>
              </a:ext>
            </a:extLst>
          </p:cNvPr>
          <p:cNvSpPr txBox="1"/>
          <p:nvPr/>
        </p:nvSpPr>
        <p:spPr>
          <a:xfrm>
            <a:off x="1259668" y="5757112"/>
            <a:ext cx="10633456" cy="967573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0000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凝练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核心组件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成员零分享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设计出实现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通用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MPSO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功能的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统一框架</a:t>
            </a:r>
            <a:endParaRPr lang="en-US" altLang="zh-CN" sz="23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Clr>
                <a:srgbClr val="000000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实例化出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理论最优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3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实际高效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的具体协议</a:t>
            </a:r>
            <a:r>
              <a:rPr lang="en-US" altLang="zh-CN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3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解决一系列开放性问题</a:t>
            </a:r>
          </a:p>
        </p:txBody>
      </p:sp>
      <p:sp>
        <p:nvSpPr>
          <p:cNvPr id="122" name="同侧圆角矩形 12">
            <a:extLst>
              <a:ext uri="{FF2B5EF4-FFF2-40B4-BE49-F238E27FC236}">
                <a16:creationId xmlns:a16="http://schemas.microsoft.com/office/drawing/2014/main" id="{6478ACB1-E8F7-9BB9-2131-6045B9F4566A}"/>
              </a:ext>
            </a:extLst>
          </p:cNvPr>
          <p:cNvSpPr/>
          <p:nvPr/>
        </p:nvSpPr>
        <p:spPr>
          <a:xfrm rot="16200000">
            <a:off x="353805" y="5806098"/>
            <a:ext cx="911344" cy="858719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工作成果</a:t>
            </a:r>
          </a:p>
        </p:txBody>
      </p:sp>
      <p:sp>
        <p:nvSpPr>
          <p:cNvPr id="126" name="同侧圆角矩形 12">
            <a:extLst>
              <a:ext uri="{FF2B5EF4-FFF2-40B4-BE49-F238E27FC236}">
                <a16:creationId xmlns:a16="http://schemas.microsoft.com/office/drawing/2014/main" id="{041ECD82-F03B-AD6E-3645-2ABA7CFF0D81}"/>
              </a:ext>
            </a:extLst>
          </p:cNvPr>
          <p:cNvSpPr/>
          <p:nvPr/>
        </p:nvSpPr>
        <p:spPr>
          <a:xfrm rot="16200000">
            <a:off x="10551314" y="5368971"/>
            <a:ext cx="911344" cy="177227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发表于</a:t>
            </a:r>
            <a:r>
              <a:rPr kumimoji="1" lang="en-US" altLang="zh-CN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 CCS 2025</a:t>
            </a:r>
            <a:endParaRPr kumimoji="1"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05840B0-7FC3-CF5C-1C0D-1C1C6251064B}"/>
              </a:ext>
            </a:extLst>
          </p:cNvPr>
          <p:cNvSpPr txBox="1"/>
          <p:nvPr/>
        </p:nvSpPr>
        <p:spPr>
          <a:xfrm>
            <a:off x="6710757" y="3797258"/>
            <a:ext cx="1224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976C4972-2B7A-2AF4-2383-A3ACB564CC1C}"/>
              </a:ext>
            </a:extLst>
          </p:cNvPr>
          <p:cNvGrpSpPr/>
          <p:nvPr/>
        </p:nvGrpSpPr>
        <p:grpSpPr>
          <a:xfrm>
            <a:off x="268241" y="3083949"/>
            <a:ext cx="5192298" cy="2515351"/>
            <a:chOff x="114751" y="1773310"/>
            <a:chExt cx="5192298" cy="2515351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9942154-AE21-4F26-22DB-93534E608FEB}"/>
                </a:ext>
              </a:extLst>
            </p:cNvPr>
            <p:cNvSpPr txBox="1"/>
            <p:nvPr/>
          </p:nvSpPr>
          <p:spPr>
            <a:xfrm>
              <a:off x="4055547" y="2469310"/>
              <a:ext cx="12515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全功能</a:t>
              </a: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462CDC3C-E0CA-858D-BE6E-D52B51ED15C2}"/>
                </a:ext>
              </a:extLst>
            </p:cNvPr>
            <p:cNvSpPr/>
            <p:nvPr/>
          </p:nvSpPr>
          <p:spPr>
            <a:xfrm>
              <a:off x="114751" y="1773310"/>
              <a:ext cx="3926394" cy="2515351"/>
            </a:xfrm>
            <a:prstGeom prst="roundRect">
              <a:avLst>
                <a:gd name="adj" fmla="val 5832"/>
              </a:avLst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zh-CN" altLang="en-US" sz="24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0" name="图片 49" descr="图示, 维恩图&#10;&#10;描述已自动生成">
              <a:extLst>
                <a:ext uri="{FF2B5EF4-FFF2-40B4-BE49-F238E27FC236}">
                  <a16:creationId xmlns:a16="http://schemas.microsoft.com/office/drawing/2014/main" id="{9CEFE637-781C-88D1-20A7-B3192BE97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102" y="2831810"/>
              <a:ext cx="865806" cy="777600"/>
            </a:xfrm>
            <a:prstGeom prst="rect">
              <a:avLst/>
            </a:prstGeom>
          </p:spPr>
        </p:pic>
        <p:pic>
          <p:nvPicPr>
            <p:cNvPr id="51" name="图片 50" descr="图示&#10;&#10;中度可信度描述已自动生成">
              <a:extLst>
                <a:ext uri="{FF2B5EF4-FFF2-40B4-BE49-F238E27FC236}">
                  <a16:creationId xmlns:a16="http://schemas.microsoft.com/office/drawing/2014/main" id="{85CA3024-2BA0-4929-2736-DD420F76A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0126" y="2827555"/>
              <a:ext cx="845523" cy="777600"/>
            </a:xfrm>
            <a:prstGeom prst="rect">
              <a:avLst/>
            </a:prstGeom>
          </p:spPr>
        </p:pic>
        <p:pic>
          <p:nvPicPr>
            <p:cNvPr id="52" name="图片 51" descr="图示&#10;&#10;描述已自动生成">
              <a:extLst>
                <a:ext uri="{FF2B5EF4-FFF2-40B4-BE49-F238E27FC236}">
                  <a16:creationId xmlns:a16="http://schemas.microsoft.com/office/drawing/2014/main" id="{5CD72F35-B8D6-1525-B7C5-5C0880A2B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73385" y="2813120"/>
              <a:ext cx="837772" cy="777600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8B8B47F-B925-BFE4-99EF-E20EBB9C78A8}"/>
                </a:ext>
              </a:extLst>
            </p:cNvPr>
            <p:cNvSpPr txBox="1"/>
            <p:nvPr/>
          </p:nvSpPr>
          <p:spPr>
            <a:xfrm>
              <a:off x="604586" y="3858287"/>
              <a:ext cx="3238407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  <a:buClr>
                  <a:schemeClr val="tx1"/>
                </a:buClr>
                <a:buSzPct val="80000"/>
                <a:defRPr/>
              </a:pPr>
              <a:r>
                <a:rPr lang="zh-CN" altLang="en-US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支持计算</a:t>
              </a:r>
              <a:r>
                <a:rPr lang="zh-CN" altLang="en-US" sz="2000" b="1" kern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任意</a:t>
              </a:r>
              <a:r>
                <a:rPr lang="zh-CN" altLang="en-US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集合公式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154A258-FA7E-1631-11AB-FC0BC1923304}"/>
                </a:ext>
              </a:extLst>
            </p:cNvPr>
            <p:cNvSpPr txBox="1"/>
            <p:nvPr/>
          </p:nvSpPr>
          <p:spPr>
            <a:xfrm>
              <a:off x="1734267" y="3498814"/>
              <a:ext cx="9371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……</a:t>
              </a:r>
              <a:endParaRPr lang="zh-CN" altLang="en-US" sz="2000" dirty="0"/>
            </a:p>
          </p:txBody>
        </p:sp>
        <p:pic>
          <p:nvPicPr>
            <p:cNvPr id="66" name="图片 65" descr="图片包含 图示&#10;&#10;描述已自动生成">
              <a:extLst>
                <a:ext uri="{FF2B5EF4-FFF2-40B4-BE49-F238E27FC236}">
                  <a16:creationId xmlns:a16="http://schemas.microsoft.com/office/drawing/2014/main" id="{2924F8D5-ABD5-AD2E-6641-5A912C2FF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38901" y="1914284"/>
              <a:ext cx="875002" cy="785859"/>
            </a:xfrm>
            <a:prstGeom prst="rect">
              <a:avLst/>
            </a:prstGeom>
          </p:spPr>
        </p:pic>
        <p:pic>
          <p:nvPicPr>
            <p:cNvPr id="67" name="图片 66" descr="图示&#10;&#10;描述已自动生成">
              <a:extLst>
                <a:ext uri="{FF2B5EF4-FFF2-40B4-BE49-F238E27FC236}">
                  <a16:creationId xmlns:a16="http://schemas.microsoft.com/office/drawing/2014/main" id="{ECDCFB99-180B-E5FB-461A-3A6EFAF0B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92930" y="1926564"/>
              <a:ext cx="909820" cy="785860"/>
            </a:xfrm>
            <a:prstGeom prst="rect">
              <a:avLst/>
            </a:prstGeom>
          </p:spPr>
        </p:pic>
        <p:pic>
          <p:nvPicPr>
            <p:cNvPr id="68" name="图片 67" descr="图示&#10;&#10;中度可信度描述已自动生成">
              <a:extLst>
                <a:ext uri="{FF2B5EF4-FFF2-40B4-BE49-F238E27FC236}">
                  <a16:creationId xmlns:a16="http://schemas.microsoft.com/office/drawing/2014/main" id="{7EBE431C-DD06-6034-DDE2-28D6D8727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8818" y="1926564"/>
              <a:ext cx="859663" cy="776546"/>
            </a:xfrm>
            <a:prstGeom prst="rect">
              <a:avLst/>
            </a:prstGeom>
          </p:spPr>
        </p:pic>
      </p:grpSp>
      <p:sp>
        <p:nvSpPr>
          <p:cNvPr id="1048620" name="矩形: 圆角 28"/>
          <p:cNvSpPr/>
          <p:nvPr/>
        </p:nvSpPr>
        <p:spPr>
          <a:xfrm>
            <a:off x="4819657" y="1260863"/>
            <a:ext cx="2570924" cy="751262"/>
          </a:xfrm>
          <a:prstGeom prst="roundRect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" name="矩形: 圆角 28">
            <a:extLst>
              <a:ext uri="{FF2B5EF4-FFF2-40B4-BE49-F238E27FC236}">
                <a16:creationId xmlns:a16="http://schemas.microsoft.com/office/drawing/2014/main" id="{D9AAD52F-6C89-90DE-C10C-60B67EBF73CB}"/>
              </a:ext>
            </a:extLst>
          </p:cNvPr>
          <p:cNvSpPr/>
          <p:nvPr/>
        </p:nvSpPr>
        <p:spPr>
          <a:xfrm>
            <a:off x="5261489" y="2391484"/>
            <a:ext cx="1694852" cy="639896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成员零分享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8EA9C1-A126-223F-A387-F606B2F52C6F}"/>
              </a:ext>
            </a:extLst>
          </p:cNvPr>
          <p:cNvSpPr txBox="1"/>
          <p:nvPr/>
        </p:nvSpPr>
        <p:spPr>
          <a:xfrm>
            <a:off x="3035953" y="1388114"/>
            <a:ext cx="6138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谓词零分享</a:t>
            </a:r>
          </a:p>
        </p:txBody>
      </p:sp>
      <p:sp>
        <p:nvSpPr>
          <p:cNvPr id="54" name="灯片编号占位符 3">
            <a:extLst>
              <a:ext uri="{FF2B5EF4-FFF2-40B4-BE49-F238E27FC236}">
                <a16:creationId xmlns:a16="http://schemas.microsoft.com/office/drawing/2014/main" id="{4448AF24-DC32-4CE2-8E23-68C3433AEE8E}"/>
              </a:ext>
            </a:extLst>
          </p:cNvPr>
          <p:cNvSpPr txBox="1">
            <a:spLocks/>
          </p:cNvSpPr>
          <p:nvPr/>
        </p:nvSpPr>
        <p:spPr>
          <a:xfrm>
            <a:off x="11499121" y="6324600"/>
            <a:ext cx="685800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prstClr val="black">
                    <a:tint val="75000"/>
                  </a:prstClr>
                </a:solidFill>
                <a:latin typeface="微软雅黑 Light"/>
                <a:ea typeface="微软雅黑 Light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9pPr>
          </a:lstStyle>
          <a:p>
            <a:pPr algn="r"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5/11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DA12C25-CD94-2021-2BA5-B83FFC01B855}"/>
              </a:ext>
            </a:extLst>
          </p:cNvPr>
          <p:cNvSpPr/>
          <p:nvPr/>
        </p:nvSpPr>
        <p:spPr>
          <a:xfrm>
            <a:off x="2656240" y="1068446"/>
            <a:ext cx="1346200" cy="380651"/>
          </a:xfrm>
          <a:prstGeom prst="roundRect">
            <a:avLst>
              <a:gd name="adj" fmla="val 20477"/>
            </a:avLst>
          </a:prstGeom>
          <a:noFill/>
          <a:ln w="38100">
            <a:solidFill>
              <a:srgbClr val="54823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4823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OPPRF</a:t>
            </a:r>
            <a:endParaRPr lang="zh-CN" altLang="en-US" b="1" dirty="0">
              <a:solidFill>
                <a:srgbClr val="54823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C94A44E1-3183-0BDF-4D26-26DF3849F05F}"/>
              </a:ext>
            </a:extLst>
          </p:cNvPr>
          <p:cNvSpPr/>
          <p:nvPr/>
        </p:nvSpPr>
        <p:spPr>
          <a:xfrm>
            <a:off x="7634148" y="1074486"/>
            <a:ext cx="1557726" cy="374611"/>
          </a:xfrm>
          <a:prstGeom prst="roundRect">
            <a:avLst>
              <a:gd name="adj" fmla="val 20477"/>
            </a:avLst>
          </a:prstGeom>
          <a:noFill/>
          <a:ln w="38100">
            <a:solidFill>
              <a:srgbClr val="1535A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535A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batch </a:t>
            </a:r>
            <a:r>
              <a:rPr lang="en-US" altLang="zh-CN" b="1" dirty="0" err="1">
                <a:solidFill>
                  <a:srgbClr val="1535A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ssPMT</a:t>
            </a:r>
            <a:endParaRPr lang="zh-CN" altLang="en-US" b="1" dirty="0">
              <a:solidFill>
                <a:srgbClr val="1535A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6FE6CA63-FB82-3A4A-8902-63258EF9B42D}"/>
              </a:ext>
            </a:extLst>
          </p:cNvPr>
          <p:cNvSpPr/>
          <p:nvPr/>
        </p:nvSpPr>
        <p:spPr>
          <a:xfrm>
            <a:off x="9687748" y="1079999"/>
            <a:ext cx="1083919" cy="353597"/>
          </a:xfrm>
          <a:prstGeom prst="roundRect">
            <a:avLst>
              <a:gd name="adj" fmla="val 20477"/>
            </a:avLst>
          </a:prstGeom>
          <a:noFill/>
          <a:ln w="38100">
            <a:solidFill>
              <a:srgbClr val="1535A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535A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ROT</a:t>
            </a:r>
            <a:endParaRPr lang="zh-CN" altLang="en-US" b="1" dirty="0">
              <a:solidFill>
                <a:srgbClr val="1535A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3" name="连接符: 曲线 9">
            <a:extLst>
              <a:ext uri="{FF2B5EF4-FFF2-40B4-BE49-F238E27FC236}">
                <a16:creationId xmlns:a16="http://schemas.microsoft.com/office/drawing/2014/main" id="{8F081134-8E04-0BC4-693D-283307783082}"/>
              </a:ext>
            </a:extLst>
          </p:cNvPr>
          <p:cNvCxnSpPr>
            <a:cxnSpLocks/>
            <a:stCxn id="4" idx="1"/>
            <a:endCxn id="114" idx="2"/>
          </p:cNvCxnSpPr>
          <p:nvPr/>
        </p:nvCxnSpPr>
        <p:spPr>
          <a:xfrm rot="10800000">
            <a:off x="3326407" y="2440084"/>
            <a:ext cx="1935082" cy="271349"/>
          </a:xfrm>
          <a:prstGeom prst="curvedConnector2">
            <a:avLst/>
          </a:prstGeom>
          <a:noFill/>
          <a:ln w="57150">
            <a:solidFill>
              <a:srgbClr val="54823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9F28D7C4-F355-5CED-7579-8E353FB96AB4}"/>
              </a:ext>
            </a:extLst>
          </p:cNvPr>
          <p:cNvSpPr/>
          <p:nvPr/>
        </p:nvSpPr>
        <p:spPr>
          <a:xfrm>
            <a:off x="2311918" y="1717833"/>
            <a:ext cx="2028977" cy="722250"/>
          </a:xfrm>
          <a:prstGeom prst="roundRect">
            <a:avLst>
              <a:gd name="adj" fmla="val 0"/>
            </a:avLst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对集合成员谓词的松弛成员零分享</a:t>
            </a:r>
          </a:p>
        </p:txBody>
      </p:sp>
      <p:cxnSp>
        <p:nvCxnSpPr>
          <p:cNvPr id="115" name="连接符: 曲线 10">
            <a:extLst>
              <a:ext uri="{FF2B5EF4-FFF2-40B4-BE49-F238E27FC236}">
                <a16:creationId xmlns:a16="http://schemas.microsoft.com/office/drawing/2014/main" id="{CFDF1F38-289E-2E8D-8508-F48CB6099BC9}"/>
              </a:ext>
            </a:extLst>
          </p:cNvPr>
          <p:cNvCxnSpPr>
            <a:cxnSpLocks/>
            <a:stCxn id="4" idx="3"/>
            <a:endCxn id="116" idx="2"/>
          </p:cNvCxnSpPr>
          <p:nvPr/>
        </p:nvCxnSpPr>
        <p:spPr>
          <a:xfrm flipV="1">
            <a:off x="6956341" y="2420784"/>
            <a:ext cx="2235533" cy="290648"/>
          </a:xfrm>
          <a:prstGeom prst="curvedConnector2">
            <a:avLst/>
          </a:prstGeom>
          <a:noFill/>
          <a:ln w="57150">
            <a:solidFill>
              <a:srgbClr val="1535A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曲线 10">
            <a:extLst>
              <a:ext uri="{FF2B5EF4-FFF2-40B4-BE49-F238E27FC236}">
                <a16:creationId xmlns:a16="http://schemas.microsoft.com/office/drawing/2014/main" id="{58B44E85-1507-0A95-8866-5AE9931F3717}"/>
              </a:ext>
            </a:extLst>
          </p:cNvPr>
          <p:cNvCxnSpPr>
            <a:cxnSpLocks/>
            <a:endCxn id="110" idx="2"/>
          </p:cNvCxnSpPr>
          <p:nvPr/>
        </p:nvCxnSpPr>
        <p:spPr>
          <a:xfrm flipV="1">
            <a:off x="9271817" y="1433596"/>
            <a:ext cx="957891" cy="204124"/>
          </a:xfrm>
          <a:prstGeom prst="curvedConnector2">
            <a:avLst/>
          </a:prstGeom>
          <a:noFill/>
          <a:ln w="57150">
            <a:solidFill>
              <a:srgbClr val="1535A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连接符: 曲线 9">
            <a:extLst>
              <a:ext uri="{FF2B5EF4-FFF2-40B4-BE49-F238E27FC236}">
                <a16:creationId xmlns:a16="http://schemas.microsoft.com/office/drawing/2014/main" id="{6722E981-95F9-B026-0185-940AE8ACB3B8}"/>
              </a:ext>
            </a:extLst>
          </p:cNvPr>
          <p:cNvCxnSpPr>
            <a:cxnSpLocks/>
            <a:endCxn id="109" idx="2"/>
          </p:cNvCxnSpPr>
          <p:nvPr/>
        </p:nvCxnSpPr>
        <p:spPr>
          <a:xfrm rot="10800000">
            <a:off x="8413011" y="1449097"/>
            <a:ext cx="630188" cy="177514"/>
          </a:xfrm>
          <a:prstGeom prst="curvedConnector2">
            <a:avLst/>
          </a:prstGeom>
          <a:noFill/>
          <a:ln w="57150">
            <a:solidFill>
              <a:srgbClr val="1535A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8B1C8BD-B72F-65B3-62C2-592E8653A375}"/>
              </a:ext>
            </a:extLst>
          </p:cNvPr>
          <p:cNvCxnSpPr>
            <a:cxnSpLocks/>
            <a:stCxn id="108" idx="2"/>
            <a:endCxn id="114" idx="0"/>
          </p:cNvCxnSpPr>
          <p:nvPr/>
        </p:nvCxnSpPr>
        <p:spPr>
          <a:xfrm flipH="1">
            <a:off x="3326407" y="1449097"/>
            <a:ext cx="2933" cy="268736"/>
          </a:xfrm>
          <a:prstGeom prst="straightConnector1">
            <a:avLst/>
          </a:prstGeom>
          <a:ln w="57150">
            <a:solidFill>
              <a:srgbClr val="54823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矩形: 圆角 68">
            <a:extLst>
              <a:ext uri="{FF2B5EF4-FFF2-40B4-BE49-F238E27FC236}">
                <a16:creationId xmlns:a16="http://schemas.microsoft.com/office/drawing/2014/main" id="{2CBCA7C2-1C3A-C018-A66C-219CDBBAF926}"/>
              </a:ext>
            </a:extLst>
          </p:cNvPr>
          <p:cNvSpPr/>
          <p:nvPr/>
        </p:nvSpPr>
        <p:spPr>
          <a:xfrm>
            <a:off x="6260945" y="2131289"/>
            <a:ext cx="1612453" cy="263609"/>
          </a:xfrm>
          <a:prstGeom prst="roundRect">
            <a:avLst>
              <a:gd name="adj" fmla="val 599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可组合性</a:t>
            </a:r>
          </a:p>
        </p:txBody>
      </p:sp>
      <p:sp>
        <p:nvSpPr>
          <p:cNvPr id="32" name="箭头: 虚尾 31">
            <a:extLst>
              <a:ext uri="{FF2B5EF4-FFF2-40B4-BE49-F238E27FC236}">
                <a16:creationId xmlns:a16="http://schemas.microsoft.com/office/drawing/2014/main" id="{2F38CAD0-4002-DD47-3DBB-FB58AFC09902}"/>
              </a:ext>
            </a:extLst>
          </p:cNvPr>
          <p:cNvSpPr/>
          <p:nvPr/>
        </p:nvSpPr>
        <p:spPr>
          <a:xfrm rot="5400000">
            <a:off x="5875272" y="1660234"/>
            <a:ext cx="366404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F0DD342-1C4B-A4B4-36D4-A7445FFD7BBB}"/>
              </a:ext>
            </a:extLst>
          </p:cNvPr>
          <p:cNvSpPr txBox="1"/>
          <p:nvPr/>
        </p:nvSpPr>
        <p:spPr>
          <a:xfrm>
            <a:off x="31481" y="943631"/>
            <a:ext cx="24833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OT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和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对称密钥操作的轻量级组件</a:t>
            </a: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01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C77F1D5-7A79-91F6-BA3E-6DDE0F91F2EB}"/>
              </a:ext>
            </a:extLst>
          </p:cNvPr>
          <p:cNvSpPr/>
          <p:nvPr/>
        </p:nvSpPr>
        <p:spPr>
          <a:xfrm>
            <a:off x="7380923" y="5578408"/>
            <a:ext cx="4225326" cy="1072907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同侧圆角矩形 12">
            <a:extLst>
              <a:ext uri="{FF2B5EF4-FFF2-40B4-BE49-F238E27FC236}">
                <a16:creationId xmlns:a16="http://schemas.microsoft.com/office/drawing/2014/main" id="{95C02B01-BEBD-C6DE-74C2-8177768E3BC7}"/>
              </a:ext>
            </a:extLst>
          </p:cNvPr>
          <p:cNvSpPr/>
          <p:nvPr/>
        </p:nvSpPr>
        <p:spPr>
          <a:xfrm rot="16200000">
            <a:off x="9360080" y="4875389"/>
            <a:ext cx="396583" cy="117784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639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MPSU</a:t>
            </a:r>
            <a:endParaRPr kumimoji="1"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2A90788-372A-16CB-FF96-CC2B78ECA92F}"/>
              </a:ext>
            </a:extLst>
          </p:cNvPr>
          <p:cNvSpPr txBox="1"/>
          <p:nvPr/>
        </p:nvSpPr>
        <p:spPr>
          <a:xfrm>
            <a:off x="7423362" y="8163754"/>
            <a:ext cx="4313518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MPSI-card 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最佳在线性能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3208E0F-62B8-BBB9-3923-1EDB6BFFB0F3}"/>
                  </a:ext>
                </a:extLst>
              </p:cNvPr>
              <p:cNvSpPr txBox="1"/>
              <p:nvPr/>
            </p:nvSpPr>
            <p:spPr>
              <a:xfrm>
                <a:off x="6073182" y="8609265"/>
                <a:ext cx="6924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在线通信：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3208E0F-62B8-BBB9-3923-1EDB6BFFB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182" y="8609265"/>
                <a:ext cx="6924744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图片 61">
            <a:extLst>
              <a:ext uri="{FF2B5EF4-FFF2-40B4-BE49-F238E27FC236}">
                <a16:creationId xmlns:a16="http://schemas.microsoft.com/office/drawing/2014/main" id="{6AFBD118-8E4B-0ACB-8572-5757C9995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6280" y="8594128"/>
            <a:ext cx="407919" cy="407919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A64FC71-7216-333A-CD90-B26578E19E58}"/>
              </a:ext>
            </a:extLst>
          </p:cNvPr>
          <p:cNvSpPr/>
          <p:nvPr/>
        </p:nvSpPr>
        <p:spPr>
          <a:xfrm>
            <a:off x="7334070" y="2828657"/>
            <a:ext cx="4225325" cy="2371955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同侧圆角矩形 12">
            <a:extLst>
              <a:ext uri="{FF2B5EF4-FFF2-40B4-BE49-F238E27FC236}">
                <a16:creationId xmlns:a16="http://schemas.microsoft.com/office/drawing/2014/main" id="{61154C21-E958-74E0-FE67-315CE9A35F37}"/>
              </a:ext>
            </a:extLst>
          </p:cNvPr>
          <p:cNvSpPr/>
          <p:nvPr/>
        </p:nvSpPr>
        <p:spPr>
          <a:xfrm rot="16200000">
            <a:off x="9312744" y="2106547"/>
            <a:ext cx="440163" cy="113098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MPCSI</a:t>
            </a:r>
            <a:endParaRPr kumimoji="1"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27409B1-EF09-70C1-5CDB-974E1F69F1EE}"/>
              </a:ext>
            </a:extLst>
          </p:cNvPr>
          <p:cNvSpPr/>
          <p:nvPr/>
        </p:nvSpPr>
        <p:spPr>
          <a:xfrm>
            <a:off x="7334070" y="1054725"/>
            <a:ext cx="4272179" cy="1346199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AF295AAF-838F-17FD-8E16-FE755860857C}"/>
              </a:ext>
            </a:extLst>
          </p:cNvPr>
          <p:cNvGrpSpPr/>
          <p:nvPr/>
        </p:nvGrpSpPr>
        <p:grpSpPr>
          <a:xfrm>
            <a:off x="595493" y="2210340"/>
            <a:ext cx="6000368" cy="1651488"/>
            <a:chOff x="372324" y="2070994"/>
            <a:chExt cx="6000368" cy="1651488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9F00EA9-EBA8-7F6F-A9A5-0050DD897145}"/>
                </a:ext>
              </a:extLst>
            </p:cNvPr>
            <p:cNvSpPr/>
            <p:nvPr/>
          </p:nvSpPr>
          <p:spPr>
            <a:xfrm>
              <a:off x="372324" y="2070994"/>
              <a:ext cx="6000368" cy="1651488"/>
            </a:xfrm>
            <a:prstGeom prst="roundRect">
              <a:avLst>
                <a:gd name="adj" fmla="val 5832"/>
              </a:avLst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zh-CN" altLang="en-US" sz="2400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E8D5F02-B651-EB0E-5E8D-E0C328749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1254" y="2210805"/>
              <a:ext cx="5662507" cy="1463705"/>
            </a:xfrm>
            <a:prstGeom prst="rect">
              <a:avLst/>
            </a:prstGeom>
          </p:spPr>
        </p:pic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1E48DB55-FCFD-56E2-C39F-17E4FB96428C}"/>
              </a:ext>
            </a:extLst>
          </p:cNvPr>
          <p:cNvGrpSpPr/>
          <p:nvPr/>
        </p:nvGrpSpPr>
        <p:grpSpPr>
          <a:xfrm>
            <a:off x="595493" y="4628869"/>
            <a:ext cx="6000368" cy="1983470"/>
            <a:chOff x="632605" y="4720705"/>
            <a:chExt cx="6000368" cy="1983470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5A5BF00D-C64B-E99C-FF4F-EC8BB2C767AA}"/>
                </a:ext>
              </a:extLst>
            </p:cNvPr>
            <p:cNvSpPr/>
            <p:nvPr/>
          </p:nvSpPr>
          <p:spPr>
            <a:xfrm>
              <a:off x="632605" y="4720705"/>
              <a:ext cx="6000368" cy="1983470"/>
            </a:xfrm>
            <a:prstGeom prst="roundRect">
              <a:avLst>
                <a:gd name="adj" fmla="val 5832"/>
              </a:avLst>
            </a:prstGeom>
            <a:solidFill>
              <a:schemeClr val="bg1"/>
            </a:solidFill>
            <a:ln w="2540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05000"/>
                </a:lnSpc>
              </a:pPr>
              <a:endParaRPr lang="zh-CN" altLang="en-US" sz="24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BD9D88-BFA2-EC0C-E2C6-A409C5DA5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7299" y="4797080"/>
              <a:ext cx="5662507" cy="1599883"/>
            </a:xfrm>
            <a:prstGeom prst="rect">
              <a:avLst/>
            </a:prstGeom>
          </p:spPr>
        </p:pic>
      </p:grpSp>
      <p:sp>
        <p:nvSpPr>
          <p:cNvPr id="10" name="标题 4">
            <a:extLst>
              <a:ext uri="{FF2B5EF4-FFF2-40B4-BE49-F238E27FC236}">
                <a16:creationId xmlns:a16="http://schemas.microsoft.com/office/drawing/2014/main" id="{8D086217-5930-BB71-6152-0DC513FAF73C}"/>
              </a:ext>
            </a:extLst>
          </p:cNvPr>
          <p:cNvSpPr txBox="1">
            <a:spLocks/>
          </p:cNvSpPr>
          <p:nvPr/>
        </p:nvSpPr>
        <p:spPr>
          <a:xfrm>
            <a:off x="-1" y="85345"/>
            <a:ext cx="11639693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研究成果二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高效的通用多方隐私集合运算框架</a:t>
            </a:r>
          </a:p>
        </p:txBody>
      </p:sp>
      <p:cxnSp>
        <p:nvCxnSpPr>
          <p:cNvPr id="11" name="Straight Connector 18">
            <a:extLst>
              <a:ext uri="{FF2B5EF4-FFF2-40B4-BE49-F238E27FC236}">
                <a16:creationId xmlns:a16="http://schemas.microsoft.com/office/drawing/2014/main" id="{C5979139-D24A-8D15-AD33-64175EC3E385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39E063C-9D50-E8C8-802E-3D99BD32A111}"/>
              </a:ext>
            </a:extLst>
          </p:cNvPr>
          <p:cNvSpPr txBox="1"/>
          <p:nvPr/>
        </p:nvSpPr>
        <p:spPr>
          <a:xfrm>
            <a:off x="7478474" y="1056990"/>
            <a:ext cx="3459012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首个实现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最优渐近复杂度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标准半诚实安全 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D5B06B5-9A9C-8000-6D20-D9388398714C}"/>
              </a:ext>
            </a:extLst>
          </p:cNvPr>
          <p:cNvSpPr txBox="1"/>
          <p:nvPr/>
        </p:nvSpPr>
        <p:spPr>
          <a:xfrm>
            <a:off x="7460403" y="4522363"/>
            <a:ext cx="3962346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首个在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不诚实大多数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设定下安全的 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Circuit-MPSI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8D780E-31FB-4F6C-85E3-012CFC5B8F37}"/>
              </a:ext>
            </a:extLst>
          </p:cNvPr>
          <p:cNvSpPr txBox="1"/>
          <p:nvPr/>
        </p:nvSpPr>
        <p:spPr>
          <a:xfrm>
            <a:off x="7420430" y="2803832"/>
            <a:ext cx="3955467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首个实现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最优渐近复杂度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MPSI-card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MPSI-card-sum</a:t>
            </a:r>
            <a:endParaRPr lang="zh-CN" altLang="en-US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4489C1C-E1CF-BC67-63A7-7CE806232DA7}"/>
              </a:ext>
            </a:extLst>
          </p:cNvPr>
          <p:cNvSpPr txBox="1"/>
          <p:nvPr/>
        </p:nvSpPr>
        <p:spPr>
          <a:xfrm>
            <a:off x="7493032" y="1728059"/>
            <a:ext cx="4584038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最佳在线性能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45FEB0A-5807-8859-F9F2-761B1BFF3822}"/>
              </a:ext>
            </a:extLst>
          </p:cNvPr>
          <p:cNvSpPr txBox="1"/>
          <p:nvPr/>
        </p:nvSpPr>
        <p:spPr>
          <a:xfrm>
            <a:off x="7493032" y="5945159"/>
            <a:ext cx="3588857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首个</a:t>
            </a:r>
            <a:r>
              <a:rPr lang="zh-CN" altLang="en-US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实际可用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MPSU-card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circuit-MPSU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</a:p>
        </p:txBody>
      </p:sp>
      <p:sp>
        <p:nvSpPr>
          <p:cNvPr id="122" name="同侧圆角矩形 12">
            <a:extLst>
              <a:ext uri="{FF2B5EF4-FFF2-40B4-BE49-F238E27FC236}">
                <a16:creationId xmlns:a16="http://schemas.microsoft.com/office/drawing/2014/main" id="{6478ACB1-E8F7-9BB9-2131-6045B9F4566A}"/>
              </a:ext>
            </a:extLst>
          </p:cNvPr>
          <p:cNvSpPr/>
          <p:nvPr/>
        </p:nvSpPr>
        <p:spPr>
          <a:xfrm rot="16200000">
            <a:off x="9334532" y="342534"/>
            <a:ext cx="396585" cy="113098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1E6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MPSI</a:t>
            </a:r>
            <a:endParaRPr kumimoji="1"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87BA724-8D98-C7F1-C34B-850BEA0F350E}"/>
              </a:ext>
            </a:extLst>
          </p:cNvPr>
          <p:cNvSpPr txBox="1"/>
          <p:nvPr/>
        </p:nvSpPr>
        <p:spPr>
          <a:xfrm>
            <a:off x="7460403" y="3485895"/>
            <a:ext cx="4313518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MPSI-card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最佳在线性能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A2DEA8D7-011D-66E9-2F83-660BBF345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1889" y="1687597"/>
            <a:ext cx="477506" cy="4775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6F78B47-74D0-216B-0ECB-EEA2CEBE9F0F}"/>
                  </a:ext>
                </a:extLst>
              </p:cNvPr>
              <p:cNvSpPr txBox="1"/>
              <p:nvPr/>
            </p:nvSpPr>
            <p:spPr>
              <a:xfrm>
                <a:off x="6096000" y="3801394"/>
                <a:ext cx="69247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在线通信：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16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6F78B47-74D0-216B-0ECB-EEA2CEBE9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01394"/>
                <a:ext cx="6924744" cy="338554"/>
              </a:xfrm>
              <a:prstGeom prst="rect">
                <a:avLst/>
              </a:prstGeom>
              <a:blipFill>
                <a:blip r:embed="rId9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图片 51">
            <a:extLst>
              <a:ext uri="{FF2B5EF4-FFF2-40B4-BE49-F238E27FC236}">
                <a16:creationId xmlns:a16="http://schemas.microsoft.com/office/drawing/2014/main" id="{55CB2580-E345-AEE8-818C-0C2BDF791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4018" y="3823629"/>
            <a:ext cx="407919" cy="4079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3FF9A7-22B3-C691-E3E4-81FC9E33CA17}"/>
                  </a:ext>
                </a:extLst>
              </p:cNvPr>
              <p:cNvSpPr txBox="1"/>
              <p:nvPr/>
            </p:nvSpPr>
            <p:spPr>
              <a:xfrm>
                <a:off x="6808144" y="2090760"/>
                <a:ext cx="69247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WAN: </a:t>
                </a:r>
                <a14:m>
                  <m:oMath xmlns:m="http://schemas.openxmlformats.org/officeDocument/2006/math"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16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E43FF9A7-22B3-C691-E3E4-81FC9E33C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44" y="2090760"/>
                <a:ext cx="6924744" cy="338554"/>
              </a:xfrm>
              <a:prstGeom prst="rect">
                <a:avLst/>
              </a:prstGeom>
              <a:blipFill>
                <a:blip r:embed="rId10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818155-239A-42DC-11E6-0804DF031BA4}"/>
                  </a:ext>
                </a:extLst>
              </p:cNvPr>
              <p:cNvSpPr txBox="1"/>
              <p:nvPr/>
            </p:nvSpPr>
            <p:spPr>
              <a:xfrm>
                <a:off x="8842820" y="1764099"/>
                <a:ext cx="285539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LAN: </a:t>
                </a:r>
                <a14:m>
                  <m:oMath xmlns:m="http://schemas.openxmlformats.org/officeDocument/2006/math"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endParaRPr lang="en-US" altLang="zh-CN" sz="16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0F818155-239A-42DC-11E6-0804DF031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820" y="1764099"/>
                <a:ext cx="2855392" cy="338554"/>
              </a:xfrm>
              <a:prstGeom prst="rect">
                <a:avLst/>
              </a:prstGeom>
              <a:blipFill>
                <a:blip r:embed="rId11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图片 55">
            <a:extLst>
              <a:ext uri="{FF2B5EF4-FFF2-40B4-BE49-F238E27FC236}">
                <a16:creationId xmlns:a16="http://schemas.microsoft.com/office/drawing/2014/main" id="{E4133869-0BEA-A192-9761-8D3EED5CF4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6059" y="1972052"/>
            <a:ext cx="477506" cy="477506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C9D7B461-BACC-BB34-A59B-98BCF5718D58}"/>
              </a:ext>
            </a:extLst>
          </p:cNvPr>
          <p:cNvSpPr txBox="1"/>
          <p:nvPr/>
        </p:nvSpPr>
        <p:spPr>
          <a:xfrm>
            <a:off x="7423362" y="4127661"/>
            <a:ext cx="4313518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MPSI-card-sum 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首个实现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FE986FA-822D-1488-2AC6-256019EDDA8D}"/>
              </a:ext>
            </a:extLst>
          </p:cNvPr>
          <p:cNvSpPr txBox="1"/>
          <p:nvPr/>
        </p:nvSpPr>
        <p:spPr>
          <a:xfrm>
            <a:off x="7493032" y="5597023"/>
            <a:ext cx="4313518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最少在线通信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F550036-343E-7E10-43A3-EA0B8DA2761B}"/>
                  </a:ext>
                </a:extLst>
              </p:cNvPr>
              <p:cNvSpPr txBox="1"/>
              <p:nvPr/>
            </p:nvSpPr>
            <p:spPr>
              <a:xfrm>
                <a:off x="7634378" y="5616996"/>
                <a:ext cx="52722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b="1" i="1" dirty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F550036-343E-7E10-43A3-EA0B8DA27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378" y="5616996"/>
                <a:ext cx="527227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图片 64">
            <a:extLst>
              <a:ext uri="{FF2B5EF4-FFF2-40B4-BE49-F238E27FC236}">
                <a16:creationId xmlns:a16="http://schemas.microsoft.com/office/drawing/2014/main" id="{792540D4-0E34-9F88-BD79-61CE565E6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3346" y="5578409"/>
            <a:ext cx="407919" cy="407919"/>
          </a:xfrm>
          <a:prstGeom prst="rect">
            <a:avLst/>
          </a:prstGeom>
        </p:spPr>
      </p:pic>
      <p:sp>
        <p:nvSpPr>
          <p:cNvPr id="70" name="同侧圆角矩形 12">
            <a:extLst>
              <a:ext uri="{FF2B5EF4-FFF2-40B4-BE49-F238E27FC236}">
                <a16:creationId xmlns:a16="http://schemas.microsoft.com/office/drawing/2014/main" id="{C4784509-2D10-AB9E-A2B6-AE1C0B58382A}"/>
              </a:ext>
            </a:extLst>
          </p:cNvPr>
          <p:cNvSpPr/>
          <p:nvPr/>
        </p:nvSpPr>
        <p:spPr>
          <a:xfrm rot="16200000">
            <a:off x="3071321" y="1090752"/>
            <a:ext cx="440163" cy="19693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MPSO-card</a:t>
            </a:r>
            <a:endParaRPr kumimoji="1"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同侧圆角矩形 12">
            <a:extLst>
              <a:ext uri="{FF2B5EF4-FFF2-40B4-BE49-F238E27FC236}">
                <a16:creationId xmlns:a16="http://schemas.microsoft.com/office/drawing/2014/main" id="{1B75D17D-C7B1-5071-EDD2-A7F4DBF6F8DB}"/>
              </a:ext>
            </a:extLst>
          </p:cNvPr>
          <p:cNvSpPr/>
          <p:nvPr/>
        </p:nvSpPr>
        <p:spPr>
          <a:xfrm rot="16200000">
            <a:off x="3087782" y="3602184"/>
            <a:ext cx="440163" cy="196935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circuit-MPSO</a:t>
            </a:r>
            <a:endParaRPr kumimoji="1"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4C6717A-E19C-F4D0-C2EA-113E7CDA8527}"/>
              </a:ext>
            </a:extLst>
          </p:cNvPr>
          <p:cNvSpPr txBox="1"/>
          <p:nvPr/>
        </p:nvSpPr>
        <p:spPr>
          <a:xfrm>
            <a:off x="444756" y="963513"/>
            <a:ext cx="6961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该框架具有极强的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扩展性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，首次实现了更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复杂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通用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功能：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3D3732D1-2046-B7C8-E031-055CCB822749}"/>
                  </a:ext>
                </a:extLst>
              </p:cNvPr>
              <p:cNvSpPr txBox="1"/>
              <p:nvPr/>
            </p:nvSpPr>
            <p:spPr>
              <a:xfrm>
                <a:off x="1651226" y="6219592"/>
                <a:ext cx="3674626" cy="365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5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F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可以是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3D3732D1-2046-B7C8-E031-055CCB822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226" y="6219592"/>
                <a:ext cx="3674626" cy="365421"/>
              </a:xfrm>
              <a:prstGeom prst="rect">
                <a:avLst/>
              </a:prstGeom>
              <a:blipFill>
                <a:blip r:embed="rId13"/>
                <a:stretch>
                  <a:fillRect t="-100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文本框 75">
            <a:extLst>
              <a:ext uri="{FF2B5EF4-FFF2-40B4-BE49-F238E27FC236}">
                <a16:creationId xmlns:a16="http://schemas.microsoft.com/office/drawing/2014/main" id="{F6F335DC-ACD5-2176-C65A-11A26849BD0F}"/>
              </a:ext>
            </a:extLst>
          </p:cNvPr>
          <p:cNvSpPr txBox="1"/>
          <p:nvPr/>
        </p:nvSpPr>
        <p:spPr>
          <a:xfrm>
            <a:off x="1254514" y="4002067"/>
            <a:ext cx="6961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基于电路的通用 </a:t>
            </a:r>
            <a:r>
              <a:rPr lang="en-US" altLang="zh-CN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</a:t>
            </a:r>
            <a:r>
              <a:rPr lang="zh-CN" altLang="en-US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（</a:t>
            </a:r>
            <a:r>
              <a:rPr lang="en-US" altLang="zh-CN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Circuit-MPSO</a:t>
            </a:r>
            <a:r>
              <a:rPr lang="zh-CN" altLang="en-US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）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7AA71E5-F0DB-82B4-C645-BF39DF0E4E71}"/>
              </a:ext>
            </a:extLst>
          </p:cNvPr>
          <p:cNvSpPr txBox="1"/>
          <p:nvPr/>
        </p:nvSpPr>
        <p:spPr>
          <a:xfrm>
            <a:off x="1264596" y="1498575"/>
            <a:ext cx="6961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任意集合公式结果求势（</a:t>
            </a:r>
            <a:r>
              <a:rPr lang="en-US" altLang="zh-CN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MPSO-card</a:t>
            </a:r>
            <a:r>
              <a:rPr lang="zh-CN" altLang="en-US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32790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0D584-3E14-C02B-C331-7358E1A3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4">
            <a:extLst>
              <a:ext uri="{FF2B5EF4-FFF2-40B4-BE49-F238E27FC236}">
                <a16:creationId xmlns:a16="http://schemas.microsoft.com/office/drawing/2014/main" id="{CA7D7DF2-858D-71CD-FE3E-F0C75A62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345"/>
            <a:ext cx="11637220" cy="623628"/>
          </a:xfrm>
        </p:spPr>
        <p:txBody>
          <a:bodyPr>
            <a:normAutofit/>
          </a:bodyPr>
          <a:lstStyle/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方案一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: 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基于</a:t>
            </a: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OT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8F0F16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和对称密钥操作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 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MPSU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协议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E87973-B567-3A15-27E4-BEE78B44E98B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9F8B48F6-6236-88BC-EA8A-264287AAB4DB}"/>
              </a:ext>
            </a:extLst>
          </p:cNvPr>
          <p:cNvSpPr>
            <a:spLocks noChangeAspect="1"/>
          </p:cNvSpPr>
          <p:nvPr/>
        </p:nvSpPr>
        <p:spPr>
          <a:xfrm>
            <a:off x="8829120" y="2704504"/>
            <a:ext cx="1620000" cy="1620000"/>
          </a:xfrm>
          <a:prstGeom prst="ellipse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基于秘密分享的框架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CF77121-DFB4-29FA-790D-79F13671EA37}"/>
              </a:ext>
            </a:extLst>
          </p:cNvPr>
          <p:cNvSpPr txBox="1">
            <a:spLocks/>
          </p:cNvSpPr>
          <p:nvPr/>
        </p:nvSpPr>
        <p:spPr>
          <a:xfrm>
            <a:off x="11499121" y="6324600"/>
            <a:ext cx="685800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prstClr val="black">
                    <a:tint val="75000"/>
                  </a:prstClr>
                </a:solidFill>
                <a:latin typeface="微软雅黑 Light"/>
                <a:ea typeface="微软雅黑 Light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9pPr>
          </a:lstStyle>
          <a:p>
            <a:pPr algn="r"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4/11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2D1101-0982-234F-CB66-53BF086F2556}"/>
              </a:ext>
            </a:extLst>
          </p:cNvPr>
          <p:cNvSpPr txBox="1"/>
          <p:nvPr/>
        </p:nvSpPr>
        <p:spPr>
          <a:xfrm>
            <a:off x="9185199" y="2299482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性能提升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589E3B7-391D-E8A6-C5B6-B3BC633A1B9E}"/>
              </a:ext>
            </a:extLst>
          </p:cNvPr>
          <p:cNvSpPr/>
          <p:nvPr/>
        </p:nvSpPr>
        <p:spPr>
          <a:xfrm>
            <a:off x="8608405" y="5168199"/>
            <a:ext cx="2061429" cy="718490"/>
          </a:xfrm>
          <a:prstGeom prst="roundRect">
            <a:avLst/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多方秘密分享的随机不经意传输协议</a:t>
            </a:r>
          </a:p>
        </p:txBody>
      </p:sp>
      <p:sp>
        <p:nvSpPr>
          <p:cNvPr id="23" name="箭头: 虚尾 22">
            <a:extLst>
              <a:ext uri="{FF2B5EF4-FFF2-40B4-BE49-F238E27FC236}">
                <a16:creationId xmlns:a16="http://schemas.microsoft.com/office/drawing/2014/main" id="{C8FF05A1-18F6-2E89-9747-EA63BC0A398C}"/>
              </a:ext>
            </a:extLst>
          </p:cNvPr>
          <p:cNvSpPr/>
          <p:nvPr/>
        </p:nvSpPr>
        <p:spPr>
          <a:xfrm rot="16200000">
            <a:off x="9253137" y="4264608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575DEAE-E976-8B87-F1C8-C428BE155BDC}"/>
              </a:ext>
            </a:extLst>
          </p:cNvPr>
          <p:cNvSpPr txBox="1"/>
          <p:nvPr/>
        </p:nvSpPr>
        <p:spPr>
          <a:xfrm>
            <a:off x="5212085" y="4402410"/>
            <a:ext cx="6111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消除非共谋假设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安全性提升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B8C0E46-D214-97A2-88E3-AF750856A5FA}"/>
              </a:ext>
            </a:extLst>
          </p:cNvPr>
          <p:cNvSpPr/>
          <p:nvPr/>
        </p:nvSpPr>
        <p:spPr>
          <a:xfrm>
            <a:off x="1829032" y="2998601"/>
            <a:ext cx="1920671" cy="839248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唯一基于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[LG23]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9AAC8E-0CC7-BBEF-4FDA-1E031E6332A7}"/>
              </a:ext>
            </a:extLst>
          </p:cNvPr>
          <p:cNvSpPr txBox="1"/>
          <p:nvPr/>
        </p:nvSpPr>
        <p:spPr>
          <a:xfrm>
            <a:off x="-560592" y="3275111"/>
            <a:ext cx="30462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研究起点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8A17E9F-4211-B7A6-C914-350E1CFD261B}"/>
                  </a:ext>
                </a:extLst>
              </p:cNvPr>
              <p:cNvSpPr txBox="1"/>
              <p:nvPr/>
            </p:nvSpPr>
            <p:spPr>
              <a:xfrm>
                <a:off x="5921718" y="1053299"/>
                <a:ext cx="5091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8A17E9F-4211-B7A6-C914-350E1CFD2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18" y="1053299"/>
                <a:ext cx="50916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34F2950-31A5-7AE8-5FA9-B6145EACDB14}"/>
              </a:ext>
            </a:extLst>
          </p:cNvPr>
          <p:cNvSpPr/>
          <p:nvPr/>
        </p:nvSpPr>
        <p:spPr>
          <a:xfrm>
            <a:off x="6399252" y="1026603"/>
            <a:ext cx="1679030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秘密分享的隐私等值测试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1C3185D-5EA3-22A5-3AD5-8A71C90C6707}"/>
              </a:ext>
            </a:extLst>
          </p:cNvPr>
          <p:cNvSpPr/>
          <p:nvPr/>
        </p:nvSpPr>
        <p:spPr>
          <a:xfrm>
            <a:off x="8742251" y="1124861"/>
            <a:ext cx="1793734" cy="718490"/>
          </a:xfrm>
          <a:prstGeom prst="roundRect">
            <a:avLst/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批量秘密分享隐私成员测试协议</a:t>
            </a:r>
          </a:p>
        </p:txBody>
      </p:sp>
      <p:sp>
        <p:nvSpPr>
          <p:cNvPr id="40" name="箭头: 虚尾 39">
            <a:extLst>
              <a:ext uri="{FF2B5EF4-FFF2-40B4-BE49-F238E27FC236}">
                <a16:creationId xmlns:a16="http://schemas.microsoft.com/office/drawing/2014/main" id="{9741EC78-35E0-FE07-A633-34F678573222}"/>
              </a:ext>
            </a:extLst>
          </p:cNvPr>
          <p:cNvSpPr/>
          <p:nvPr/>
        </p:nvSpPr>
        <p:spPr>
          <a:xfrm>
            <a:off x="8305686" y="1022130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33E071D-AE94-99D9-F424-4D179D1D2252}"/>
              </a:ext>
            </a:extLst>
          </p:cNvPr>
          <p:cNvSpPr/>
          <p:nvPr/>
        </p:nvSpPr>
        <p:spPr>
          <a:xfrm>
            <a:off x="4306357" y="1026603"/>
            <a:ext cx="1686334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批量不经意可编程伪随机函数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D2A24DA9-3C6E-41D5-02CC-6C1154ACB2D9}"/>
              </a:ext>
            </a:extLst>
          </p:cNvPr>
          <p:cNvSpPr/>
          <p:nvPr/>
        </p:nvSpPr>
        <p:spPr>
          <a:xfrm>
            <a:off x="4153675" y="940127"/>
            <a:ext cx="4075926" cy="766408"/>
          </a:xfrm>
          <a:prstGeom prst="roundRect">
            <a:avLst/>
          </a:prstGeom>
          <a:noFill/>
          <a:ln w="317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4C5E83-1E0F-9A06-A3C1-62226FBD1FF0}"/>
              </a:ext>
            </a:extLst>
          </p:cNvPr>
          <p:cNvSpPr txBox="1"/>
          <p:nvPr/>
        </p:nvSpPr>
        <p:spPr>
          <a:xfrm>
            <a:off x="6634187" y="1940444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轻量级实例化</a:t>
            </a:r>
          </a:p>
        </p:txBody>
      </p:sp>
      <p:sp>
        <p:nvSpPr>
          <p:cNvPr id="48" name="箭头: 虚尾 47">
            <a:extLst>
              <a:ext uri="{FF2B5EF4-FFF2-40B4-BE49-F238E27FC236}">
                <a16:creationId xmlns:a16="http://schemas.microsoft.com/office/drawing/2014/main" id="{B0E3CFCB-B78C-836C-00C4-859FBC02DCFD}"/>
              </a:ext>
            </a:extLst>
          </p:cNvPr>
          <p:cNvSpPr/>
          <p:nvPr/>
        </p:nvSpPr>
        <p:spPr>
          <a:xfrm rot="5400000">
            <a:off x="9253132" y="1822022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虚尾箭头 14">
            <a:extLst>
              <a:ext uri="{FF2B5EF4-FFF2-40B4-BE49-F238E27FC236}">
                <a16:creationId xmlns:a16="http://schemas.microsoft.com/office/drawing/2014/main" id="{C7D2AD37-9A1C-674E-15F5-00FE6AD0F91F}"/>
              </a:ext>
            </a:extLst>
          </p:cNvPr>
          <p:cNvSpPr/>
          <p:nvPr/>
        </p:nvSpPr>
        <p:spPr>
          <a:xfrm>
            <a:off x="4796707" y="3248445"/>
            <a:ext cx="2877643" cy="322288"/>
          </a:xfrm>
          <a:prstGeom prst="stripedRightArrow">
            <a:avLst>
              <a:gd name="adj1" fmla="val 49999"/>
              <a:gd name="adj2" fmla="val 75207"/>
            </a:avLst>
          </a:prstGeom>
          <a:solidFill>
            <a:srgbClr val="C00000">
              <a:alpha val="8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FDEA81A-F666-554D-9F76-7989DDB8EBA9}"/>
              </a:ext>
            </a:extLst>
          </p:cNvPr>
          <p:cNvSpPr txBox="1"/>
          <p:nvPr/>
        </p:nvSpPr>
        <p:spPr>
          <a:xfrm>
            <a:off x="2643511" y="2923109"/>
            <a:ext cx="686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抽象出</a:t>
            </a:r>
          </a:p>
        </p:txBody>
      </p:sp>
      <p:sp>
        <p:nvSpPr>
          <p:cNvPr id="52" name="箭头: 虚尾 51">
            <a:extLst>
              <a:ext uri="{FF2B5EF4-FFF2-40B4-BE49-F238E27FC236}">
                <a16:creationId xmlns:a16="http://schemas.microsoft.com/office/drawing/2014/main" id="{C2C15F22-5DDA-3DB5-76D7-66041CF5605B}"/>
              </a:ext>
            </a:extLst>
          </p:cNvPr>
          <p:cNvSpPr/>
          <p:nvPr/>
        </p:nvSpPr>
        <p:spPr>
          <a:xfrm rot="16200000">
            <a:off x="2403383" y="2057582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8F1520B-4DB1-0160-85D4-D7B7D25CC135}"/>
              </a:ext>
            </a:extLst>
          </p:cNvPr>
          <p:cNvSpPr txBox="1"/>
          <p:nvPr/>
        </p:nvSpPr>
        <p:spPr>
          <a:xfrm>
            <a:off x="370572" y="2335172"/>
            <a:ext cx="6862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性能瓶颈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8590DF4-8981-4A31-B1D8-DDFEFD986293}"/>
              </a:ext>
            </a:extLst>
          </p:cNvPr>
          <p:cNvSpPr/>
          <p:nvPr/>
        </p:nvSpPr>
        <p:spPr>
          <a:xfrm>
            <a:off x="1805637" y="1371368"/>
            <a:ext cx="1967463" cy="718490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多查询秘密分享隐私成员测试协议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7AD54832-2BF9-6E7D-4B95-95AA2C97472F}"/>
              </a:ext>
            </a:extLst>
          </p:cNvPr>
          <p:cNvSpPr/>
          <p:nvPr/>
        </p:nvSpPr>
        <p:spPr>
          <a:xfrm>
            <a:off x="403351" y="1499378"/>
            <a:ext cx="876271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MPC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箭头: 虚尾 57">
            <a:extLst>
              <a:ext uri="{FF2B5EF4-FFF2-40B4-BE49-F238E27FC236}">
                <a16:creationId xmlns:a16="http://schemas.microsoft.com/office/drawing/2014/main" id="{D2587854-D090-DFF3-3EE2-0A0ED005F49F}"/>
              </a:ext>
            </a:extLst>
          </p:cNvPr>
          <p:cNvSpPr/>
          <p:nvPr/>
        </p:nvSpPr>
        <p:spPr>
          <a:xfrm>
            <a:off x="1355963" y="1312291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BE2BF18-2838-006B-1093-931678791CF4}"/>
              </a:ext>
            </a:extLst>
          </p:cNvPr>
          <p:cNvSpPr txBox="1"/>
          <p:nvPr/>
        </p:nvSpPr>
        <p:spPr>
          <a:xfrm>
            <a:off x="38495" y="1065969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严重依赖</a:t>
            </a:r>
          </a:p>
        </p:txBody>
      </p:sp>
      <p:sp>
        <p:nvSpPr>
          <p:cNvPr id="60" name="箭头: 虚尾 59">
            <a:extLst>
              <a:ext uri="{FF2B5EF4-FFF2-40B4-BE49-F238E27FC236}">
                <a16:creationId xmlns:a16="http://schemas.microsoft.com/office/drawing/2014/main" id="{2878A679-6451-3161-BD01-449547C5C9F1}"/>
              </a:ext>
            </a:extLst>
          </p:cNvPr>
          <p:cNvSpPr/>
          <p:nvPr/>
        </p:nvSpPr>
        <p:spPr>
          <a:xfrm rot="5400000">
            <a:off x="2403380" y="3828138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DEDEB66-8460-4896-168C-1C39C21E3994}"/>
              </a:ext>
            </a:extLst>
          </p:cNvPr>
          <p:cNvSpPr txBox="1"/>
          <p:nvPr/>
        </p:nvSpPr>
        <p:spPr>
          <a:xfrm>
            <a:off x="567809" y="4088007"/>
            <a:ext cx="6862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安全性问题</a:t>
            </a: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3EF8AEB0-8D57-8F2D-974E-5DBFF06C4B77}"/>
              </a:ext>
            </a:extLst>
          </p:cNvPr>
          <p:cNvSpPr/>
          <p:nvPr/>
        </p:nvSpPr>
        <p:spPr>
          <a:xfrm>
            <a:off x="1819497" y="4737411"/>
            <a:ext cx="1967255" cy="718490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和任何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Client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不共谋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A3A9F39-5CED-DDC1-C26A-920DDF39778D}"/>
              </a:ext>
            </a:extLst>
          </p:cNvPr>
          <p:cNvSpPr txBox="1"/>
          <p:nvPr/>
        </p:nvSpPr>
        <p:spPr>
          <a:xfrm>
            <a:off x="1295429" y="5561666"/>
            <a:ext cx="30462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依赖非共谋假设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无法抵御共谋攻击</a:t>
            </a: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98D19B69-D4B2-8960-897F-E08942A3250F}"/>
              </a:ext>
            </a:extLst>
          </p:cNvPr>
          <p:cNvGrpSpPr>
            <a:grpSpLocks noChangeAspect="1"/>
          </p:cNvGrpSpPr>
          <p:nvPr/>
        </p:nvGrpSpPr>
        <p:grpSpPr>
          <a:xfrm>
            <a:off x="3698299" y="4747850"/>
            <a:ext cx="3677640" cy="1830337"/>
            <a:chOff x="5669679" y="925273"/>
            <a:chExt cx="5020146" cy="2498493"/>
          </a:xfrm>
        </p:grpSpPr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F9E8EA7A-57BB-4D81-4BC9-5951014CD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7684" y="1034739"/>
              <a:ext cx="551737" cy="501068"/>
            </a:xfrm>
            <a:prstGeom prst="rect">
              <a:avLst/>
            </a:prstGeom>
          </p:spPr>
        </p:pic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8D508439-2956-8ABE-BDB0-E7D6A603FD8F}"/>
                </a:ext>
              </a:extLst>
            </p:cNvPr>
            <p:cNvCxnSpPr>
              <a:cxnSpLocks/>
              <a:stCxn id="107" idx="1"/>
            </p:cNvCxnSpPr>
            <p:nvPr/>
          </p:nvCxnSpPr>
          <p:spPr>
            <a:xfrm flipH="1">
              <a:off x="6551457" y="1285273"/>
              <a:ext cx="1256227" cy="429049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C6E3D360-60A3-B6D1-0E1C-A6BAC3C254F4}"/>
                </a:ext>
              </a:extLst>
            </p:cNvPr>
            <p:cNvCxnSpPr>
              <a:cxnSpLocks/>
              <a:stCxn id="107" idx="3"/>
            </p:cNvCxnSpPr>
            <p:nvPr/>
          </p:nvCxnSpPr>
          <p:spPr>
            <a:xfrm>
              <a:off x="8359421" y="1285273"/>
              <a:ext cx="1627859" cy="52460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59DF9CE4-056C-0D1A-0BFD-FAAC4C1B8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9679" y="1688363"/>
              <a:ext cx="881778" cy="881778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8DDD2D7D-9EFD-6589-5E0D-E94880467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2636" y="1707665"/>
              <a:ext cx="878509" cy="878509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F1D050F6-439E-AE55-B99C-65613AFED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1316" y="1710335"/>
              <a:ext cx="878509" cy="878509"/>
            </a:xfrm>
            <a:prstGeom prst="rect">
              <a:avLst/>
            </a:prstGeom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E19CD628-AB8A-0104-9825-139DC2B4B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9560" y="2813232"/>
              <a:ext cx="551737" cy="501068"/>
            </a:xfrm>
            <a:prstGeom prst="rect">
              <a:avLst/>
            </a:prstGeom>
          </p:spPr>
        </p:pic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8CAF97EF-56D9-4CB5-66EC-CCB62646673E}"/>
                </a:ext>
              </a:extLst>
            </p:cNvPr>
            <p:cNvCxnSpPr>
              <a:cxnSpLocks/>
              <a:stCxn id="113" idx="1"/>
              <a:endCxn id="110" idx="2"/>
            </p:cNvCxnSpPr>
            <p:nvPr/>
          </p:nvCxnSpPr>
          <p:spPr>
            <a:xfrm flipH="1" flipV="1">
              <a:off x="6110568" y="2570141"/>
              <a:ext cx="748992" cy="493625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4C2486CE-7502-ED90-21C2-45B5838FB8C1}"/>
                </a:ext>
              </a:extLst>
            </p:cNvPr>
            <p:cNvCxnSpPr>
              <a:cxnSpLocks/>
              <a:stCxn id="113" idx="3"/>
              <a:endCxn id="111" idx="2"/>
            </p:cNvCxnSpPr>
            <p:nvPr/>
          </p:nvCxnSpPr>
          <p:spPr>
            <a:xfrm flipV="1">
              <a:off x="7411297" y="2586174"/>
              <a:ext cx="740594" cy="47759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571B7693-49B6-1DDE-2E30-CD2FBA67C199}"/>
                </a:ext>
              </a:extLst>
            </p:cNvPr>
            <p:cNvGrpSpPr/>
            <p:nvPr/>
          </p:nvGrpSpPr>
          <p:grpSpPr>
            <a:xfrm>
              <a:off x="6761719" y="2703766"/>
              <a:ext cx="720000" cy="720000"/>
              <a:chOff x="6761719" y="2703766"/>
              <a:chExt cx="720000" cy="720000"/>
            </a:xfrm>
          </p:grpSpPr>
          <p:grpSp>
            <p:nvGrpSpPr>
              <p:cNvPr id="122" name="组合 121">
                <a:extLst>
                  <a:ext uri="{FF2B5EF4-FFF2-40B4-BE49-F238E27FC236}">
                    <a16:creationId xmlns:a16="http://schemas.microsoft.com/office/drawing/2014/main" id="{3353D0D3-9451-7A87-3336-2FC88A53C2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124" name="圆: 空心 123">
                  <a:extLst>
                    <a:ext uri="{FF2B5EF4-FFF2-40B4-BE49-F238E27FC236}">
                      <a16:creationId xmlns:a16="http://schemas.microsoft.com/office/drawing/2014/main" id="{79ED0392-4D23-83A0-82A1-1D4B12AFAF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84742009-65F3-3437-34F9-59FC97C02830}"/>
                    </a:ext>
                  </a:extLst>
                </p:cNvPr>
                <p:cNvCxnSpPr>
                  <a:cxnSpLocks/>
                  <a:stCxn id="124" idx="1"/>
                  <a:endCxn id="124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050D7492-83D2-870B-303E-41226B1FB60E}"/>
                  </a:ext>
                </a:extLst>
              </p:cNvPr>
              <p:cNvCxnSpPr>
                <a:cxnSpLocks/>
                <a:stCxn id="124" idx="7"/>
                <a:endCxn id="124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B94965AE-AFCB-09BD-0D25-3F95BE18C8BD}"/>
                </a:ext>
              </a:extLst>
            </p:cNvPr>
            <p:cNvGrpSpPr/>
            <p:nvPr/>
          </p:nvGrpSpPr>
          <p:grpSpPr>
            <a:xfrm>
              <a:off x="7714433" y="925273"/>
              <a:ext cx="720000" cy="720000"/>
              <a:chOff x="6761719" y="2703766"/>
              <a:chExt cx="720000" cy="720000"/>
            </a:xfrm>
          </p:grpSpPr>
          <p:grpSp>
            <p:nvGrpSpPr>
              <p:cNvPr id="118" name="组合 117">
                <a:extLst>
                  <a:ext uri="{FF2B5EF4-FFF2-40B4-BE49-F238E27FC236}">
                    <a16:creationId xmlns:a16="http://schemas.microsoft.com/office/drawing/2014/main" id="{33D970EB-49A6-7619-5F26-567C53CA0EF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120" name="圆: 空心 119">
                  <a:extLst>
                    <a:ext uri="{FF2B5EF4-FFF2-40B4-BE49-F238E27FC236}">
                      <a16:creationId xmlns:a16="http://schemas.microsoft.com/office/drawing/2014/main" id="{135EAB58-C953-B0B3-CC79-73A16A8E89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19EAA4C-F66C-83F5-F7E5-27E57C308E66}"/>
                    </a:ext>
                  </a:extLst>
                </p:cNvPr>
                <p:cNvCxnSpPr>
                  <a:cxnSpLocks/>
                  <a:stCxn id="120" idx="1"/>
                  <a:endCxn id="120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D70A1AAB-E41D-6DDE-2BA2-094E54FAFB0A}"/>
                  </a:ext>
                </a:extLst>
              </p:cNvPr>
              <p:cNvCxnSpPr>
                <a:cxnSpLocks/>
                <a:stCxn id="120" idx="7"/>
                <a:endCxn id="120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35374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567C-BA54-4F74-B2CF-E9728A7A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2D94258D-DF78-A368-4A27-0498D5EACB8B}"/>
              </a:ext>
            </a:extLst>
          </p:cNvPr>
          <p:cNvGrpSpPr>
            <a:grpSpLocks noChangeAspect="1"/>
          </p:cNvGrpSpPr>
          <p:nvPr/>
        </p:nvGrpSpPr>
        <p:grpSpPr>
          <a:xfrm>
            <a:off x="-51073" y="777355"/>
            <a:ext cx="3677640" cy="1830337"/>
            <a:chOff x="5669679" y="925273"/>
            <a:chExt cx="5020146" cy="2498493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199AEB3-651C-0F76-6620-1E5253DB8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7684" y="1034739"/>
              <a:ext cx="551737" cy="501068"/>
            </a:xfrm>
            <a:prstGeom prst="rect">
              <a:avLst/>
            </a:prstGeom>
          </p:spPr>
        </p:pic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089D3E5-131D-2594-E96C-C038DBF76C2C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6551457" y="1285273"/>
              <a:ext cx="1256227" cy="429049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B30A6BCF-2EEF-C5A8-4002-643A1442FAA8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8359421" y="1285273"/>
              <a:ext cx="1627859" cy="52460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716D5CC3-1F99-7DF4-496D-3DD999AC8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9679" y="1688363"/>
              <a:ext cx="881778" cy="881778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5EF5D488-9DFA-B473-3E94-0665A7EFC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2636" y="1707665"/>
              <a:ext cx="878509" cy="878509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55A25EC7-9BA2-E466-332D-1BE6C4BE8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1316" y="1710335"/>
              <a:ext cx="878509" cy="878509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8859664C-9D73-7463-B5CF-CFFED4468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9560" y="2813232"/>
              <a:ext cx="551737" cy="501068"/>
            </a:xfrm>
            <a:prstGeom prst="rect">
              <a:avLst/>
            </a:prstGeom>
          </p:spPr>
        </p:pic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4C57B36-E7AC-533F-1DB8-265D43583055}"/>
                </a:ext>
              </a:extLst>
            </p:cNvPr>
            <p:cNvCxnSpPr>
              <a:cxnSpLocks/>
              <a:stCxn id="37" idx="1"/>
              <a:endCxn id="32" idx="2"/>
            </p:cNvCxnSpPr>
            <p:nvPr/>
          </p:nvCxnSpPr>
          <p:spPr>
            <a:xfrm flipH="1" flipV="1">
              <a:off x="6110568" y="2570141"/>
              <a:ext cx="748992" cy="493625"/>
            </a:xfrm>
            <a:prstGeom prst="line">
              <a:avLst/>
            </a:prstGeom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22BBDA8A-9428-BE25-5CC7-137BB9DAD439}"/>
                </a:ext>
              </a:extLst>
            </p:cNvPr>
            <p:cNvCxnSpPr>
              <a:cxnSpLocks/>
              <a:stCxn id="37" idx="3"/>
              <a:endCxn id="33" idx="2"/>
            </p:cNvCxnSpPr>
            <p:nvPr/>
          </p:nvCxnSpPr>
          <p:spPr>
            <a:xfrm flipV="1">
              <a:off x="7411297" y="2586174"/>
              <a:ext cx="740594" cy="47759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0EDC19B1-76DF-6D85-3782-4DC27E8D59EC}"/>
                </a:ext>
              </a:extLst>
            </p:cNvPr>
            <p:cNvGrpSpPr/>
            <p:nvPr/>
          </p:nvGrpSpPr>
          <p:grpSpPr>
            <a:xfrm>
              <a:off x="6761719" y="2703766"/>
              <a:ext cx="720000" cy="720000"/>
              <a:chOff x="6761719" y="2703766"/>
              <a:chExt cx="720000" cy="720000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9533E8D8-77EC-DF29-EEFC-163CCF254FE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65" name="圆: 空心 64">
                  <a:extLst>
                    <a:ext uri="{FF2B5EF4-FFF2-40B4-BE49-F238E27FC236}">
                      <a16:creationId xmlns:a16="http://schemas.microsoft.com/office/drawing/2014/main" id="{66C64957-8F85-277A-C29E-472D02A1A6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4F3E0F9A-8285-58DA-914C-87E6CDEB493F}"/>
                    </a:ext>
                  </a:extLst>
                </p:cNvPr>
                <p:cNvCxnSpPr>
                  <a:cxnSpLocks/>
                  <a:stCxn id="65" idx="1"/>
                  <a:endCxn id="65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1B9B0D0E-2306-B347-2326-E568AF307709}"/>
                  </a:ext>
                </a:extLst>
              </p:cNvPr>
              <p:cNvCxnSpPr>
                <a:cxnSpLocks/>
                <a:stCxn id="65" idx="7"/>
                <a:endCxn id="65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8AD68F2F-7DA4-513D-983D-D95794E45FD4}"/>
                </a:ext>
              </a:extLst>
            </p:cNvPr>
            <p:cNvGrpSpPr/>
            <p:nvPr/>
          </p:nvGrpSpPr>
          <p:grpSpPr>
            <a:xfrm>
              <a:off x="7714433" y="925273"/>
              <a:ext cx="720000" cy="720000"/>
              <a:chOff x="6761719" y="2703766"/>
              <a:chExt cx="720000" cy="720000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88171BFA-F2D1-C192-5158-DD339029134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761719" y="2703766"/>
                <a:ext cx="720000" cy="720000"/>
                <a:chOff x="6775429" y="2703766"/>
                <a:chExt cx="720000" cy="720000"/>
              </a:xfrm>
            </p:grpSpPr>
            <p:sp>
              <p:nvSpPr>
                <p:cNvPr id="56" name="圆: 空心 55">
                  <a:extLst>
                    <a:ext uri="{FF2B5EF4-FFF2-40B4-BE49-F238E27FC236}">
                      <a16:creationId xmlns:a16="http://schemas.microsoft.com/office/drawing/2014/main" id="{56190BDE-8013-EC9B-09A4-5352C4C6F4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75429" y="2703766"/>
                  <a:ext cx="720000" cy="720000"/>
                </a:xfrm>
                <a:prstGeom prst="donut">
                  <a:avLst>
                    <a:gd name="adj" fmla="val 13711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255ABD28-9599-2421-FB6A-ABA43F567729}"/>
                    </a:ext>
                  </a:extLst>
                </p:cNvPr>
                <p:cNvCxnSpPr>
                  <a:cxnSpLocks/>
                  <a:stCxn id="56" idx="1"/>
                  <a:endCxn id="56" idx="5"/>
                </p:cNvCxnSpPr>
                <p:nvPr/>
              </p:nvCxnSpPr>
              <p:spPr>
                <a:xfrm>
                  <a:off x="6880871" y="2809208"/>
                  <a:ext cx="509116" cy="509116"/>
                </a:xfrm>
                <a:prstGeom prst="line">
                  <a:avLst/>
                </a:prstGeom>
                <a:ln w="76200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4211EFC9-A0BF-87DB-0766-F670E6A0DCE2}"/>
                  </a:ext>
                </a:extLst>
              </p:cNvPr>
              <p:cNvCxnSpPr>
                <a:cxnSpLocks/>
                <a:stCxn id="56" idx="7"/>
                <a:endCxn id="56" idx="3"/>
              </p:cNvCxnSpPr>
              <p:nvPr/>
            </p:nvCxnSpPr>
            <p:spPr>
              <a:xfrm flipH="1">
                <a:off x="6867161" y="2809208"/>
                <a:ext cx="509116" cy="509116"/>
              </a:xfrm>
              <a:prstGeom prst="line">
                <a:avLst/>
              </a:prstGeom>
              <a:ln w="762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7A4150-D0B7-46F9-A382-317A0E730351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B4E9C9F6-473B-DF23-EB4C-3F796C84FEE6}"/>
              </a:ext>
            </a:extLst>
          </p:cNvPr>
          <p:cNvSpPr>
            <a:spLocks noChangeAspect="1"/>
          </p:cNvSpPr>
          <p:nvPr/>
        </p:nvSpPr>
        <p:spPr>
          <a:xfrm>
            <a:off x="8962632" y="2824494"/>
            <a:ext cx="1620000" cy="1620000"/>
          </a:xfrm>
          <a:prstGeom prst="ellipse">
            <a:avLst/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/>
              </a:rPr>
              <a:t>基于公钥加密的框架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DA0D49F-A19A-DCA4-7C93-19CE0BF9DA5C}"/>
              </a:ext>
            </a:extLst>
          </p:cNvPr>
          <p:cNvSpPr txBox="1">
            <a:spLocks/>
          </p:cNvSpPr>
          <p:nvPr/>
        </p:nvSpPr>
        <p:spPr>
          <a:xfrm>
            <a:off x="11499121" y="6324600"/>
            <a:ext cx="685800" cy="533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 rtl="0" eaLnBrk="1" fontAlgn="auto" hangingPunct="1">
              <a:spcBef>
                <a:spcPts val="0"/>
              </a:spcBef>
              <a:spcAft>
                <a:spcPts val="0"/>
              </a:spcAft>
              <a:defRPr sz="1200" kern="1200">
                <a:solidFill>
                  <a:prstClr val="black">
                    <a:tint val="75000"/>
                  </a:prstClr>
                </a:solidFill>
                <a:latin typeface="微软雅黑 Light"/>
                <a:ea typeface="微软雅黑 Light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黑体" charset="-122"/>
                <a:cs typeface="+mn-cs"/>
              </a:defRPr>
            </a:lvl9pPr>
          </a:lstStyle>
          <a:p>
            <a:pPr algn="r">
              <a:defRPr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4/11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4F9D9A-323E-6ACF-EB4D-9369CD68269C}"/>
              </a:ext>
            </a:extLst>
          </p:cNvPr>
          <p:cNvSpPr txBox="1"/>
          <p:nvPr/>
        </p:nvSpPr>
        <p:spPr>
          <a:xfrm>
            <a:off x="6635542" y="1804473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性能提升</a:t>
            </a:r>
          </a:p>
        </p:txBody>
      </p:sp>
      <p:sp>
        <p:nvSpPr>
          <p:cNvPr id="23" name="箭头: 虚尾 22">
            <a:extLst>
              <a:ext uri="{FF2B5EF4-FFF2-40B4-BE49-F238E27FC236}">
                <a16:creationId xmlns:a16="http://schemas.microsoft.com/office/drawing/2014/main" id="{CD227CC1-C644-B7D9-7B3B-D9221ED8B174}"/>
              </a:ext>
            </a:extLst>
          </p:cNvPr>
          <p:cNvSpPr/>
          <p:nvPr/>
        </p:nvSpPr>
        <p:spPr>
          <a:xfrm rot="16200000">
            <a:off x="9386649" y="4384598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3B3D678-146C-7BA1-2A21-52CD25A9188D}"/>
              </a:ext>
            </a:extLst>
          </p:cNvPr>
          <p:cNvSpPr/>
          <p:nvPr/>
        </p:nvSpPr>
        <p:spPr>
          <a:xfrm>
            <a:off x="1744759" y="3556252"/>
            <a:ext cx="2145190" cy="839248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基于公钥的超线性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[GNT24]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AA7833C-3CC4-E4DA-B256-C70516250DBA}"/>
              </a:ext>
            </a:extLst>
          </p:cNvPr>
          <p:cNvSpPr txBox="1"/>
          <p:nvPr/>
        </p:nvSpPr>
        <p:spPr>
          <a:xfrm>
            <a:off x="-561808" y="3823452"/>
            <a:ext cx="304628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研究起点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B00651A-65F7-CA81-DADF-A0F9A3FB07C1}"/>
                  </a:ext>
                </a:extLst>
              </p:cNvPr>
              <p:cNvSpPr txBox="1"/>
              <p:nvPr/>
            </p:nvSpPr>
            <p:spPr>
              <a:xfrm>
                <a:off x="6635542" y="2335215"/>
                <a:ext cx="5091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B00651A-65F7-CA81-DADF-A0F9A3FB0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542" y="2335215"/>
                <a:ext cx="50916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F704CF-DF57-307C-24EE-DE671B3E8D09}"/>
              </a:ext>
            </a:extLst>
          </p:cNvPr>
          <p:cNvSpPr/>
          <p:nvPr/>
        </p:nvSpPr>
        <p:spPr>
          <a:xfrm>
            <a:off x="7113076" y="2308519"/>
            <a:ext cx="1679030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秘密分享的隐私等值测试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35F7FD3-F0AB-1F54-B1B0-3A2B6C916F11}"/>
              </a:ext>
            </a:extLst>
          </p:cNvPr>
          <p:cNvSpPr/>
          <p:nvPr/>
        </p:nvSpPr>
        <p:spPr>
          <a:xfrm>
            <a:off x="5967949" y="1062967"/>
            <a:ext cx="1793734" cy="718490"/>
          </a:xfrm>
          <a:prstGeom prst="roundRect">
            <a:avLst/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批量秘密分享隐私成员测试协议</a:t>
            </a:r>
          </a:p>
        </p:txBody>
      </p:sp>
      <p:sp>
        <p:nvSpPr>
          <p:cNvPr id="40" name="箭头: 虚尾 39">
            <a:extLst>
              <a:ext uri="{FF2B5EF4-FFF2-40B4-BE49-F238E27FC236}">
                <a16:creationId xmlns:a16="http://schemas.microsoft.com/office/drawing/2014/main" id="{40728AEE-77DF-EB23-0947-26F41AA87B44}"/>
              </a:ext>
            </a:extLst>
          </p:cNvPr>
          <p:cNvSpPr/>
          <p:nvPr/>
        </p:nvSpPr>
        <p:spPr>
          <a:xfrm rot="16200000">
            <a:off x="6741984" y="1554765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25C06C4-1C0A-0CD8-ED1C-A894F23B3564}"/>
              </a:ext>
            </a:extLst>
          </p:cNvPr>
          <p:cNvSpPr/>
          <p:nvPr/>
        </p:nvSpPr>
        <p:spPr>
          <a:xfrm>
            <a:off x="5020181" y="2308519"/>
            <a:ext cx="1686334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批量不经意可编程伪随机函数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D3EE966-12F9-9BCF-FA10-60A3EBF108C0}"/>
              </a:ext>
            </a:extLst>
          </p:cNvPr>
          <p:cNvSpPr/>
          <p:nvPr/>
        </p:nvSpPr>
        <p:spPr>
          <a:xfrm>
            <a:off x="4867499" y="2222043"/>
            <a:ext cx="4075926" cy="766408"/>
          </a:xfrm>
          <a:prstGeom prst="roundRect">
            <a:avLst/>
          </a:prstGeom>
          <a:noFill/>
          <a:ln w="317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D2913FB-7FFC-1C20-7909-33C3FCF4BC63}"/>
              </a:ext>
            </a:extLst>
          </p:cNvPr>
          <p:cNvSpPr txBox="1"/>
          <p:nvPr/>
        </p:nvSpPr>
        <p:spPr>
          <a:xfrm>
            <a:off x="4271664" y="1858348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轻量级实例化</a:t>
            </a:r>
          </a:p>
        </p:txBody>
      </p:sp>
      <p:sp>
        <p:nvSpPr>
          <p:cNvPr id="48" name="箭头: 虚尾 47">
            <a:extLst>
              <a:ext uri="{FF2B5EF4-FFF2-40B4-BE49-F238E27FC236}">
                <a16:creationId xmlns:a16="http://schemas.microsoft.com/office/drawing/2014/main" id="{409E72D1-4F9B-B259-401B-5B60D2470200}"/>
              </a:ext>
            </a:extLst>
          </p:cNvPr>
          <p:cNvSpPr/>
          <p:nvPr/>
        </p:nvSpPr>
        <p:spPr>
          <a:xfrm>
            <a:off x="7992067" y="906808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虚尾箭头 14">
            <a:extLst>
              <a:ext uri="{FF2B5EF4-FFF2-40B4-BE49-F238E27FC236}">
                <a16:creationId xmlns:a16="http://schemas.microsoft.com/office/drawing/2014/main" id="{2B4AE74C-0954-199E-E8E2-E86DEB10166A}"/>
              </a:ext>
            </a:extLst>
          </p:cNvPr>
          <p:cNvSpPr/>
          <p:nvPr/>
        </p:nvSpPr>
        <p:spPr>
          <a:xfrm>
            <a:off x="4792257" y="3454400"/>
            <a:ext cx="2877643" cy="322288"/>
          </a:xfrm>
          <a:prstGeom prst="stripedRightArrow">
            <a:avLst>
              <a:gd name="adj1" fmla="val 49999"/>
              <a:gd name="adj2" fmla="val 75207"/>
            </a:avLst>
          </a:prstGeom>
          <a:solidFill>
            <a:srgbClr val="C00000">
              <a:alpha val="8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DE5DABF-BEC2-FB79-A44C-A79E42A9BB77}"/>
              </a:ext>
            </a:extLst>
          </p:cNvPr>
          <p:cNvSpPr txBox="1"/>
          <p:nvPr/>
        </p:nvSpPr>
        <p:spPr>
          <a:xfrm>
            <a:off x="2680438" y="3100572"/>
            <a:ext cx="6862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抽象出</a:t>
            </a:r>
          </a:p>
        </p:txBody>
      </p:sp>
      <p:sp>
        <p:nvSpPr>
          <p:cNvPr id="52" name="箭头: 虚尾 51">
            <a:extLst>
              <a:ext uri="{FF2B5EF4-FFF2-40B4-BE49-F238E27FC236}">
                <a16:creationId xmlns:a16="http://schemas.microsoft.com/office/drawing/2014/main" id="{CAFE5FB0-63CD-C0FD-E97A-13316980CBE3}"/>
              </a:ext>
            </a:extLst>
          </p:cNvPr>
          <p:cNvSpPr/>
          <p:nvPr/>
        </p:nvSpPr>
        <p:spPr>
          <a:xfrm rot="16200000">
            <a:off x="2402167" y="2605923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3862D26-BDAD-FBBB-3B32-2A8EA0191E2F}"/>
              </a:ext>
            </a:extLst>
          </p:cNvPr>
          <p:cNvSpPr txBox="1"/>
          <p:nvPr/>
        </p:nvSpPr>
        <p:spPr>
          <a:xfrm>
            <a:off x="546447" y="2965616"/>
            <a:ext cx="6862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超线性复杂度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58FBE0B-BB1C-44FA-B242-142E645DD80B}"/>
              </a:ext>
            </a:extLst>
          </p:cNvPr>
          <p:cNvSpPr/>
          <p:nvPr/>
        </p:nvSpPr>
        <p:spPr>
          <a:xfrm>
            <a:off x="1887179" y="1928203"/>
            <a:ext cx="1835441" cy="718490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不安全且超线性的密文计算阶段</a:t>
            </a:r>
          </a:p>
        </p:txBody>
      </p:sp>
      <p:sp>
        <p:nvSpPr>
          <p:cNvPr id="60" name="箭头: 虚尾 59">
            <a:extLst>
              <a:ext uri="{FF2B5EF4-FFF2-40B4-BE49-F238E27FC236}">
                <a16:creationId xmlns:a16="http://schemas.microsoft.com/office/drawing/2014/main" id="{6E112E37-CEA5-A43E-8ADF-789E61989F98}"/>
              </a:ext>
            </a:extLst>
          </p:cNvPr>
          <p:cNvSpPr/>
          <p:nvPr/>
        </p:nvSpPr>
        <p:spPr>
          <a:xfrm rot="5400000">
            <a:off x="2402164" y="4376479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4B97A81-ADD0-F8CC-C6E2-BE3129458BAD}"/>
              </a:ext>
            </a:extLst>
          </p:cNvPr>
          <p:cNvSpPr txBox="1"/>
          <p:nvPr/>
        </p:nvSpPr>
        <p:spPr>
          <a:xfrm>
            <a:off x="-1670314" y="2950531"/>
            <a:ext cx="6862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安全性问题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09007D6-21AE-C2C4-6B4C-4917CCAE96E8}"/>
              </a:ext>
            </a:extLst>
          </p:cNvPr>
          <p:cNvSpPr txBox="1"/>
          <p:nvPr/>
        </p:nvSpPr>
        <p:spPr>
          <a:xfrm>
            <a:off x="2492588" y="860612"/>
            <a:ext cx="30462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依赖非共谋假设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无法抵御共谋攻击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D9447DE5-0B1B-3493-EC21-9CB8B1DE972A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方案二</a:t>
            </a:r>
            <a:r>
              <a:rPr kumimoji="1" lang="en-US" altLang="zh-CN" sz="3600" b="1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kumimoji="1" lang="zh-CN" altLang="en-US" sz="3600" b="1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基于公钥操作的线性 </a:t>
            </a:r>
            <a:r>
              <a:rPr kumimoji="1" lang="en-US" altLang="zh-CN" sz="3600" b="1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MPSU </a:t>
            </a:r>
            <a:r>
              <a:rPr kumimoji="1" lang="zh-CN" altLang="en-US" sz="3600" b="1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协议</a:t>
            </a:r>
            <a:endParaRPr kumimoji="1" lang="zh-CN" altLang="en-US" sz="3600" b="1" dirty="0">
              <a:solidFill>
                <a:srgbClr val="8F0F16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C2D7D0-F306-0022-5689-C87652B9D319}"/>
              </a:ext>
            </a:extLst>
          </p:cNvPr>
          <p:cNvSpPr/>
          <p:nvPr/>
        </p:nvSpPr>
        <p:spPr>
          <a:xfrm>
            <a:off x="8994424" y="1211829"/>
            <a:ext cx="1556414" cy="71849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安全且线性的密文计算阶段</a:t>
            </a:r>
          </a:p>
        </p:txBody>
      </p:sp>
      <p:sp>
        <p:nvSpPr>
          <p:cNvPr id="11" name="箭头: 虚尾 10">
            <a:extLst>
              <a:ext uri="{FF2B5EF4-FFF2-40B4-BE49-F238E27FC236}">
                <a16:creationId xmlns:a16="http://schemas.microsoft.com/office/drawing/2014/main" id="{E68D8772-4E24-4B8C-0E58-F14AB7A68C2C}"/>
              </a:ext>
            </a:extLst>
          </p:cNvPr>
          <p:cNvSpPr/>
          <p:nvPr/>
        </p:nvSpPr>
        <p:spPr>
          <a:xfrm rot="5400000">
            <a:off x="9407013" y="1923022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C768FF5-AD76-C782-F3CD-CB1A76F0C18F}"/>
              </a:ext>
            </a:extLst>
          </p:cNvPr>
          <p:cNvSpPr/>
          <p:nvPr/>
        </p:nvSpPr>
        <p:spPr>
          <a:xfrm>
            <a:off x="2110443" y="5299837"/>
            <a:ext cx="1388911" cy="718490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协作解密与洗牌阶段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BE73B1-8D7D-46FC-6F08-00B40FB228D2}"/>
              </a:ext>
            </a:extLst>
          </p:cNvPr>
          <p:cNvSpPr txBox="1"/>
          <p:nvPr/>
        </p:nvSpPr>
        <p:spPr>
          <a:xfrm>
            <a:off x="9343131" y="2098352"/>
            <a:ext cx="304628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安全性提升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8099DE7-72CB-A5A5-D176-B2D74549B392}"/>
              </a:ext>
            </a:extLst>
          </p:cNvPr>
          <p:cNvSpPr/>
          <p:nvPr/>
        </p:nvSpPr>
        <p:spPr>
          <a:xfrm>
            <a:off x="5457201" y="5261695"/>
            <a:ext cx="1951558" cy="71849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多密钥可重随机化的公钥加密方案</a:t>
            </a:r>
          </a:p>
        </p:txBody>
      </p:sp>
      <p:sp>
        <p:nvSpPr>
          <p:cNvPr id="16" name="箭头: 虚尾 15">
            <a:extLst>
              <a:ext uri="{FF2B5EF4-FFF2-40B4-BE49-F238E27FC236}">
                <a16:creationId xmlns:a16="http://schemas.microsoft.com/office/drawing/2014/main" id="{9D1393AF-E0B3-2F40-AA38-10F8A9789401}"/>
              </a:ext>
            </a:extLst>
          </p:cNvPr>
          <p:cNvSpPr/>
          <p:nvPr/>
        </p:nvSpPr>
        <p:spPr>
          <a:xfrm rot="10800000">
            <a:off x="4262223" y="5153091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7184D2-9E4E-27C4-DD15-FCD67D578778}"/>
              </a:ext>
            </a:extLst>
          </p:cNvPr>
          <p:cNvSpPr txBox="1"/>
          <p:nvPr/>
        </p:nvSpPr>
        <p:spPr>
          <a:xfrm>
            <a:off x="3072715" y="4909093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E29B744-1C70-DF5E-33DD-3A6E77D718BA}"/>
              </a:ext>
            </a:extLst>
          </p:cNvPr>
          <p:cNvSpPr/>
          <p:nvPr/>
        </p:nvSpPr>
        <p:spPr>
          <a:xfrm>
            <a:off x="9078175" y="5286926"/>
            <a:ext cx="1388911" cy="718490"/>
          </a:xfrm>
          <a:prstGeom prst="roundRect">
            <a:avLst/>
          </a:prstGeom>
          <a:solidFill>
            <a:srgbClr val="EB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 anchorCtr="1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协作解密与洗牌阶段</a:t>
            </a:r>
          </a:p>
        </p:txBody>
      </p:sp>
      <p:sp>
        <p:nvSpPr>
          <p:cNvPr id="24" name="箭头: 虚尾 23">
            <a:extLst>
              <a:ext uri="{FF2B5EF4-FFF2-40B4-BE49-F238E27FC236}">
                <a16:creationId xmlns:a16="http://schemas.microsoft.com/office/drawing/2014/main" id="{ECC7428A-588F-C973-D37B-036D2622EA06}"/>
              </a:ext>
            </a:extLst>
          </p:cNvPr>
          <p:cNvSpPr/>
          <p:nvPr/>
        </p:nvSpPr>
        <p:spPr>
          <a:xfrm>
            <a:off x="7952591" y="5137400"/>
            <a:ext cx="771972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C613797-29CE-7686-BD72-B27CD4DD371F}"/>
              </a:ext>
            </a:extLst>
          </p:cNvPr>
          <p:cNvSpPr txBox="1"/>
          <p:nvPr/>
        </p:nvSpPr>
        <p:spPr>
          <a:xfrm>
            <a:off x="6767139" y="4916612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线性复杂度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132E77FF-517E-00C7-D806-31759663C6EF}"/>
              </a:ext>
            </a:extLst>
          </p:cNvPr>
          <p:cNvSpPr/>
          <p:nvPr/>
        </p:nvSpPr>
        <p:spPr>
          <a:xfrm>
            <a:off x="5663418" y="4323847"/>
            <a:ext cx="1539123" cy="46114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ElGamal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110" name="箭头: 虚尾 109">
            <a:extLst>
              <a:ext uri="{FF2B5EF4-FFF2-40B4-BE49-F238E27FC236}">
                <a16:creationId xmlns:a16="http://schemas.microsoft.com/office/drawing/2014/main" id="{05B111BB-E41B-DFE3-63C3-45DA85A429FF}"/>
              </a:ext>
            </a:extLst>
          </p:cNvPr>
          <p:cNvSpPr/>
          <p:nvPr/>
        </p:nvSpPr>
        <p:spPr>
          <a:xfrm rot="5400000">
            <a:off x="6228599" y="4564912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46ED13E-7448-3901-6CFC-C1F57C2E6744}"/>
              </a:ext>
            </a:extLst>
          </p:cNvPr>
          <p:cNvSpPr txBox="1"/>
          <p:nvPr/>
        </p:nvSpPr>
        <p:spPr>
          <a:xfrm>
            <a:off x="5215871" y="4756030"/>
            <a:ext cx="7030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6265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E57E-8665-49EF-E146-3F53023A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DCFAD25-F8FA-5282-1AD9-C0CE4411333C}"/>
              </a:ext>
            </a:extLst>
          </p:cNvPr>
          <p:cNvSpPr/>
          <p:nvPr/>
        </p:nvSpPr>
        <p:spPr>
          <a:xfrm>
            <a:off x="207226" y="1984727"/>
            <a:ext cx="6050954" cy="3764139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B97015C8-C5CC-0EC4-21CE-6CFCAFB9C01C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MPSU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框架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58B5792A-103F-A49D-1896-CA1585A202FA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EE7196C5-CFC8-01C1-9D00-119D6D08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07" y="2127918"/>
            <a:ext cx="4223394" cy="19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BD92-A66F-4DC6-671A-016C025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DA2A2B0-AE4A-AE38-1F4F-7B15F746FBB4}"/>
              </a:ext>
            </a:extLst>
          </p:cNvPr>
          <p:cNvSpPr/>
          <p:nvPr/>
        </p:nvSpPr>
        <p:spPr>
          <a:xfrm>
            <a:off x="6889392" y="1924359"/>
            <a:ext cx="4946361" cy="4709353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73CBA2F-897E-4505-E2F7-80B6408A1A14}"/>
              </a:ext>
            </a:extLst>
          </p:cNvPr>
          <p:cNvSpPr/>
          <p:nvPr/>
        </p:nvSpPr>
        <p:spPr>
          <a:xfrm>
            <a:off x="476400" y="1916227"/>
            <a:ext cx="6050954" cy="4717485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F558A4-4E41-9165-BD4F-A8040CF092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9" b="2895"/>
          <a:stretch>
            <a:fillRect/>
          </a:stretch>
        </p:blipFill>
        <p:spPr>
          <a:xfrm>
            <a:off x="658809" y="2531809"/>
            <a:ext cx="5723618" cy="1766983"/>
          </a:xfrm>
          <a:prstGeom prst="rect">
            <a:avLst/>
          </a:prstGeom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CDAED006-8929-6F46-66AC-3DB5EA0E0B81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基于秘密分享的 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MPSU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框架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6F4169D0-03A6-3A03-2C68-76046C401767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84A86C3-CF07-3AC6-50CD-C621D01359BF}"/>
              </a:ext>
            </a:extLst>
          </p:cNvPr>
          <p:cNvSpPr/>
          <p:nvPr/>
        </p:nvSpPr>
        <p:spPr>
          <a:xfrm>
            <a:off x="1975789" y="962355"/>
            <a:ext cx="8463611" cy="6413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现有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唯一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的基于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和和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对称密钥操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作的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MPSU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协议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[LG23]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同侧圆角矩形 12">
            <a:extLst>
              <a:ext uri="{FF2B5EF4-FFF2-40B4-BE49-F238E27FC236}">
                <a16:creationId xmlns:a16="http://schemas.microsoft.com/office/drawing/2014/main" id="{0FA47A64-0D9F-9442-AA8A-55778FBD862C}"/>
              </a:ext>
            </a:extLst>
          </p:cNvPr>
          <p:cNvSpPr/>
          <p:nvPr/>
        </p:nvSpPr>
        <p:spPr>
          <a:xfrm rot="16200000">
            <a:off x="978876" y="606749"/>
            <a:ext cx="629811" cy="1364016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研究起点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4A97B2-7784-463F-67BC-A91D450AF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9" r="996"/>
          <a:stretch>
            <a:fillRect/>
          </a:stretch>
        </p:blipFill>
        <p:spPr>
          <a:xfrm>
            <a:off x="579761" y="4610903"/>
            <a:ext cx="5881713" cy="17669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FA0A8FD-3EB2-883D-E38A-0A8DCB2D1F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82" r="2969"/>
          <a:stretch>
            <a:fillRect/>
          </a:stretch>
        </p:blipFill>
        <p:spPr>
          <a:xfrm>
            <a:off x="7098554" y="2367129"/>
            <a:ext cx="4561067" cy="24105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6E3E446-CFA5-0538-3DEC-8A79A8E097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8" t="28051" r="2939" b="2092"/>
          <a:stretch>
            <a:fillRect/>
          </a:stretch>
        </p:blipFill>
        <p:spPr>
          <a:xfrm>
            <a:off x="7098555" y="4682805"/>
            <a:ext cx="4561066" cy="16231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82C3DAA-0BEF-04F7-2810-264176B04054}"/>
              </a:ext>
            </a:extLst>
          </p:cNvPr>
          <p:cNvSpPr txBox="1"/>
          <p:nvPr/>
        </p:nvSpPr>
        <p:spPr>
          <a:xfrm>
            <a:off x="1716856" y="1945689"/>
            <a:ext cx="6201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并集划分中各子集的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秘密分享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6D5460-78A6-FB97-ADFA-D3926746C091}"/>
              </a:ext>
            </a:extLst>
          </p:cNvPr>
          <p:cNvSpPr txBox="1"/>
          <p:nvPr/>
        </p:nvSpPr>
        <p:spPr>
          <a:xfrm>
            <a:off x="8142975" y="1944215"/>
            <a:ext cx="6201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所有秘密分享的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洗牌</a:t>
            </a:r>
            <a:r>
              <a:rPr lang="zh-CN" altLang="en-US" sz="2000" b="1" dirty="0"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重构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6" name="对角圆角矩形 25">
            <a:extLst>
              <a:ext uri="{FF2B5EF4-FFF2-40B4-BE49-F238E27FC236}">
                <a16:creationId xmlns:a16="http://schemas.microsoft.com/office/drawing/2014/main" id="{F1213BF5-EDDA-F816-FADB-3DDDB94E8636}"/>
              </a:ext>
            </a:extLst>
          </p:cNvPr>
          <p:cNvSpPr/>
          <p:nvPr/>
        </p:nvSpPr>
        <p:spPr>
          <a:xfrm>
            <a:off x="476400" y="1916226"/>
            <a:ext cx="1136741" cy="38711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E6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阶段一</a:t>
            </a:r>
          </a:p>
        </p:txBody>
      </p:sp>
      <p:sp>
        <p:nvSpPr>
          <p:cNvPr id="10" name="对角圆角矩形 25">
            <a:extLst>
              <a:ext uri="{FF2B5EF4-FFF2-40B4-BE49-F238E27FC236}">
                <a16:creationId xmlns:a16="http://schemas.microsoft.com/office/drawing/2014/main" id="{8A858AC2-DD45-78B3-DF74-E4266A816979}"/>
              </a:ext>
            </a:extLst>
          </p:cNvPr>
          <p:cNvSpPr/>
          <p:nvPr/>
        </p:nvSpPr>
        <p:spPr>
          <a:xfrm>
            <a:off x="6885662" y="1916227"/>
            <a:ext cx="1136741" cy="38711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1E6A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</a:rPr>
              <a:t>阶段二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1E7254-C2F3-C9A5-F2F1-6C453A98DADC}"/>
                  </a:ext>
                </a:extLst>
              </p:cNvPr>
              <p:cNvSpPr txBox="1"/>
              <p:nvPr/>
            </p:nvSpPr>
            <p:spPr>
              <a:xfrm>
                <a:off x="650934" y="2308573"/>
                <a:ext cx="72677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对子集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altLang="zh-CN" sz="1600" b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的秘密分享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1E7254-C2F3-C9A5-F2F1-6C453A98D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34" y="2308573"/>
                <a:ext cx="7267754" cy="338554"/>
              </a:xfrm>
              <a:prstGeom prst="rect">
                <a:avLst/>
              </a:prstGeom>
              <a:blipFill>
                <a:blip r:embed="rId6"/>
                <a:stretch>
                  <a:fillRect l="-503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61D37CB-A589-0D3D-4E2F-AB52D1B430DA}"/>
                  </a:ext>
                </a:extLst>
              </p:cNvPr>
              <p:cNvSpPr txBox="1"/>
              <p:nvPr/>
            </p:nvSpPr>
            <p:spPr>
              <a:xfrm>
                <a:off x="650934" y="4372618"/>
                <a:ext cx="72677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对子集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Z</m:t>
                    </m:r>
                    <m:r>
                      <a:rPr lang="en-US" altLang="zh-CN" sz="1600" b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Y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的秘密分享</a:t>
                </a: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61D37CB-A589-0D3D-4E2F-AB52D1B43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34" y="4372618"/>
                <a:ext cx="7267754" cy="338554"/>
              </a:xfrm>
              <a:prstGeom prst="rect">
                <a:avLst/>
              </a:prstGeom>
              <a:blipFill>
                <a:blip r:embed="rId7"/>
                <a:stretch>
                  <a:fillRect l="-503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7385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4068-43B8-41B0-B10F-8D65CA3D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3CBA2F-897E-4505-E2F7-80B6408A1A14}"/>
              </a:ext>
            </a:extLst>
          </p:cNvPr>
          <p:cNvSpPr/>
          <p:nvPr/>
        </p:nvSpPr>
        <p:spPr>
          <a:xfrm>
            <a:off x="374321" y="2295417"/>
            <a:ext cx="6050954" cy="4384783"/>
          </a:xfrm>
          <a:prstGeom prst="roundRect">
            <a:avLst>
              <a:gd name="adj" fmla="val 5832"/>
            </a:avLst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zh-CN" altLang="en-US" sz="24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41E7254-C2F3-C9A5-F2F1-6C453A98DADC}"/>
                  </a:ext>
                </a:extLst>
              </p:cNvPr>
              <p:cNvSpPr txBox="1"/>
              <p:nvPr/>
            </p:nvSpPr>
            <p:spPr>
              <a:xfrm>
                <a:off x="548855" y="2295417"/>
                <a:ext cx="72677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对子集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Y</m:t>
                    </m:r>
                    <m:r>
                      <a:rPr lang="en-US" altLang="zh-CN" sz="1600" b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的秘密分享</a:t>
                </a: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41E7254-C2F3-C9A5-F2F1-6C453A98D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5" y="2295417"/>
                <a:ext cx="7267754" cy="338554"/>
              </a:xfrm>
              <a:prstGeom prst="rect">
                <a:avLst/>
              </a:prstGeom>
              <a:blipFill>
                <a:blip r:embed="rId2"/>
                <a:stretch>
                  <a:fillRect l="-419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61D37CB-A589-0D3D-4E2F-AB52D1B430DA}"/>
                  </a:ext>
                </a:extLst>
              </p:cNvPr>
              <p:cNvSpPr txBox="1"/>
              <p:nvPr/>
            </p:nvSpPr>
            <p:spPr>
              <a:xfrm>
                <a:off x="548855" y="4511561"/>
                <a:ext cx="72677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对子集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Z</m:t>
                    </m:r>
                    <m:r>
                      <a:rPr lang="en-US" altLang="zh-CN" sz="1600" b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1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∖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Y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的秘密分享</a:t>
                </a:r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61D37CB-A589-0D3D-4E2F-AB52D1B43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5" y="4511561"/>
                <a:ext cx="7267754" cy="338554"/>
              </a:xfrm>
              <a:prstGeom prst="rect">
                <a:avLst/>
              </a:prstGeom>
              <a:blipFill>
                <a:blip r:embed="rId3"/>
                <a:stretch>
                  <a:fillRect l="-419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4">
            <a:extLst>
              <a:ext uri="{FF2B5EF4-FFF2-40B4-BE49-F238E27FC236}">
                <a16:creationId xmlns:a16="http://schemas.microsoft.com/office/drawing/2014/main" id="{E463E4B4-302A-9BC3-4AD5-74FA870CA90F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LG23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协议的两大痛点及解决方案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B2E14F15-85CE-6D7F-DD7D-AF76F182564D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CCFE3EA4-7833-B63D-EE98-8B57E9776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32" y="2614421"/>
            <a:ext cx="5632935" cy="18717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FD7AF65-D0B6-D94B-181D-E516F60A4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32" y="4850115"/>
            <a:ext cx="5814602" cy="1764020"/>
          </a:xfrm>
          <a:prstGeom prst="rect">
            <a:avLst/>
          </a:prstGeom>
        </p:spPr>
      </p:pic>
      <p:pic>
        <p:nvPicPr>
          <p:cNvPr id="37" name="图形 36" descr="无填充的悲伤表情">
            <a:extLst>
              <a:ext uri="{FF2B5EF4-FFF2-40B4-BE49-F238E27FC236}">
                <a16:creationId xmlns:a16="http://schemas.microsoft.com/office/drawing/2014/main" id="{E3E4FCDC-701E-2266-844E-0E33F57F2B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7740" y="948660"/>
            <a:ext cx="536854" cy="536854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D39C5A5-FC91-276B-5C3A-88935A8F6B2C}"/>
              </a:ext>
            </a:extLst>
          </p:cNvPr>
          <p:cNvSpPr/>
          <p:nvPr/>
        </p:nvSpPr>
        <p:spPr>
          <a:xfrm>
            <a:off x="1738336" y="924678"/>
            <a:ext cx="8972404" cy="544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核心组件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mq-ssPMT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实例化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严重依赖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通用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MPC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，成为协议的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性能瓶颈</a:t>
            </a:r>
          </a:p>
        </p:txBody>
      </p:sp>
      <p:sp>
        <p:nvSpPr>
          <p:cNvPr id="41" name="同侧圆角矩形 12">
            <a:extLst>
              <a:ext uri="{FF2B5EF4-FFF2-40B4-BE49-F238E27FC236}">
                <a16:creationId xmlns:a16="http://schemas.microsoft.com/office/drawing/2014/main" id="{FAAE1945-4DDB-AFBB-EF1A-AAC7B58D2622}"/>
              </a:ext>
            </a:extLst>
          </p:cNvPr>
          <p:cNvSpPr/>
          <p:nvPr/>
        </p:nvSpPr>
        <p:spPr>
          <a:xfrm rot="16200000">
            <a:off x="789135" y="521360"/>
            <a:ext cx="534388" cy="1364016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痛点一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30CE688-7F62-31DC-5C60-176A5A7D0A02}"/>
              </a:ext>
            </a:extLst>
          </p:cNvPr>
          <p:cNvSpPr/>
          <p:nvPr/>
        </p:nvSpPr>
        <p:spPr>
          <a:xfrm>
            <a:off x="1738336" y="1608305"/>
            <a:ext cx="9898884" cy="544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提出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轻量级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组件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batch </a:t>
            </a:r>
            <a:r>
              <a:rPr lang="en-US" altLang="zh-CN" sz="2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ssPMT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，结合哈希分桶可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安全替代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原协议中 </a:t>
            </a:r>
            <a:r>
              <a:rPr lang="en-US" altLang="zh-CN" sz="2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mq-ssPMT</a:t>
            </a:r>
            <a:endParaRPr lang="zh-CN" altLang="en-US" sz="2200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同侧圆角矩形 12">
            <a:extLst>
              <a:ext uri="{FF2B5EF4-FFF2-40B4-BE49-F238E27FC236}">
                <a16:creationId xmlns:a16="http://schemas.microsoft.com/office/drawing/2014/main" id="{6DFE978B-11FB-3A6A-673D-1B3ACBA2D428}"/>
              </a:ext>
            </a:extLst>
          </p:cNvPr>
          <p:cNvSpPr/>
          <p:nvPr/>
        </p:nvSpPr>
        <p:spPr>
          <a:xfrm rot="16200000">
            <a:off x="789135" y="1204987"/>
            <a:ext cx="534388" cy="1364016"/>
          </a:xfrm>
          <a:prstGeom prst="round2SameRect">
            <a:avLst>
              <a:gd name="adj1" fmla="val 8008"/>
              <a:gd name="adj2" fmla="val 0"/>
            </a:avLst>
          </a:prstGeom>
          <a:solidFill>
            <a:srgbClr val="548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Ins="36000" rtlCol="0" anchor="ctr"/>
          <a:lstStyle/>
          <a:p>
            <a:pPr algn="ctr">
              <a:lnSpc>
                <a:spcPct val="130000"/>
              </a:lnSpc>
            </a:pPr>
            <a:r>
              <a:rPr kumimoji="1" lang="zh-CN" altLang="en-US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B006867-033C-F01C-B785-808E8BA3D441}"/>
              </a:ext>
            </a:extLst>
          </p:cNvPr>
          <p:cNvSpPr/>
          <p:nvPr/>
        </p:nvSpPr>
        <p:spPr>
          <a:xfrm>
            <a:off x="487132" y="3329796"/>
            <a:ext cx="5745746" cy="41406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D7165BC-9899-D059-7EE6-C281A7E90596}"/>
              </a:ext>
            </a:extLst>
          </p:cNvPr>
          <p:cNvSpPr/>
          <p:nvPr/>
        </p:nvSpPr>
        <p:spPr>
          <a:xfrm>
            <a:off x="487132" y="5507759"/>
            <a:ext cx="5745746" cy="41406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4D6B004-3E23-BF96-4A3D-4CB8B634B035}"/>
                  </a:ext>
                </a:extLst>
              </p:cNvPr>
              <p:cNvSpPr txBox="1"/>
              <p:nvPr/>
            </p:nvSpPr>
            <p:spPr>
              <a:xfrm>
                <a:off x="8962890" y="5530910"/>
                <a:ext cx="509163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74D6B004-3E23-BF96-4A3D-4CB8B634B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890" y="5530910"/>
                <a:ext cx="509163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E1EFC25F-A6EF-A4A2-0192-8A61D09FED4F}"/>
              </a:ext>
            </a:extLst>
          </p:cNvPr>
          <p:cNvSpPr/>
          <p:nvPr/>
        </p:nvSpPr>
        <p:spPr>
          <a:xfrm>
            <a:off x="9440424" y="5504214"/>
            <a:ext cx="1679030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秘密分享的隐私等值测试</a:t>
            </a:r>
          </a:p>
        </p:txBody>
      </p:sp>
      <p:sp>
        <p:nvSpPr>
          <p:cNvPr id="55" name="箭头: 虚尾 54">
            <a:extLst>
              <a:ext uri="{FF2B5EF4-FFF2-40B4-BE49-F238E27FC236}">
                <a16:creationId xmlns:a16="http://schemas.microsoft.com/office/drawing/2014/main" id="{03D2B574-2DF5-5495-930A-FC41A37505E4}"/>
              </a:ext>
            </a:extLst>
          </p:cNvPr>
          <p:cNvSpPr/>
          <p:nvPr/>
        </p:nvSpPr>
        <p:spPr>
          <a:xfrm rot="16200000">
            <a:off x="8996668" y="4595471"/>
            <a:ext cx="411346" cy="942379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8EE42D3-6868-5804-132D-A763495BD7B3}"/>
              </a:ext>
            </a:extLst>
          </p:cNvPr>
          <p:cNvSpPr/>
          <p:nvPr/>
        </p:nvSpPr>
        <p:spPr>
          <a:xfrm>
            <a:off x="7347529" y="5504214"/>
            <a:ext cx="1686334" cy="59666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批量不经意可编程伪随机函数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9BD1C8AC-FC0A-5CA8-58E2-74DC2B58DDEA}"/>
              </a:ext>
            </a:extLst>
          </p:cNvPr>
          <p:cNvSpPr/>
          <p:nvPr/>
        </p:nvSpPr>
        <p:spPr>
          <a:xfrm>
            <a:off x="7194847" y="5417738"/>
            <a:ext cx="4075926" cy="766408"/>
          </a:xfrm>
          <a:prstGeom prst="roundRect">
            <a:avLst/>
          </a:prstGeom>
          <a:noFill/>
          <a:ln w="317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3A73785-059D-C598-BB53-677D4C5A8C93}"/>
              </a:ext>
            </a:extLst>
          </p:cNvPr>
          <p:cNvSpPr txBox="1"/>
          <p:nvPr/>
        </p:nvSpPr>
        <p:spPr>
          <a:xfrm>
            <a:off x="8960846" y="4964956"/>
            <a:ext cx="3046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轻量级实例化</a:t>
            </a:r>
          </a:p>
        </p:txBody>
      </p:sp>
      <p:sp>
        <p:nvSpPr>
          <p:cNvPr id="63" name="圆角矩形 1">
            <a:extLst>
              <a:ext uri="{FF2B5EF4-FFF2-40B4-BE49-F238E27FC236}">
                <a16:creationId xmlns:a16="http://schemas.microsoft.com/office/drawing/2014/main" id="{C82FC3D8-A4B6-B471-C728-D71997EB8BB7}"/>
              </a:ext>
            </a:extLst>
          </p:cNvPr>
          <p:cNvSpPr/>
          <p:nvPr/>
        </p:nvSpPr>
        <p:spPr>
          <a:xfrm>
            <a:off x="6294601" y="2374032"/>
            <a:ext cx="5825512" cy="2392817"/>
          </a:xfrm>
          <a:prstGeom prst="roundRect">
            <a:avLst>
              <a:gd name="adj" fmla="val 2391"/>
            </a:avLst>
          </a:prstGeom>
          <a:solidFill>
            <a:srgbClr val="1535A4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FAA0967-A03D-D86E-8150-4B7F5703A156}"/>
              </a:ext>
            </a:extLst>
          </p:cNvPr>
          <p:cNvSpPr txBox="1"/>
          <p:nvPr/>
        </p:nvSpPr>
        <p:spPr>
          <a:xfrm>
            <a:off x="7271520" y="2432649"/>
            <a:ext cx="3860856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批量秘密分享隐私成员测试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70" name="圆角矩形 3">
            <a:extLst>
              <a:ext uri="{FF2B5EF4-FFF2-40B4-BE49-F238E27FC236}">
                <a16:creationId xmlns:a16="http://schemas.microsoft.com/office/drawing/2014/main" id="{A95C5DCB-6C94-6F6D-88AB-2DE4E790E6B3}"/>
              </a:ext>
            </a:extLst>
          </p:cNvPr>
          <p:cNvSpPr/>
          <p:nvPr/>
        </p:nvSpPr>
        <p:spPr>
          <a:xfrm>
            <a:off x="6363551" y="2879864"/>
            <a:ext cx="5676795" cy="1805340"/>
          </a:xfrm>
          <a:prstGeom prst="roundRect">
            <a:avLst>
              <a:gd name="adj" fmla="val 2391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05000"/>
              </a:lnSpc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A8BE585C-900F-1BC1-4BE1-0EEB3D953F8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8343"/>
          <a:stretch>
            <a:fillRect/>
          </a:stretch>
        </p:blipFill>
        <p:spPr>
          <a:xfrm>
            <a:off x="6425275" y="3804414"/>
            <a:ext cx="5615072" cy="853344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05B5AEA9-76E3-B09F-EA78-1A04E0333C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882" b="61167"/>
          <a:stretch>
            <a:fillRect/>
          </a:stretch>
        </p:blipFill>
        <p:spPr>
          <a:xfrm>
            <a:off x="6425275" y="2967505"/>
            <a:ext cx="4547616" cy="836909"/>
          </a:xfrm>
          <a:prstGeom prst="rect">
            <a:avLst/>
          </a:prstGeom>
        </p:spPr>
      </p:pic>
      <p:sp>
        <p:nvSpPr>
          <p:cNvPr id="71" name="虚尾箭头 14">
            <a:extLst>
              <a:ext uri="{FF2B5EF4-FFF2-40B4-BE49-F238E27FC236}">
                <a16:creationId xmlns:a16="http://schemas.microsoft.com/office/drawing/2014/main" id="{B9F3F2E2-1534-AFBF-63AF-A1F249F2D70A}"/>
              </a:ext>
            </a:extLst>
          </p:cNvPr>
          <p:cNvSpPr/>
          <p:nvPr/>
        </p:nvSpPr>
        <p:spPr>
          <a:xfrm>
            <a:off x="6110506" y="3302350"/>
            <a:ext cx="656099" cy="322288"/>
          </a:xfrm>
          <a:prstGeom prst="stripedRightArrow">
            <a:avLst>
              <a:gd name="adj1" fmla="val 49999"/>
              <a:gd name="adj2" fmla="val 75207"/>
            </a:avLst>
          </a:prstGeom>
          <a:solidFill>
            <a:srgbClr val="C00000">
              <a:alpha val="8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1325D3C-368F-7ECD-9644-006BD6E83905}"/>
              </a:ext>
            </a:extLst>
          </p:cNvPr>
          <p:cNvSpPr txBox="1"/>
          <p:nvPr/>
        </p:nvSpPr>
        <p:spPr>
          <a:xfrm>
            <a:off x="5990168" y="2975909"/>
            <a:ext cx="620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安全替代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88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8CB2-8A00-7FC8-7757-9D004BD7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92337E57-5AC0-4A52-90F5-1A4DB88CD32F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LG23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协议的两大痛点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48075865-C831-0BA8-373E-3DEBFE60BAA1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BBF0163C-F24F-FBBB-68C2-D01F795A9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933" y="4391473"/>
            <a:ext cx="6350000" cy="182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09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A073564-81C0-7B68-7C9D-196F40CFEBDB}"/>
              </a:ext>
            </a:extLst>
          </p:cNvPr>
          <p:cNvGrpSpPr/>
          <p:nvPr/>
        </p:nvGrpSpPr>
        <p:grpSpPr>
          <a:xfrm>
            <a:off x="-844896" y="943631"/>
            <a:ext cx="12856483" cy="5363505"/>
            <a:chOff x="-666055" y="509455"/>
            <a:chExt cx="12856483" cy="5363505"/>
          </a:xfrm>
        </p:grpSpPr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C407421B-6885-D068-E599-17C0858F01DC}"/>
                </a:ext>
              </a:extLst>
            </p:cNvPr>
            <p:cNvSpPr/>
            <p:nvPr/>
          </p:nvSpPr>
          <p:spPr>
            <a:xfrm>
              <a:off x="4626113" y="2829895"/>
              <a:ext cx="3028131" cy="678472"/>
            </a:xfrm>
            <a:prstGeom prst="roundRect">
              <a:avLst>
                <a:gd name="adj" fmla="val 0"/>
              </a:avLst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松弛成员零分享</a:t>
              </a: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ADA12C25-CD94-2021-2BA5-B83FFC01B855}"/>
                </a:ext>
              </a:extLst>
            </p:cNvPr>
            <p:cNvSpPr/>
            <p:nvPr/>
          </p:nvSpPr>
          <p:spPr>
            <a:xfrm>
              <a:off x="2894696" y="567281"/>
              <a:ext cx="1756716" cy="524129"/>
            </a:xfrm>
            <a:prstGeom prst="roundRect">
              <a:avLst>
                <a:gd name="adj" fmla="val 20477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OPPRF</a:t>
              </a:r>
              <a:endPara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C94A44E1-3183-0BDF-4D26-26DF3849F05F}"/>
                </a:ext>
              </a:extLst>
            </p:cNvPr>
            <p:cNvSpPr/>
            <p:nvPr/>
          </p:nvSpPr>
          <p:spPr>
            <a:xfrm>
              <a:off x="6457429" y="568128"/>
              <a:ext cx="2149958" cy="524128"/>
            </a:xfrm>
            <a:prstGeom prst="roundRect">
              <a:avLst>
                <a:gd name="adj" fmla="val 20477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rgbClr val="1E6AA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batch </a:t>
              </a:r>
              <a:r>
                <a:rPr lang="en-US" altLang="zh-CN" sz="2400" b="1" dirty="0" err="1">
                  <a:solidFill>
                    <a:srgbClr val="1E6AA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ssPMT</a:t>
              </a:r>
              <a:endParaRPr lang="zh-CN" altLang="en-US" sz="2400" b="1" dirty="0">
                <a:solidFill>
                  <a:srgbClr val="1E6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6FE6CA63-FB82-3A4A-8902-63258EF9B42D}"/>
                </a:ext>
              </a:extLst>
            </p:cNvPr>
            <p:cNvSpPr/>
            <p:nvPr/>
          </p:nvSpPr>
          <p:spPr>
            <a:xfrm>
              <a:off x="9699889" y="540757"/>
              <a:ext cx="1934678" cy="524127"/>
            </a:xfrm>
            <a:prstGeom prst="roundRect">
              <a:avLst>
                <a:gd name="adj" fmla="val 20477"/>
              </a:avLst>
            </a:prstGeom>
            <a:noFill/>
            <a:ln w="38100">
              <a:solidFill>
                <a:srgbClr val="1E6AAD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rgbClr val="1E6AA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ROT</a:t>
              </a:r>
              <a:endParaRPr lang="zh-CN" altLang="en-US" sz="2400" b="1" dirty="0">
                <a:solidFill>
                  <a:srgbClr val="1E6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D90A028F-2248-85FC-A450-FD0D3ED6703D}"/>
                </a:ext>
              </a:extLst>
            </p:cNvPr>
            <p:cNvSpPr/>
            <p:nvPr/>
          </p:nvSpPr>
          <p:spPr>
            <a:xfrm>
              <a:off x="8984510" y="3874475"/>
              <a:ext cx="3028131" cy="678472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多方秘密分享洗牌</a:t>
              </a:r>
            </a:p>
          </p:txBody>
        </p: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6AD5FE82-3B53-C67A-5175-93DB6EED3484}"/>
                </a:ext>
              </a:extLst>
            </p:cNvPr>
            <p:cNvSpPr/>
            <p:nvPr/>
          </p:nvSpPr>
          <p:spPr>
            <a:xfrm>
              <a:off x="1423963" y="3869499"/>
              <a:ext cx="1791207" cy="678472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CPSF</a:t>
              </a:r>
              <a:r>
                <a: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表示</a:t>
              </a:r>
            </a:p>
          </p:txBody>
        </p:sp>
        <p:cxnSp>
          <p:nvCxnSpPr>
            <p:cNvPr id="113" name="连接符: 曲线 9">
              <a:extLst>
                <a:ext uri="{FF2B5EF4-FFF2-40B4-BE49-F238E27FC236}">
                  <a16:creationId xmlns:a16="http://schemas.microsoft.com/office/drawing/2014/main" id="{8F081134-8E04-0BC4-693D-283307783082}"/>
                </a:ext>
              </a:extLst>
            </p:cNvPr>
            <p:cNvCxnSpPr>
              <a:cxnSpLocks/>
              <a:endCxn id="114" idx="2"/>
            </p:cNvCxnSpPr>
            <p:nvPr/>
          </p:nvCxnSpPr>
          <p:spPr>
            <a:xfrm rot="10800000">
              <a:off x="3773054" y="2318996"/>
              <a:ext cx="2289870" cy="443339"/>
            </a:xfrm>
            <a:prstGeom prst="curvedConnector2">
              <a:avLst/>
            </a:prstGeom>
            <a:noFill/>
            <a:ln w="57150">
              <a:solidFill>
                <a:schemeClr val="accent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9F28D7C4-F355-5CED-7579-8E353FB96AB4}"/>
                </a:ext>
              </a:extLst>
            </p:cNvPr>
            <p:cNvSpPr/>
            <p:nvPr/>
          </p:nvSpPr>
          <p:spPr>
            <a:xfrm>
              <a:off x="2258988" y="1440175"/>
              <a:ext cx="3028131" cy="87882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对集合成员谓词的松弛成员零分享</a:t>
              </a:r>
            </a:p>
          </p:txBody>
        </p:sp>
        <p:cxnSp>
          <p:nvCxnSpPr>
            <p:cNvPr id="115" name="连接符: 曲线 10">
              <a:extLst>
                <a:ext uri="{FF2B5EF4-FFF2-40B4-BE49-F238E27FC236}">
                  <a16:creationId xmlns:a16="http://schemas.microsoft.com/office/drawing/2014/main" id="{CFDF1F38-289E-2E8D-8508-F48CB6099BC9}"/>
                </a:ext>
              </a:extLst>
            </p:cNvPr>
            <p:cNvCxnSpPr>
              <a:cxnSpLocks/>
              <a:endCxn id="116" idx="2"/>
            </p:cNvCxnSpPr>
            <p:nvPr/>
          </p:nvCxnSpPr>
          <p:spPr>
            <a:xfrm flipV="1">
              <a:off x="6454750" y="2330973"/>
              <a:ext cx="2461840" cy="441855"/>
            </a:xfrm>
            <a:prstGeom prst="curvedConnector2">
              <a:avLst/>
            </a:prstGeom>
            <a:noFill/>
            <a:ln w="57150">
              <a:solidFill>
                <a:srgbClr val="1E6AA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47142890-25ED-9ED8-09AA-8D6DC23CDF21}"/>
                </a:ext>
              </a:extLst>
            </p:cNvPr>
            <p:cNvSpPr/>
            <p:nvPr/>
          </p:nvSpPr>
          <p:spPr>
            <a:xfrm>
              <a:off x="7402524" y="1414207"/>
              <a:ext cx="3028131" cy="916766"/>
            </a:xfrm>
            <a:prstGeom prst="roundRect">
              <a:avLst>
                <a:gd name="adj" fmla="val 0"/>
              </a:avLst>
            </a:prstGeom>
            <a:solidFill>
              <a:srgbClr val="1E6A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对集合非成员谓词的松弛成员零分享</a:t>
              </a:r>
            </a:p>
          </p:txBody>
        </p:sp>
        <p:cxnSp>
          <p:nvCxnSpPr>
            <p:cNvPr id="117" name="连接符: 曲线 10">
              <a:extLst>
                <a:ext uri="{FF2B5EF4-FFF2-40B4-BE49-F238E27FC236}">
                  <a16:creationId xmlns:a16="http://schemas.microsoft.com/office/drawing/2014/main" id="{58B44E85-1507-0A95-8866-5AE9931F3717}"/>
                </a:ext>
              </a:extLst>
            </p:cNvPr>
            <p:cNvCxnSpPr>
              <a:cxnSpLocks/>
              <a:endCxn id="110" idx="2"/>
            </p:cNvCxnSpPr>
            <p:nvPr/>
          </p:nvCxnSpPr>
          <p:spPr>
            <a:xfrm flipV="1">
              <a:off x="9122825" y="1064884"/>
              <a:ext cx="1544403" cy="252214"/>
            </a:xfrm>
            <a:prstGeom prst="curvedConnector2">
              <a:avLst/>
            </a:prstGeom>
            <a:noFill/>
            <a:ln w="57150">
              <a:solidFill>
                <a:srgbClr val="1E6AA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连接符: 曲线 9">
              <a:extLst>
                <a:ext uri="{FF2B5EF4-FFF2-40B4-BE49-F238E27FC236}">
                  <a16:creationId xmlns:a16="http://schemas.microsoft.com/office/drawing/2014/main" id="{6722E981-95F9-B026-0185-940AE8ACB3B8}"/>
                </a:ext>
              </a:extLst>
            </p:cNvPr>
            <p:cNvCxnSpPr>
              <a:cxnSpLocks/>
              <a:endCxn id="109" idx="2"/>
            </p:cNvCxnSpPr>
            <p:nvPr/>
          </p:nvCxnSpPr>
          <p:spPr>
            <a:xfrm rot="10800000">
              <a:off x="7532409" y="1092257"/>
              <a:ext cx="1497715" cy="227823"/>
            </a:xfrm>
            <a:prstGeom prst="curvedConnector2">
              <a:avLst/>
            </a:prstGeom>
            <a:noFill/>
            <a:ln w="57150">
              <a:solidFill>
                <a:srgbClr val="1E6AAD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98B1C8BD-B72F-65B3-62C2-592E8653A375}"/>
                </a:ext>
              </a:extLst>
            </p:cNvPr>
            <p:cNvCxnSpPr>
              <a:cxnSpLocks/>
              <a:stCxn id="108" idx="2"/>
              <a:endCxn id="114" idx="0"/>
            </p:cNvCxnSpPr>
            <p:nvPr/>
          </p:nvCxnSpPr>
          <p:spPr>
            <a:xfrm>
              <a:off x="3773054" y="1091410"/>
              <a:ext cx="0" cy="34876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31EB51EC-B4E0-8406-6CE1-4B1E7EBAC12E}"/>
                </a:ext>
              </a:extLst>
            </p:cNvPr>
            <p:cNvSpPr txBox="1"/>
            <p:nvPr/>
          </p:nvSpPr>
          <p:spPr>
            <a:xfrm>
              <a:off x="5607193" y="2305159"/>
              <a:ext cx="1239382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组合技术</a:t>
              </a:r>
            </a:p>
          </p:txBody>
        </p:sp>
        <p:sp>
          <p:nvSpPr>
            <p:cNvPr id="121" name="虚尾箭头 14">
              <a:extLst>
                <a:ext uri="{FF2B5EF4-FFF2-40B4-BE49-F238E27FC236}">
                  <a16:creationId xmlns:a16="http://schemas.microsoft.com/office/drawing/2014/main" id="{7A7C3F57-05D5-66CD-487B-BEC4C0F25BBC}"/>
                </a:ext>
              </a:extLst>
            </p:cNvPr>
            <p:cNvSpPr/>
            <p:nvPr/>
          </p:nvSpPr>
          <p:spPr>
            <a:xfrm>
              <a:off x="3339374" y="4134017"/>
              <a:ext cx="1303109" cy="322288"/>
            </a:xfrm>
            <a:prstGeom prst="stripedRightArrow">
              <a:avLst>
                <a:gd name="adj1" fmla="val 49999"/>
                <a:gd name="adj2" fmla="val 75207"/>
              </a:avLst>
            </a:prstGeom>
            <a:solidFill>
              <a:srgbClr val="C00000">
                <a:alpha val="8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虚尾箭头 14">
              <a:extLst>
                <a:ext uri="{FF2B5EF4-FFF2-40B4-BE49-F238E27FC236}">
                  <a16:creationId xmlns:a16="http://schemas.microsoft.com/office/drawing/2014/main" id="{B18B480B-B1CF-2C84-964B-8899FFF22E55}"/>
                </a:ext>
              </a:extLst>
            </p:cNvPr>
            <p:cNvSpPr/>
            <p:nvPr/>
          </p:nvSpPr>
          <p:spPr>
            <a:xfrm>
              <a:off x="7654244" y="4052567"/>
              <a:ext cx="1303109" cy="322288"/>
            </a:xfrm>
            <a:prstGeom prst="stripedRightArrow">
              <a:avLst>
                <a:gd name="adj1" fmla="val 49999"/>
                <a:gd name="adj2" fmla="val 75207"/>
              </a:avLst>
            </a:prstGeom>
            <a:solidFill>
              <a:srgbClr val="C00000">
                <a:alpha val="8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5D26D828-539C-2AF6-C92A-B4AE8F1A428D}"/>
                </a:ext>
              </a:extLst>
            </p:cNvPr>
            <p:cNvSpPr txBox="1"/>
            <p:nvPr/>
          </p:nvSpPr>
          <p:spPr>
            <a:xfrm>
              <a:off x="3367630" y="4433089"/>
              <a:ext cx="12774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批量调用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C5285F53-A720-F38B-2F8C-F05A95207041}"/>
                </a:ext>
              </a:extLst>
            </p:cNvPr>
            <p:cNvSpPr txBox="1"/>
            <p:nvPr/>
          </p:nvSpPr>
          <p:spPr>
            <a:xfrm>
              <a:off x="7664677" y="3657242"/>
              <a:ext cx="12774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秘密分享</a:t>
              </a:r>
            </a:p>
          </p:txBody>
        </p:sp>
        <p:sp>
          <p:nvSpPr>
            <p:cNvPr id="125" name="虚尾箭头 14">
              <a:extLst>
                <a:ext uri="{FF2B5EF4-FFF2-40B4-BE49-F238E27FC236}">
                  <a16:creationId xmlns:a16="http://schemas.microsoft.com/office/drawing/2014/main" id="{3C7A246F-ECFF-5A0D-F705-0A014B2D2142}"/>
                </a:ext>
              </a:extLst>
            </p:cNvPr>
            <p:cNvSpPr/>
            <p:nvPr/>
          </p:nvSpPr>
          <p:spPr>
            <a:xfrm rot="5400000">
              <a:off x="10193973" y="4822790"/>
              <a:ext cx="795653" cy="322288"/>
            </a:xfrm>
            <a:prstGeom prst="stripedRightArrow">
              <a:avLst>
                <a:gd name="adj1" fmla="val 49999"/>
                <a:gd name="adj2" fmla="val 75207"/>
              </a:avLst>
            </a:prstGeom>
            <a:solidFill>
              <a:srgbClr val="C00000">
                <a:alpha val="8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AA6185C3-3DA7-41B6-D743-01F17B1A5A6D}"/>
                </a:ext>
              </a:extLst>
            </p:cNvPr>
            <p:cNvSpPr txBox="1"/>
            <p:nvPr/>
          </p:nvSpPr>
          <p:spPr>
            <a:xfrm>
              <a:off x="10664294" y="4670880"/>
              <a:ext cx="12774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秘密重构</a:t>
              </a:r>
            </a:p>
          </p:txBody>
        </p:sp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F91399A0-D1F9-62CA-A74D-1FE1D570D46B}"/>
                </a:ext>
              </a:extLst>
            </p:cNvPr>
            <p:cNvSpPr/>
            <p:nvPr/>
          </p:nvSpPr>
          <p:spPr>
            <a:xfrm>
              <a:off x="4091392" y="2331431"/>
              <a:ext cx="4402067" cy="2463070"/>
            </a:xfrm>
            <a:prstGeom prst="roundRect">
              <a:avLst>
                <a:gd name="adj" fmla="val 5536"/>
              </a:avLst>
            </a:prstGeom>
            <a:noFill/>
            <a:ln w="44450">
              <a:solidFill>
                <a:schemeClr val="bg2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虚尾箭头 14">
              <a:extLst>
                <a:ext uri="{FF2B5EF4-FFF2-40B4-BE49-F238E27FC236}">
                  <a16:creationId xmlns:a16="http://schemas.microsoft.com/office/drawing/2014/main" id="{5119AE90-DEAA-F95D-2412-38682D9914DF}"/>
                </a:ext>
              </a:extLst>
            </p:cNvPr>
            <p:cNvSpPr/>
            <p:nvPr/>
          </p:nvSpPr>
          <p:spPr>
            <a:xfrm rot="16200000">
              <a:off x="1975258" y="4825603"/>
              <a:ext cx="795653" cy="322288"/>
            </a:xfrm>
            <a:prstGeom prst="stripedRightArrow">
              <a:avLst>
                <a:gd name="adj1" fmla="val 49999"/>
                <a:gd name="adj2" fmla="val 75207"/>
              </a:avLst>
            </a:prstGeom>
            <a:solidFill>
              <a:srgbClr val="C00000">
                <a:alpha val="89804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vert270"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6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5AC2E30C-C15D-3C58-B5A0-5044D245721A}"/>
                </a:ext>
              </a:extLst>
            </p:cNvPr>
            <p:cNvSpPr txBox="1"/>
            <p:nvPr/>
          </p:nvSpPr>
          <p:spPr>
            <a:xfrm>
              <a:off x="-666055" y="5349740"/>
              <a:ext cx="610437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任意集合公式</a:t>
              </a: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D9AA3877-F31E-456A-9016-22FA58D0EEEA}"/>
                </a:ext>
              </a:extLst>
            </p:cNvPr>
            <p:cNvSpPr txBox="1"/>
            <p:nvPr/>
          </p:nvSpPr>
          <p:spPr>
            <a:xfrm>
              <a:off x="8942139" y="5346055"/>
              <a:ext cx="32482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结果集合</a:t>
              </a: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C5535F6E-8048-AEC4-557C-376C9D4435B5}"/>
                </a:ext>
              </a:extLst>
            </p:cNvPr>
            <p:cNvSpPr txBox="1"/>
            <p:nvPr/>
          </p:nvSpPr>
          <p:spPr>
            <a:xfrm>
              <a:off x="210322" y="509455"/>
              <a:ext cx="2483361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基于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OT</a:t>
              </a:r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和</a:t>
              </a:r>
              <a:r>
                <a:rPr lang="zh-CN" altLang="en-US" sz="2000" b="1" kern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对称密钥操作的轻量级组件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标题 4">
            <a:extLst>
              <a:ext uri="{FF2B5EF4-FFF2-40B4-BE49-F238E27FC236}">
                <a16:creationId xmlns:a16="http://schemas.microsoft.com/office/drawing/2014/main" id="{962838DF-54B4-EBFE-546A-F5738162619D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方案三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实现通用</a:t>
            </a:r>
            <a:r>
              <a:rPr kumimoji="1" lang="en-US" altLang="zh-CN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MPSO </a:t>
            </a: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功能的统一框架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85AADD98-F9B2-258E-C12A-0BAF4D8C1FA8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1C3F4489-BA3C-4AAB-7EC8-0B1767999526}"/>
              </a:ext>
            </a:extLst>
          </p:cNvPr>
          <p:cNvSpPr txBox="1"/>
          <p:nvPr/>
        </p:nvSpPr>
        <p:spPr>
          <a:xfrm>
            <a:off x="2397598" y="5172815"/>
            <a:ext cx="1277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编译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017B1F4-B3FB-D987-9F8D-DF21B442B174}"/>
              </a:ext>
            </a:extLst>
          </p:cNvPr>
          <p:cNvSpPr/>
          <p:nvPr/>
        </p:nvSpPr>
        <p:spPr>
          <a:xfrm>
            <a:off x="4442055" y="4460297"/>
            <a:ext cx="3028131" cy="678472"/>
          </a:xfrm>
          <a:prstGeom prst="roundRect">
            <a:avLst>
              <a:gd name="adj" fmla="val 0"/>
            </a:avLst>
          </a:prstGeom>
          <a:solidFill>
            <a:srgbClr val="1535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成员零分享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A3670B-224F-A733-A44A-63E2AF26FFCE}"/>
              </a:ext>
            </a:extLst>
          </p:cNvPr>
          <p:cNvSpPr/>
          <p:nvPr/>
        </p:nvSpPr>
        <p:spPr>
          <a:xfrm>
            <a:off x="4533977" y="5964215"/>
            <a:ext cx="3028131" cy="678472"/>
          </a:xfrm>
          <a:prstGeom prst="roundRect">
            <a:avLst>
              <a:gd name="adj" fmla="val 0"/>
            </a:avLst>
          </a:prstGeom>
          <a:solidFill>
            <a:srgbClr val="8F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谓词零分享</a:t>
            </a:r>
          </a:p>
        </p:txBody>
      </p:sp>
      <p:sp>
        <p:nvSpPr>
          <p:cNvPr id="35" name="虚尾箭头 14">
            <a:extLst>
              <a:ext uri="{FF2B5EF4-FFF2-40B4-BE49-F238E27FC236}">
                <a16:creationId xmlns:a16="http://schemas.microsoft.com/office/drawing/2014/main" id="{FD8BF516-09E0-88EC-95E1-D079154DC453}"/>
              </a:ext>
            </a:extLst>
          </p:cNvPr>
          <p:cNvSpPr/>
          <p:nvPr/>
        </p:nvSpPr>
        <p:spPr>
          <a:xfrm rot="5400000">
            <a:off x="5718586" y="4009847"/>
            <a:ext cx="485501" cy="322288"/>
          </a:xfrm>
          <a:prstGeom prst="stripedRightArrow">
            <a:avLst>
              <a:gd name="adj1" fmla="val 49999"/>
              <a:gd name="adj2" fmla="val 75207"/>
            </a:avLst>
          </a:prstGeom>
          <a:solidFill>
            <a:srgbClr val="C00000">
              <a:alpha val="89804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6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箭头: 虚尾 35">
            <a:extLst>
              <a:ext uri="{FF2B5EF4-FFF2-40B4-BE49-F238E27FC236}">
                <a16:creationId xmlns:a16="http://schemas.microsoft.com/office/drawing/2014/main" id="{2AE00FE8-F12F-617F-D29D-940218F96A65}"/>
              </a:ext>
            </a:extLst>
          </p:cNvPr>
          <p:cNvSpPr/>
          <p:nvPr/>
        </p:nvSpPr>
        <p:spPr>
          <a:xfrm rot="16200000">
            <a:off x="5629073" y="5056998"/>
            <a:ext cx="684824" cy="1086266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274B5C4-05AB-8FA9-410F-53B5A1790F5C}"/>
              </a:ext>
            </a:extLst>
          </p:cNvPr>
          <p:cNvSpPr txBox="1"/>
          <p:nvPr/>
        </p:nvSpPr>
        <p:spPr>
          <a:xfrm>
            <a:off x="6452041" y="5457351"/>
            <a:ext cx="6528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子类继承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0942DA3-AE75-DAC4-4C7E-306F5AAE92B3}"/>
              </a:ext>
            </a:extLst>
          </p:cNvPr>
          <p:cNvSpPr txBox="1"/>
          <p:nvPr/>
        </p:nvSpPr>
        <p:spPr>
          <a:xfrm>
            <a:off x="6230804" y="3983529"/>
            <a:ext cx="1239382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转化技术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6340082-D88B-0188-DC5A-A8A8C3BB4E00}"/>
              </a:ext>
            </a:extLst>
          </p:cNvPr>
          <p:cNvSpPr txBox="1"/>
          <p:nvPr/>
        </p:nvSpPr>
        <p:spPr>
          <a:xfrm>
            <a:off x="3201830" y="4168083"/>
            <a:ext cx="1277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集合划分</a:t>
            </a:r>
          </a:p>
        </p:txBody>
      </p:sp>
    </p:spTree>
    <p:extLst>
      <p:ext uri="{BB962C8B-B14F-4D97-AF65-F5344CB8AC3E}">
        <p14:creationId xmlns:p14="http://schemas.microsoft.com/office/powerpoint/2010/main" val="1938571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220C3D86-A703-FDB5-8540-DFF8CE312E2E}"/>
              </a:ext>
            </a:extLst>
          </p:cNvPr>
          <p:cNvSpPr txBox="1">
            <a:spLocks/>
          </p:cNvSpPr>
          <p:nvPr/>
        </p:nvSpPr>
        <p:spPr>
          <a:xfrm>
            <a:off x="0" y="85345"/>
            <a:ext cx="11637220" cy="6236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spcAft>
                <a:spcPct val="0"/>
              </a:spcAft>
              <a:buClr>
                <a:srgbClr val="002060"/>
              </a:buClr>
              <a:defRPr/>
            </a:pPr>
            <a:r>
              <a:rPr kumimoji="1" lang="zh-CN" altLang="en-US" sz="3600" b="1" dirty="0">
                <a:solidFill>
                  <a:srgbClr val="8F0F1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谓词零分享及其可组合性</a:t>
            </a:r>
          </a:p>
        </p:txBody>
      </p:sp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FC674480-DF84-ABC6-209C-A3C5AC6CC1FE}"/>
              </a:ext>
            </a:extLst>
          </p:cNvPr>
          <p:cNvCxnSpPr>
            <a:cxnSpLocks/>
          </p:cNvCxnSpPr>
          <p:nvPr/>
        </p:nvCxnSpPr>
        <p:spPr>
          <a:xfrm flipV="1">
            <a:off x="0" y="699703"/>
            <a:ext cx="12192000" cy="42632"/>
          </a:xfrm>
          <a:prstGeom prst="line">
            <a:avLst/>
          </a:prstGeom>
          <a:ln w="38100">
            <a:solidFill>
              <a:srgbClr val="8F0F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B9A1DE6-33A0-9F46-CB66-CFE509768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77" y="1547522"/>
            <a:ext cx="5261447" cy="22912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2837E7-0B44-272C-DC0F-9DD25889D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52724" y="857564"/>
            <a:ext cx="6336741" cy="28030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D3897A-43EA-1B8F-9E06-43C92F6D18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" r="277"/>
          <a:stretch>
            <a:fillRect/>
          </a:stretch>
        </p:blipFill>
        <p:spPr>
          <a:xfrm>
            <a:off x="5619898" y="3775802"/>
            <a:ext cx="6202392" cy="27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246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.9|1.4|4.7|1.4|1.8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.9|1.4|4.7|1.4|1.8|1.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3747</TotalTime>
  <Words>3444</Words>
  <Application>Microsoft Office PowerPoint</Application>
  <PresentationFormat>宽屏</PresentationFormat>
  <Paragraphs>478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等线</vt:lpstr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研究背景</vt:lpstr>
      <vt:lpstr>安全多方计算</vt:lpstr>
      <vt:lpstr> 隐私集合运算</vt:lpstr>
      <vt:lpstr>典型功能及其应用场景</vt:lpstr>
      <vt:lpstr>典型功能及其应用场景</vt:lpstr>
      <vt:lpstr>典型功能及其应用场景</vt:lpstr>
      <vt:lpstr>更复杂的应用场景</vt:lpstr>
      <vt:lpstr>PowerPoint 演示文稿</vt:lpstr>
      <vt:lpstr>问题一：安全性弱，依赖信任假设</vt:lpstr>
      <vt:lpstr>问题二：研究分布失衡，一系列开放性问题亟待解决</vt:lpstr>
      <vt:lpstr>问题三：功能局限，缺乏统一性</vt:lpstr>
      <vt:lpstr>PowerPoint 演示文稿</vt:lpstr>
      <vt:lpstr>研究成果一: 安全高效的多方隐私集合求并协议</vt:lpstr>
      <vt:lpstr>研究成果二: 高效的通用多方隐私集合运算框架</vt:lpstr>
      <vt:lpstr>PowerPoint 演示文稿</vt:lpstr>
      <vt:lpstr>方案一: 基于OT和对称密钥操作的 MPSU 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明朗 董</dc:creator>
  <cp:lastModifiedBy>明朗 董</cp:lastModifiedBy>
  <cp:revision>62</cp:revision>
  <dcterms:created xsi:type="dcterms:W3CDTF">2026-03-05T12:33:41Z</dcterms:created>
  <dcterms:modified xsi:type="dcterms:W3CDTF">2026-03-08T15:23:43Z</dcterms:modified>
</cp:coreProperties>
</file>